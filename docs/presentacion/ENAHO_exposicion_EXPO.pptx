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4" r:id="rId15"/>
    <p:sldId id="265" r:id="rId16"/>
    <p:sldId id="259" r:id="rId10"/>
    <p:sldId id="260" r:id="rId11"/>
    <p:sldId id="261" r:id="rId12"/>
    <p:sldId id="262" r:id="rId13"/>
    <p:sldId id="263" r:id="rId14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Buenas, somos el grupo de Alan, Magdalena, Yoichi y Edgar. Hicimos dos modelos con los datos públicos de la encuesta de hogares del INEI: uno estima cuánto gana una persona al mes y otro qué tan probable es que su empleo sea informal. Los dos están funcionando ahora mismo en una página web pública que vamos a abrir en vivo. Como el curso es de despliegue, lo que más vamos a contar es cómo llega el modelo desde nuestra computadora hasta el navegador de cualquiera, y qué garantías tenemos de que lo que corre allá es lo mismo que entrenamos acá. Los dos enlaces de la pantalla son los únicos que hay que apuntar.</a:t>
            </a:r>
          </a:p>
          <a:p/>
          <a:p>
            <a:r>
              <a:t>TÉRMINOS DE ESTA LÁMINA — Microdatos: las respuestas individuales y anónimas de la encuesta, persona por persona, tal como las publica el INEI. App desplegada: la aplicación ya instalada en un servidor y accesible por una dirección web, no solo en nuestra máquina.</a:t>
            </a:r>
          </a:p>
          <a:p/>
          <a:p>
            <a:r>
              <a:t>SI PREGUNTAN — ¿La app está viva ahora mismo? Sí: es pública, corre en Streamlit Community Cloud y se abre desde el enlace de la carátula. En modo presentación el enlace es clicable.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Primero los datos, que son los tres bloques de arriba: encuesta de hogares ENAHO 2025 del INEI, cruzando tres de sus módulos — quiénes viven en el hogar, su educación y su empleo. Después de los filtros quedan 47.632 trabajadores con ingreso laboral. A cada uno lo describen once variables, las mismas para los dos modelos; en la siguiente lámina están una por una. Sobre esa base, la app responde dos preguntas: a la izquierda, cuánto gana al mes un perfil como este; a la derecha, qué tan probable es que ese empleo sea informal. Son dos modelos separados que comparten las entradas, no un modelo con dos salidas.</a:t>
            </a:r>
          </a:p>
          <a:p/>
          <a:p>
            <a:r>
              <a:t>TÉRMINOS DE ESTA LÁMINA — Módulo: cada bloque temático de la encuesta (02 hogar, 03 educación, 05 empleo); se cruzan por persona. Regresión: el modelo que responde con un número (soles al mes). Clasificación: el modelo que responde con una probabilidad entre 0 y 1 (informal o no). Modelo: el programa que aprendió de los 47.632 casos a responder esas preguntas para un perfil nuevo.</a:t>
            </a:r>
          </a:p>
          <a:p/>
          <a:p>
            <a:r>
              <a:t>SI PREGUNTAN — ¿Por qué dos modelos y no uno? Porque son preguntas de naturaleza distinta: una pide un monto y la otra una probabilidad. Comparten las once entradas para que el mismo formulario alimente a los dos, pero cada uno se entrenó y se evalúa por su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Los dos modelos usan las mismas once variables: cinco numéricas y seis categóricas. Son cosas que cualquier persona sabe de sí misma: educación, edad, horas de trabajo, dónde vive, en qué sector trabaja y en qué tipo de empleo. No las elegimos a ojo: armamos un torneo de nueve recetas, desde la consigna del curso hasta variantes cada vez más ricas, y todas compitieron con los mismos datos y la misma regla. Ganó la novena, que usa estas once variables. El error bajó de S/ 900,6 al mes con la consigna a S/ 610,9 con la ganadora.</a:t>
            </a:r>
          </a:p>
          <a:p/>
          <a:p>
            <a:r>
              <a:t>TÉRMINOS DE ESTA LÁMINA — Variable numérica: un número que entra tal cual (años, horas). Variable categórica: una opción de una lista cerrada (región, sector); el modelo la convierte por dentro en columnas de sí/no. Especificación: una receta concreta de modelo — qué variables entran y en qué forma. Torneo: todas las recetas compiten con los mismos datos y gana la que menos se equivoca. Validación cruzada: partir los datos en cinco, entrenar con cuatro partes y probar con la quinta, rotando, para medir sin hacerse trampa.</a:t>
            </a:r>
          </a:p>
          <a:p/>
          <a:p>
            <a:r>
              <a:t>SI PREGUNTAN — ¿Por qué no está el tipo de contrato? Porque separa casi solo y se solapa con la propia definición de informalidad: el modelo aprendería la definición, no el fenómeno. Quedó fuera del clasificador y la decisión está documentada.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Esta lámina sostiene todo lo demás. Entrenamos en nuestra computadora y de ahí sale un paquete chico: el código y los resultados ya calculados, 8,85 megas en 111 archivos. Ese paquete se sube a GitHub con un push. GitHub le avisa a Streamlit Cloud, y la nube reconstruye la app y la publica sola. Entre guardar el cambio y verlo en el navegador no hay ningún paso manual. Y los datos originales del INEI, 601,3 megas, nunca salen de la máquina: el repositorio enlaza a la fuente oficial.</a:t>
            </a:r>
          </a:p>
          <a:p/>
          <a:p>
            <a:r>
              <a:t>TÉRMINOS DE ESTA LÁMINA — Dónde vive cada cosa: TODO vive en GitHub — el código, los modelos .joblib y los JSON viajan dentro del repositorio; los microdatos no. Streamlit Cloud no guarda nada propio: clona el repositorio, instala requirements.txt y ejecuta. GitHub es la fuente; Streamlit solo lo corre y le pone URL. Artefacto: un resultado ya calculado y guardado en un archivo. .joblib: el modelo entrenado guardado como archivo. Webhook: el aviso automático que GitHub le manda a Streamlit cuando el repositorio cambia («hay versión nueva, redespliega»). Repositorio: la carpeta versionada del proyecto, con su historia completa.</a:t>
            </a:r>
          </a:p>
          <a:p/>
          <a:p>
            <a:r>
              <a:t>SI PREGUNTAN — ¿Y si Streamlit Cloud se cae o se borra la app? No se pierde nada: en Streamlit no vive nada que no esté en GitHub. Se vuelve a conectar el repositorio y la app renace idéntica, porque la nube solo clona, instala y ejecuta.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Cuando alguien abre la app, el modelo no se ejecuta ni una vez: todos los gráficos y tablas ya estaban calculados desde el entrenamiento, guardados en un archivo de 44,7 kilobytes que la app solo lee y dibuja. El modelo trabaja únicamente cuando el usuario arma su perfil y pulsa «Estimar»: una sola predicción, que para el perfil por defecto da S/ 849. Por eso la app carga rápido y no se cae: la nube gratuita da poca memoria, y todo lo pesado quedó fuera del momento en que alguien la mira.</a:t>
            </a:r>
          </a:p>
          <a:p/>
          <a:p>
            <a:r>
              <a:t>TÉRMINOS DE ESTA LÁMINA — Precómputo: calcular una sola vez, al entrenar, lo que la app va a mostrar siempre, en vez de recalcularlo con cada visita. Artefacto: un resultado ya calculado y guardado en un archivo. .joblib: el modelo entrenado guardado como archivo; se carga y responde, sin reentrenar. JSON: un archivo de texto con datos organizados, legible por cualquier lenguaje. predict / predict_proba: la llamada que pide al modelo un número (soles) o una probabilidad. Curva de umbral, histograma, dependencia parcial: los gráficos de la app; los tres vienen del precómputo. Caché: memoria de corto plazo de la app para no releer archivos en cada clic.</a:t>
            </a:r>
          </a:p>
          <a:p/>
          <a:p>
            <a:r>
              <a:t>SI PREGUNTAN — ¿Y si el perfil que arma el usuario no estaba precalculado? Justo por eso los .joblib viajan con la app: el perfil puntual sí se predice en vivo, es la única cuenta que se hace en caliente y tarda milisegundos. Lo precalculado es todo lo que no depende del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Un modelo guardado solo se puede volver a abrir con la misma versión de la librería que lo guardó. Si la nube instalara otra, el modelo podría no cargar — o peor, cargar y comportarse distinto sin avisar. Por eso requirements.txt fija cada versión exacta: scikit-learn 1.9.0, la misma que entrenó los modelos, y pandas 3.0.5 por la misma razón. Y la comprobación no es una promesa: el programa que genera estas láminas compara ambos lados y se niega a producir la presentación si no coinciden.</a:t>
            </a:r>
          </a:p>
          <a:p/>
          <a:p>
            <a:r>
              <a:t>TÉRMINOS DE ESTA LÁMINA — Pickle / .joblib: el modelo entrenado guardado como archivo binario; para abrirse necesita la misma librería con la que se guardó. requirements.txt: la lista de librerías con su versión exacta; la nube instala exactamente eso. Entorno: el conjunto de librerías instaladas donde corre la app; Streamlit Cloud lo reconstruye desde cero en cada publicación. Artefacto: resultado ya calculado y guardado en un archivo — aquí, los dos modelos y los JSON que la app lee.</a:t>
            </a:r>
          </a:p>
          <a:p/>
          <a:p>
            <a:r>
              <a:t>SI PREGUNTAN — ¿Qué pasa si actualizan scikit-learn? Nada, mientras requirements.txt no cambie: la nube instala la versión fijada, no la última. Si algún día se quiere subir de versión, hay que reentrenar, regenerar los artefactos y volver a verificar — y el generador obliga a que todo eso pase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Este formulario no lo escribimos campo por campo: se fabrica solo. Hay un archivo que describe cada variable — cómo se llama, si es número u opción, su rango, sus niveles — y la app recorre ese mapa y crea un control por variable. Si mañana el modelo cambia una variable, el campo aparece o cambia solo, sin tocar la interfaz. Y es imposible que el formulario y el modelo se desincronicen, porque los dos nacen del mismo archivo. El control del umbral, en la otra pestaña, vive en un fragmento: moverlo redibuja solo ese bloque y no la página entera.</a:t>
            </a:r>
          </a:p>
          <a:p/>
          <a:p>
            <a:r>
              <a:t>TÉRMINOS DE ESTA LÁMINA — Schema (feature_schema.json): el JSON que describe cada variable — nombre, tipo, rango, niveles; la app recorre ese mapa y fabrica un control por variable; si el schema cambia, el campo aparece solo, y formulario y modelo no pueden desincronizarse porque nacen del mismo archivo. Componente: cada pieza de interfaz de Streamlit — número, selector, botón de opciones, deslizador. Fragment: un bloque de la página que se redibuja solo, sin recargar el resto. Expander y popover: los pliegues donde vive la lectura técnica sin estorbar la llana.</a:t>
            </a:r>
          </a:p>
          <a:p/>
          <a:p>
            <a:r>
              <a:t>SI PREGUNTAN — ¿Qué pasa si el usuario mete un valor fuera de rango? No puede: cada control nace con el rango y las opciones del schema, que son las que el modelo vio al entrenar. El formulario no deja escribir lo que el modelo no conoce.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Tres controles, cada uno contra un tipo de error distinto. Primero, los tests de contrato: un despliegue del 20 de agosto rompió la app tres veces porque la app pedía cosas que sus archivos no tenían; hoy cada uno de esos fallos es una prueba automática que salta en nuestra máquina antes de publicar. Segundo, las cifras: cada número de estas láminas se comprueba contra el archivo que lo genera, y si un número no tiene fuente, la presentación no se genera. Tercero, la app viva: lo que afirmamos de ella no se mira a ojo, se mide sobre la página real con un navegador automatizado.</a:t>
            </a:r>
          </a:p>
          <a:p/>
          <a:p>
            <a:r>
              <a:t>TÉRMINOS DE ESTA LÁMINA — Test de contrato: una prueba de que dos piezas siguen encajando — que la app no pida nada que sus archivos no tengan. Caché: la memoria de corto plazo de la app; uno de los fallos fue servir un archivo viejo desde ahí. Cifras verificadas: cada número visible (y el de estas notas) se traza hasta el archivo que lo produce con un script auditor. DOM: la estructura interna de la página web ya dibujada; medir ahí es medir lo que el usuario ve de verdad. Playwright: la herramienta que abre la app real y la inspecciona sola.</a:t>
            </a:r>
          </a:p>
          <a:p/>
          <a:p>
            <a:r>
              <a:t>SI PREGUNTAN — ¿Quién verifica las cifras de ESTA exposición? El mismo estándar: la presentación se genera desde los artefactos y un script la reabre y comprueba número por número, incluidas estas notas. Lo que están viendo pasó esa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Probamos las dos familias de árboles del curso en los dos problemas, con los mismos datos y las mismas particiones. En ingreso, Gradient Boosting se equivoca en promedio S/ 610,9 al mes y Random Forest S/ 613,0: un empate práctico, con el mejor modelo lineal lejos, en S/ 686,9. En informalidad también gana Gradient Boosting por poco. Elegimos siempre con validación cruzada; el conjunto de prueba se miró una sola vez, al final. Y el corte del clasificador no es el 0,5 por defecto: lo pusimos donde la precisión llega a 0,90, que es una decisión de costos, no del modelo.</a:t>
            </a:r>
          </a:p>
          <a:p/>
          <a:p>
            <a:r>
              <a:t>TÉRMINOS DE ESTA LÁMINA — MAE: en cuánto se equivoca el modelo en promedio, en soles al mes. PR-AUC: qué tan bien separa informal de formal, de 0 a 1; la usamos en vez del acierto simple porque el 67,8 % ya es informal y acertar diciendo siempre «informal» sería trampa. Validación cruzada: partir los datos en cinco, entrenar con cuatro y probar con el quinto, rotando; mide sin hacerse trampa. Random Forest / Gradient Boosting: dos maneras de combinar muchos árboles de decisión — en paralelo la primera, corrigiéndose en cadena la segunda. Umbral: la probabilidad mínima a partir de la cual el clasificador señala un empleo. Semilla: el número fijo que hace reproducible el azar de las particiones.</a:t>
            </a:r>
          </a:p>
          <a:p/>
          <a:p>
            <a:r>
              <a:t>SI PREGUNTAN — ¿De dónde salen los 47.632 casos? Del embudo documentado: 84.853 registros del módulo de empleo, 57.716 ocupados de 14 años o más, 47.899 con ingreso positivo y 47.632 completos, partidos en 38.105 de entrenamiento y 9.527 de prueba con semilla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Con cada modelo ya entrenado hicimos el mismo experimento: desordenar una columna al azar y medir cuánto empeora. En el regresor se mide en soles: sin la categoría ocupacional el error sube unos S/ 139 al mes, y sin la educación unos S/ 128. En el clasificador se mide en puntos de PR-AUC, y salen las mismas tres variables en otro orden. Importante: esto dice cuánto USA el modelo cada variable, no qué causa el ingreso o la informalidad en la vida real.</a:t>
            </a:r>
          </a:p>
          <a:p/>
          <a:p>
            <a:r>
              <a:t>TÉRMINOS DE ESTA LÁMINA — Permutación: desordenar una columna para ver cuánto empeora el modelo sin ella; si no la usaba, no pasa nada. Puntos de PR-AUC: el clasificador acierta con PR-AUC de 0,96; al desordenar «tamaño de empresa» cae 0,046 — es el mismo experimento que los soles, con otra regla de medir. Y es el mismo trío de variables en los dos modelos, en distinto orden. PR-AUC: qué tan bien separa informal de formal, de 0 a 1. Uso vs. causa: que el modelo se apoye en una variable no significa que esa variable cause el resultado; la lectura causal vive en el modelo explicativo de la app.</a:t>
            </a:r>
          </a:p>
          <a:p/>
          <a:p>
            <a:r>
              <a:t>SI PREGUNTAN — ¿Esto coincide con la ablación que hicieron? Sí: reentrenar sin tamaño de empresa ni categoría baja el PR-AUC de 0,9626 a 0,9415 — dos métodos distintos, misma conclusión: esas variables llevan la señal, coherente con cómo se define la informalidad.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Antes de dar la app por buena corrimos el mismo perfil en dos lugares: la consola de nuestra computadora y la app ya publicada. Los números coinciden dígito a dígito: S/ 849 de ingreso típico, S/ 1.189 de ingreso esperado y 97,5 % de probabilidad de informalidad. Ojo con lo que prueba esto: no dice que el modelo prediga bien — eso ya se midió —, dice que la nube corre EXACTAMENTE el modelo que entrenamos, no una copia vieja ni un reentrenamiento distinto.</a:t>
            </a:r>
          </a:p>
          <a:p/>
          <a:p>
            <a:r>
              <a:t>TÉRMINOS DE ESTA LÁMINA — Mediana: el valor del medio — la mitad de los perfiles como este gana menos de S/ 849, la otra mitad más. Factor de Duan: la corrección (1,4009) por haber entrenado el modelo en logaritmo del ingreso; convierte la mediana en el promedio esperado, que es más alto porque unos pocos sueldos grandes lo jalan. Umbral: la vara de decisión; con 0,6054 este perfil queda señalado. Consola: la salida de texto del script en la computadora, sin interfaz. Artefacto: el modelo guardado que viaja al repositorio — el mismo archivo en los dos lados, por eso los números no pueden diferir.</a:t>
            </a:r>
          </a:p>
          <a:p/>
          <a:p>
            <a:r>
              <a:t>SI PREGUNTAN — ¿Por qué la consola dice INFORMAL y la app «señalado para focalización»? Es lo mismo dicho con cuidado: la señal es sobre una configuración de empleo, no un juicio sobre la persona. Y los dos formularios arrancan con horas distintas (45 y 46), así que las dos filas no comparan entre sí — cada fila compara consola contra app con el mismo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Antes de publicar revisamos nuestro propio trabajo: cada cifra contra el archivo que la genera, cada cita contra su fuente. Encontramos cuatro errores y publicamos los cuatro, con la etiqueta de dónde nació cada uno. El más grave venía en los datos: el código «no sabe» del INEI entraba como un sueldo de casi un millón de soles y torcía toda la regresión. Los otros tres los pusimos nosotros al elegir o al resumir. Ninguno cambia el modelo publicado, y ninguno se borró en silencio: el valor de auditar no fue no tener errores, fue encontrarlos y dejarlos escritos. El detalle narrado de cada uno está en guion_hallazgos.md.</a:t>
            </a:r>
          </a:p>
          <a:p/>
          <a:p>
            <a:r>
              <a:t>TÉRMINOS DE ESTA LÁMINA — Centinela: un código que la encuesta usa para «no sabe» (999999); si se lee como número real, envenena el modelo. R²: qué parte de la variación del ingreso explica el modelo, de 0 a 1 — aquí saltó de 0,023 a 0,248 al limpiar el centinela. Rejilla de hiperparámetros: la lista de configuraciones que se prueban al ajustar el modelo; si el ganador queda en el borde, el óptimo puede estar fuera. Tramo: el rango de tamaño de empresa con el que el INEI reporta (88,6 % es del tramo 1-10, no de nuestra categoría «Hasta 20», que da 81,1 %).</a:t>
            </a:r>
          </a:p>
          <a:p/>
          <a:p>
            <a:r>
              <a:t>SI PREGUNTAN — ¿Por qué no promovieron la rejilla mejor si gana en los cinco pliegues? Porque la mejora es de 0,59 % — real pero irrelevante en la práctica: no justifica regenerar el modelo publicado, revalidar la corrección de Duan y rehacer el precómputo. Separar «es mejor» de «vale la pena cambiarlo» es parte del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DIGO — Para cerrar, los límites, que también son parte del trabajo. El regresor compara perfiles: dice el ingreso típico de gente como la del perfil, con un error promedio de unos S/ 611 al mes; no le dice a nadie cuánto va a cobrar. El clasificador señala configuraciones de empleo que se asocian a informalidad; no predice el futuro ni juzga personas. Del despliegue nos llevamos dos aprendizajes: fijar las versiones exactas, porque un modelo guardado no viaja entre versiones, y dejar todo lo pesado calculado de antemano. Los enlaces están en la portada. Gracias.</a:t>
            </a:r>
          </a:p>
          <a:p/>
          <a:p>
            <a:r>
              <a:t>TÉRMINOS DE ESTA LÁMINA — Error medio (MAE): en cuánto se equivoca el modelo en promedio, en soles al mes. PR-AUC de test (0,9605): qué tan bien separa informal de formal, de 0 a 1, medido en datos que el modelo nunca vio. Focalización: usar la señal para priorizar a quién mirar primero, no para etiquetar personas. Precomputar: dejar calculado de antemano lo que la app va a mostrar siempre.</a:t>
            </a:r>
          </a:p>
          <a:p/>
          <a:p>
            <a:r>
              <a:t>SI PREGUNTAN — ¿Esto se podría usar en producción de verdad? Como herramienta demostrativa y de priorización, sí — es pública y reproducible. Para decisiones sobre personas concretas, no: el propio mazo dice qué se puede afirmar y qué no, y esa línea no se cruza.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enaho-ingresos-informalidad.streamlit.app" TargetMode="External"/><Relationship Id="rId5" Type="http://schemas.openxmlformats.org/officeDocument/2006/relationships/hyperlink" Target="https://github.com/IchiSieben/enaho-ingresos-informalidad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ei_microdatos_cabece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023360" cy="751301"/>
          </a:xfrm>
          <a:prstGeom prst="rect">
            <a:avLst/>
          </a:prstGeom>
        </p:spPr>
      </p:pic>
      <p:pic>
        <p:nvPicPr>
          <p:cNvPr id="4" name="Picture 3" descr="en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10896"/>
            <a:ext cx="1536192" cy="1123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755648"/>
            <a:ext cx="1105509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4400" b="1">
                <a:solidFill>
                  <a:srgbClr val="1E232B"/>
                </a:solidFill>
                <a:latin typeface="Calibri"/>
              </a:rPr>
              <a:t>Ingreso laboral e informalidad en el Perú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Dos modelos sobre los microdatos de la ENAHO 2025 (INEI), desplegados en una app pública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10128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Curso de Machine Learning · ENEI — Escuela Nacional de Estadística e Informática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Docente: Orlando Advíncula Zeballos · 25 de agosto de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096512"/>
            <a:ext cx="11055096" cy="1060704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3542B8"/>
                </a:solidFill>
                <a:latin typeface="Consolas"/>
              </a:rPr>
              <a:t>INTEGRANTES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E232B"/>
                </a:solidFill>
                <a:latin typeface="Calibri"/>
              </a:rPr>
              <a:t>Alan Nestor Cañazaca Mamani  ·  Magdalena Quico de la Cruz  ·  Yoichi Palacios Tanaka  ·  Edgar Delgado Ortega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58384"/>
            <a:ext cx="11055096" cy="1133856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App:  </a:t>
            </a:r>
            <a:r>
              <a:rPr sz="1800" b="1">
                <a:solidFill>
                  <a:srgbClr val="3542B8"/>
                </a:solidFill>
                <a:latin typeface="Consolas"/>
              </a:rPr>
              <a:t>enaho-ingresos-informalidad.streamlit.app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Repositorio:  </a:t>
            </a:r>
            <a:r>
              <a:rPr sz="1800" b="1">
                <a:solidFill>
                  <a:srgbClr val="3542B8"/>
                </a:solidFill>
                <a:latin typeface="Consolas"/>
              </a:rPr>
              <a:t>github.com/IchiSieben/enaho-ingresos-informalidad</a:t>
            </a:r>
          </a:p>
        </p:txBody>
      </p:sp>
      <p:sp>
        <p:nvSpPr>
          <p:cNvPr id="9" name="Rectangle 8">
            <a:hlinkClick r:id="rId4"/>
          </p:cNvPr>
          <p:cNvSpPr/>
          <p:nvPr/>
        </p:nvSpPr>
        <p:spPr>
          <a:xfrm>
            <a:off x="1024128" y="5468112"/>
            <a:ext cx="548640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5"/>
          </p:cNvPr>
          <p:cNvSpPr/>
          <p:nvPr/>
        </p:nvSpPr>
        <p:spPr>
          <a:xfrm>
            <a:off x="1719072" y="5870448"/>
            <a:ext cx="57607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Una app pública, dos modelos: cuánto gana un perfil y si su empleo es informal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El mismo formulario alimenta dos modelos independientes; cada pestaña corre el suyo.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66543"/>
            <a:ext cx="3383280" cy="841248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3542B8"/>
                </a:solidFill>
                <a:latin typeface="Calibri"/>
              </a:rPr>
              <a:t>ENAHO 2025 · INEI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módulos </a:t>
            </a:r>
            <a:r>
              <a:rPr sz="1800" b="1">
                <a:solidFill>
                  <a:srgbClr val="1E232B"/>
                </a:solidFill>
                <a:latin typeface="Consolas"/>
              </a:rPr>
              <a:t>02 · 03 ·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2066543"/>
            <a:ext cx="3739896" cy="841248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3542B8"/>
                </a:solidFill>
                <a:latin typeface="Consolas"/>
              </a:rPr>
              <a:t>47.632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trabajadores con ingreso laboral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38744" y="2066543"/>
            <a:ext cx="3383280" cy="841248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3542B8"/>
                </a:solidFill>
                <a:latin typeface="Consolas"/>
              </a:rPr>
              <a:t>11</a:t>
            </a:r>
            <a:r>
              <a:rPr sz="2000" b="1">
                <a:solidFill>
                  <a:srgbClr val="3542B8"/>
                </a:solidFill>
                <a:latin typeface="Calibri"/>
              </a:rPr>
              <a:t> variables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5 numéricas · 6 categóricas</a:t>
            </a:r>
          </a:p>
        </p:txBody>
      </p:sp>
      <p:pic>
        <p:nvPicPr>
          <p:cNvPr id="8" name="Picture 7" descr="cloud_reg_panel_pul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148" y="3017520"/>
            <a:ext cx="2973943" cy="2103120"/>
          </a:xfrm>
          <a:prstGeom prst="rect">
            <a:avLst/>
          </a:prstGeom>
        </p:spPr>
      </p:pic>
      <p:pic>
        <p:nvPicPr>
          <p:cNvPr id="9" name="Picture 8" descr="cloud_clf_panel_pul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860" y="3017520"/>
            <a:ext cx="2973943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5230368"/>
            <a:ext cx="5358384" cy="1170432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ESTIMACIÓN DE INGRESO  ·  REGRESIÓN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Estima el ingreso laboral mensual en soles con Gradient Boosting (especificación E9).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230368"/>
            <a:ext cx="5358384" cy="1170432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EMPLEO INFORMAL  ·  CLASIFICACIÓN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Estima la probabilidad de que el empleo sea informal, con las mismas 11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INFORME_AUDITORIA.md §4 (embudo) · models/feature_schema.json (variables) · capturas de la app desplegada (enaho-ingresos-informalidad.streamlit.app).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Las 11 variables: cuáles son y cómo quedaron elegidas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Las mismas once entradas alimentan el regresor y el clasificador; un torneo de especificaciones decidió quedarse con ellas.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66543"/>
          <a:ext cx="5358383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688"/>
                <a:gridCol w="3000695"/>
              </a:tblGrid>
              <a:tr h="2971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Numéricas (5)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Años de educación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de 0 a 18 años aprobados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Edad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de 14 a 80 años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Experiencia potencial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edad − educación − 6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Experiencia²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su cuadrado: efecto curvo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Horas semanales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de 4 a 84 a la semana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2066543"/>
          <a:ext cx="5358383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688"/>
                <a:gridCol w="3000695"/>
              </a:tblGrid>
              <a:tr h="297833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Categóricas (6)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Sexo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Hombre / Mujer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Área de residencia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Rural / Urbana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Dominio geográfico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8 regiones del país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Rama de actividad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13 sectores agrupados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Tamaño de empresa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5 tramos, desde «Hasta 20»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29783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Categoría ocupacional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5 tipos de vínculo laboral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718304"/>
            <a:ext cx="11055096" cy="1426464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542B8"/>
                </a:solidFill>
                <a:latin typeface="Consolas"/>
              </a:rPr>
              <a:t>CÓMO QUEDARON ELEGIDAS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Un torneo de nueve especificaciones — de la consigna del curso (E1, S/ 900,6 de error al mes) a variantes más ricas — compitió con los mismos datos y pliegues. Ganó E9: Gradient Boosting sobre el logaritmo, con estas once variables y S/ 610,9 en validación cruzada. Nunca se eligió por el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models/feature_schema.json (nombre, tipo, rango y niveles de cada variable) · models/ui_artifacts.json (torneo.tabla) · docs/METODOLOGIA_TORNEO.md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Cada push a main redespliega la app en la nube, sin pasos manuales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Del editor al navegador solo hay commits: Streamlit Cloud reconstruye y publica en cada push.</a:t>
            </a:r>
          </a:p>
        </p:txBody>
      </p:sp>
      <p:pic>
        <p:nvPicPr>
          <p:cNvPr id="5" name="Picture 4" descr="fig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553" y="2066543"/>
            <a:ext cx="8301844" cy="32003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413248"/>
            <a:ext cx="11055096" cy="804672"/>
          </a:xfrm>
          <a:prstGeom prst="roundRect">
            <a:avLst>
              <a:gd name="adj" fmla="val 5000"/>
            </a:avLst>
          </a:prstGeom>
          <a:solidFill>
            <a:srgbClr val="E2F2E9"/>
          </a:solidFill>
          <a:ln w="15875">
            <a:solidFill>
              <a:srgbClr val="17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800" b="1">
                <a:solidFill>
                  <a:srgbClr val="177A4C"/>
                </a:solidFill>
                <a:latin typeface="Calibri"/>
              </a:rPr>
              <a:t>Los microdatos se quedan en la máquina: los 601,3 MB de la ENAHO no viajan al repositorio, que enlaza a la fuente oficial del INEI.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docs/arquitectura.md · .gitignore · git ls-files · tamaños medidos del disco al generar esta lámina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La app no calcula al abrirse: lee resultados ya guardados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Curvas, histogramas y tablas se calcularon una sola vez, al entrenar. La app solo las lee y las dibuja.</a:t>
            </a:r>
          </a:p>
        </p:txBody>
      </p:sp>
      <p:pic>
        <p:nvPicPr>
          <p:cNvPr id="5" name="Picture 4" descr="fig_precompu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72" y="2066543"/>
            <a:ext cx="10483807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020055"/>
            <a:ext cx="11055096" cy="1142999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Abrir la app</a:t>
            </a:r>
            <a:r>
              <a:rPr sz="1800" b="1">
                <a:solidFill>
                  <a:srgbClr val="5F6875"/>
                </a:solidFill>
                <a:latin typeface="Consolas"/>
              </a:rPr>
              <a:t>  →  </a:t>
            </a:r>
            <a:r>
              <a:rPr sz="2600" b="1">
                <a:solidFill>
                  <a:srgbClr val="177A4C"/>
                </a:solidFill>
                <a:latin typeface="Consolas"/>
              </a:rPr>
              <a:t>0</a:t>
            </a:r>
            <a:r>
              <a:rPr sz="1800" b="0">
                <a:solidFill>
                  <a:srgbClr val="49525F"/>
                </a:solidFill>
                <a:latin typeface="Calibri"/>
              </a:rPr>
              <a:t> ejecuciones</a:t>
            </a:r>
            <a:r>
              <a:rPr sz="1800" b="0">
                <a:solidFill>
                  <a:srgbClr val="49525F"/>
                </a:solidFill>
                <a:latin typeface="Calibri"/>
              </a:rPr>
              <a:t>      Pulsar «Estimar»</a:t>
            </a:r>
            <a:r>
              <a:rPr sz="1800" b="1">
                <a:solidFill>
                  <a:srgbClr val="5F6875"/>
                </a:solidFill>
                <a:latin typeface="Consolas"/>
              </a:rPr>
              <a:t>  →  </a:t>
            </a:r>
            <a:r>
              <a:rPr sz="2600" b="1">
                <a:solidFill>
                  <a:srgbClr val="4353CC"/>
                </a:solidFill>
                <a:latin typeface="Consolas"/>
              </a:rPr>
              <a:t>1</a:t>
            </a:r>
            <a:r>
              <a:rPr sz="1800" b="0">
                <a:solidFill>
                  <a:srgbClr val="49525F"/>
                </a:solidFill>
                <a:latin typeface="Calibri"/>
              </a:rPr>
              <a:t> predicción</a:t>
            </a:r>
            <a:r>
              <a:rPr sz="1800" b="1">
                <a:solidFill>
                  <a:srgbClr val="5F6875"/>
                </a:solidFill>
                <a:latin typeface="Consolas"/>
              </a:rPr>
              <a:t>  →  </a:t>
            </a:r>
            <a:r>
              <a:rPr sz="2600" b="1">
                <a:solidFill>
                  <a:srgbClr val="3542B8"/>
                </a:solidFill>
                <a:latin typeface="Consolas"/>
              </a:rPr>
              <a:t>S/ 849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src/09_precomputar_ui.py · models/ui_artifacts.json · models/*.joblib · docs/presentacion/verificacion_local.py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El pickle exige la misma scikit-learn que lo entrenó: cada versión queda fijada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requirements.txt fija las versiones que generaron los artefactos, y Streamlit Cloud reconstruye ese mismo entorno.</a:t>
            </a:r>
          </a:p>
        </p:txBody>
      </p:sp>
      <p:pic>
        <p:nvPicPr>
          <p:cNvPr id="5" name="Picture 4" descr="fig_requisi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24282"/>
            <a:ext cx="7589520" cy="32621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2139696"/>
            <a:ext cx="3255264" cy="1901952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SCIKIT-LEARN FIJADO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3400" b="1">
                <a:solidFill>
                  <a:srgbClr val="4353CC"/>
                </a:solidFill>
                <a:latin typeface="Consolas"/>
              </a:rPr>
              <a:t>1.9.0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La misma que entrenó los .joblib. Si dejan de coincidir, este generador aborta.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4133087"/>
            <a:ext cx="3255264" cy="1901952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LA NUBE APUNTA A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3000" b="1">
                <a:solidFill>
                  <a:srgbClr val="177A4C"/>
                </a:solidFill>
                <a:latin typeface="Consolas"/>
              </a:rPr>
              <a:t>main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Streamlit Cloud sigue esa rama y reconstruye el entorno en cada push.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requirements.txt · models/ui_artifacts.json (meta) · panel de Streamlit Community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El formulario no declara ni un campo a mano: se genera desde feature_schema.json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Cada componente de Streamlit resuelve un problema concreto; si el schema cambia, el formulario cambia solo.</a:t>
            </a:r>
          </a:p>
        </p:txBody>
      </p:sp>
      <p:pic>
        <p:nvPicPr>
          <p:cNvPr id="5" name="Picture 4" descr="cloud_form_pul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66543"/>
            <a:ext cx="63093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97864" y="4169664"/>
            <a:ext cx="144475" cy="274320"/>
          </a:xfrm>
          <a:prstGeom prst="roundRect">
            <a:avLst>
              <a:gd name="adj" fmla="val 35000"/>
            </a:avLst>
          </a:prstGeom>
          <a:solidFill>
            <a:srgbClr val="E6E8FA"/>
          </a:solidFill>
          <a:ln w="12700">
            <a:solidFill>
              <a:srgbClr val="354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42B8"/>
                </a:solidFill>
                <a:latin typeface="Consola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9736" y="3833164"/>
            <a:ext cx="144475" cy="274320"/>
          </a:xfrm>
          <a:prstGeom prst="roundRect">
            <a:avLst>
              <a:gd name="adj" fmla="val 35000"/>
            </a:avLst>
          </a:prstGeom>
          <a:solidFill>
            <a:srgbClr val="E6E8FA"/>
          </a:solidFill>
          <a:ln w="12700">
            <a:solidFill>
              <a:srgbClr val="354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42B8"/>
                </a:solidFill>
                <a:latin typeface="Consola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9736" y="5095036"/>
            <a:ext cx="144475" cy="274320"/>
          </a:xfrm>
          <a:prstGeom prst="roundRect">
            <a:avLst>
              <a:gd name="adj" fmla="val 35000"/>
            </a:avLst>
          </a:prstGeom>
          <a:solidFill>
            <a:srgbClr val="E6E8FA"/>
          </a:solidFill>
          <a:ln w="12700">
            <a:solidFill>
              <a:srgbClr val="354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42B8"/>
                </a:solidFill>
                <a:latin typeface="Consola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3548" y="2991916"/>
            <a:ext cx="144475" cy="274320"/>
          </a:xfrm>
          <a:prstGeom prst="roundRect">
            <a:avLst>
              <a:gd name="adj" fmla="val 35000"/>
            </a:avLst>
          </a:prstGeom>
          <a:solidFill>
            <a:srgbClr val="E6E8FA"/>
          </a:solidFill>
          <a:ln w="12700">
            <a:solidFill>
              <a:srgbClr val="354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42B8"/>
                </a:solidFill>
                <a:latin typeface="Consola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084831"/>
            <a:ext cx="4535424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1 · st.radio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cambia de tema desde PALETAS</a:t>
            </a:r>
          </a:p>
          <a:p>
            <a:pPr>
              <a:spcAft>
                <a:spcPts val="1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2 · st.number_input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una por variable numérica</a:t>
            </a:r>
          </a:p>
          <a:p>
            <a:pPr>
              <a:spcAft>
                <a:spcPts val="1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3 · st.selectbox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una por variable categórica</a:t>
            </a:r>
          </a:p>
          <a:p>
            <a:pPr>
              <a:spcAft>
                <a:spcPts val="1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4 · st.expander · st.popover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lectura llana y lectura técnica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4626864"/>
            <a:ext cx="4535424" cy="1668948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4754879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5 · st.slider + st.fragment</a:t>
            </a:r>
          </a:p>
        </p:txBody>
      </p:sp>
      <p:pic>
        <p:nvPicPr>
          <p:cNvPr id="13" name="Picture 12" descr="cloud_umbral_control_pul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5102352"/>
            <a:ext cx="4224528" cy="97400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030236" y="5530913"/>
            <a:ext cx="144475" cy="274320"/>
          </a:xfrm>
          <a:prstGeom prst="roundRect">
            <a:avLst>
              <a:gd name="adj" fmla="val 35000"/>
            </a:avLst>
          </a:prstGeom>
          <a:solidFill>
            <a:srgbClr val="E6E8FA"/>
          </a:solidFill>
          <a:ln w="12700">
            <a:solidFill>
              <a:srgbClr val="354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542B8"/>
                </a:solidFill>
                <a:latin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captura de la app desplegada · app/streamlit_app.py (componentes realmente usados) · models/feature_schema.json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Lo que se publica lleva tests, cifras verificadas y medición sobre la app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Tres controles rodean cada entrega: que la app y los archivos del modelo digan lo mismo, que cada cifra salga de su archivo, y qué se ve de verdad en la app.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66543"/>
          <a:ext cx="1105509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21"/>
                <a:gridCol w="5748649"/>
                <a:gridCol w="2874324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Qué garantiza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Dónde se comprueba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Tests de contrato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Que la app no pida nada que sus archivos no tengan. Los tres fallos reales están reproducidos sin navegador: si vuelven, saltan en local y no en la nube.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tests/test_contratos.py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Cifras verificadas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Cada número de estas láminas se comprueba contra el archivo que lo genera; si una cifra no tiene fuente, la exposición no se genera.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verificar_ppt.py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QA sobre la app viva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Lo que se afirma de la app desplegada se mide en su DOM con Playwright, no se mira a ojo.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docs/POST_ENTREGA.md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919472"/>
            <a:ext cx="11055096" cy="1389888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3542B8"/>
                </a:solidFill>
                <a:latin typeface="Consolas"/>
              </a:rPr>
              <a:t>LOS TRES FALLOS DEL 20 DE AGOSTO, HOY CADA UNO UN TEST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—  Un tema del selector no estaba en la paleta: elegirlo dejaba la app en blanco, sin vuelta atrás.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—  La app pedía un gráfico que el módulo desplegado no tenía: la página se cortaba a medio dibujo.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—  Se renombró una clave del artefacto y la app siguió sirviendo la vieja desde su caché.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tests/test_contratos.py · docs/presentacion/verificar_ppt.py · docs/POST_ENTREGA.md (estándares de la corrida de entrega)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Elegimos Gradient Boosting: le gana a Random Forest por poco, con las mismas 11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Mismos datos, mismos cinco pliegues, misma semilla; el modelo se eligió por validación cruzada, nunca por el test.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66543"/>
          <a:ext cx="110550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732"/>
                <a:gridCol w="2321570"/>
                <a:gridCol w="2653223"/>
                <a:gridCol w="232157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Referencia lineal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32B"/>
                          </a:solidFill>
                          <a:latin typeface="Calibri"/>
                        </a:rPr>
                        <a:t>Ingreso mensual — MAE cv, soles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>
                          <a:solidFill>
                            <a:srgbClr val="1E232B"/>
                          </a:solidFill>
                          <a:latin typeface="Consolas"/>
                        </a:rPr>
                        <a:t>613,0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>
                          <a:solidFill>
                            <a:srgbClr val="1E232B"/>
                          </a:solidFill>
                          <a:latin typeface="Consolas"/>
                        </a:rPr>
                        <a:t>610,9</a:t>
                      </a:r>
                    </a:p>
                  </a:txBody>
                  <a:tcPr marL="91440" marR="91440" marT="45720" marB="45720" anchor="ctr">
                    <a:solidFill>
                      <a:srgbClr val="E6E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>
                          <a:solidFill>
                            <a:srgbClr val="1E232B"/>
                          </a:solidFill>
                          <a:latin typeface="Consolas"/>
                        </a:rPr>
                        <a:t>686,9  (E7)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32B"/>
                          </a:solidFill>
                          <a:latin typeface="Calibri"/>
                        </a:rPr>
                        <a:t>Empleo informal — PR-AUC cv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>
                          <a:solidFill>
                            <a:srgbClr val="1E232B"/>
                          </a:solidFill>
                          <a:latin typeface="Consolas"/>
                        </a:rPr>
                        <a:t>0,9619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>
                          <a:solidFill>
                            <a:srgbClr val="1E232B"/>
                          </a:solidFill>
                          <a:latin typeface="Consolas"/>
                        </a:rPr>
                        <a:t>0,9626</a:t>
                      </a:r>
                    </a:p>
                  </a:txBody>
                  <a:tcPr marL="91440" marR="91440" marT="45720" marB="45720" anchor="ctr">
                    <a:solidFill>
                      <a:srgbClr val="E6E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>
                          <a:solidFill>
                            <a:srgbClr val="1E232B"/>
                          </a:solidFill>
                          <a:latin typeface="Consolas"/>
                        </a:rPr>
                        <a:t>0,9553  (logística)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913631"/>
          <a:ext cx="110550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23"/>
                <a:gridCol w="84018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Variables de entrada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las mismas 11 variables en los dos modelos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Numéricas (5)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años de educación · edad · experiencia · experiencia² · horas semanales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Categóricas (6)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sexo · área · dominio geográfico · rama de actividad · tamaño de empresa · categoría ocupacional — 35 niveles one-hot dentro del pipeline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413248"/>
            <a:ext cx="11055096" cy="822960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El clasificador no se corta en 0,5: el umbral operativo 0,6054 se fijó para que la precisión llegue a 0,90 — esa es una decisión de costos, no del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models/ui_artifacts.json (torneo.tabla, clasificador.comparacion) · models/feature_schema.json · src/04, src/06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Las mismas tres variables cargan los dos modelos: categoría, educación y tamaño de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Con cada modelo ya entrenado, desordenamos una columna a la vez y medimos cuánto empeora: soles de error en el regresor, puntos de PR-AUC en el clasificador. Uso, no causa.</a:t>
            </a:r>
          </a:p>
        </p:txBody>
      </p:sp>
      <p:pic>
        <p:nvPicPr>
          <p:cNvPr id="5" name="Picture 4" descr="fig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0966"/>
            <a:ext cx="7315200" cy="38116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01583" y="2084831"/>
            <a:ext cx="3520440" cy="1207008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CATEGORÍA OCUPACIONAL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3000" b="1">
                <a:solidFill>
                  <a:srgbClr val="4353CC"/>
                </a:solidFill>
                <a:latin typeface="Consolas"/>
              </a:rPr>
              <a:t>S/ 139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Soles de error si se pierde.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3" y="3401568"/>
            <a:ext cx="3520440" cy="1207008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AÑOS DE EDUCACIÓN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3000" b="1">
                <a:solidFill>
                  <a:srgbClr val="4353CC"/>
                </a:solidFill>
                <a:latin typeface="Consolas"/>
              </a:rPr>
              <a:t>S/ 128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La segunda, mismo cálculo.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4718304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542B8"/>
                </a:solidFill>
                <a:latin typeface="Consolas"/>
              </a:rPr>
              <a:t>CLASIFICADOR · TOP 3 — CAÍDA DE PR-AUC AL DESORDENAR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−0,046</a:t>
            </a:r>
            <a:r>
              <a:rPr sz="1800" b="0">
                <a:solidFill>
                  <a:srgbClr val="1E232B"/>
                </a:solidFill>
                <a:latin typeface="Calibri"/>
              </a:rPr>
              <a:t>  tamaño de empresa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−0,031</a:t>
            </a:r>
            <a:r>
              <a:rPr sz="1800" b="0">
                <a:solidFill>
                  <a:srgbClr val="1E232B"/>
                </a:solidFill>
                <a:latin typeface="Calibri"/>
              </a:rPr>
              <a:t>  categoría ocupacional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3542B8"/>
                </a:solidFill>
                <a:latin typeface="Consolas"/>
              </a:rPr>
              <a:t>−0,025</a:t>
            </a:r>
            <a:r>
              <a:rPr sz="1800" b="0">
                <a:solidFill>
                  <a:srgbClr val="1E232B"/>
                </a:solidFill>
                <a:latin typeface="Calibri"/>
              </a:rPr>
              <a:t>  años de educación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models/ui_artifacts.json (importancia_permutacion del regresor y del clasificador): 5 repeticiones sobre 9.000 filas de test en ambos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El modelo local y el desplegado dan el mismo número, dígito a dígito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El mismo perfil se corrió en la consola de VS Code y en la app pública: tres números, cero diferencias.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84831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VS CODE · CONSOLA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3328" y="2084831"/>
            <a:ext cx="55686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STREAMLIT COMMUNITY CLOUD · APP PÚBLICA</a:t>
            </a:r>
          </a:p>
        </p:txBody>
      </p:sp>
      <p:pic>
        <p:nvPicPr>
          <p:cNvPr id="7" name="Picture 6" descr="fig_consola_regre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07663"/>
            <a:ext cx="4846320" cy="123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68112" y="2798063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77A4C"/>
                </a:solidFill>
                <a:latin typeface="Calibri"/>
              </a:rPr>
              <a:t>=</a:t>
            </a:r>
          </a:p>
        </p:txBody>
      </p:sp>
      <p:pic>
        <p:nvPicPr>
          <p:cNvPr id="9" name="Picture 8" descr="cloud_reg_zona_pul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191" y="2377439"/>
            <a:ext cx="3100968" cy="1298448"/>
          </a:xfrm>
          <a:prstGeom prst="rect">
            <a:avLst/>
          </a:prstGeom>
        </p:spPr>
      </p:pic>
      <p:pic>
        <p:nvPicPr>
          <p:cNvPr id="10" name="Picture 9" descr="fig_consola_clasificad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299" y="3767328"/>
            <a:ext cx="3743577" cy="1298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8112" y="41879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77A4C"/>
                </a:solidFill>
                <a:latin typeface="Calibri"/>
              </a:rPr>
              <a:t>=</a:t>
            </a:r>
          </a:p>
        </p:txBody>
      </p:sp>
      <p:pic>
        <p:nvPicPr>
          <p:cNvPr id="12" name="Picture 11" descr="cloud_clf_zona_pul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471" y="3767328"/>
            <a:ext cx="5436408" cy="129844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5266944"/>
            <a:ext cx="3471672" cy="1115568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INGRESO TÍPICO (MEDIANA)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2200" b="1">
                <a:solidFill>
                  <a:srgbClr val="4353CC"/>
                </a:solidFill>
                <a:latin typeface="Consolas"/>
              </a:rPr>
              <a:t>S/ 849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Idéntico en los dos lados.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640" y="5266944"/>
            <a:ext cx="3471672" cy="1115568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INGRESO ESPERADO (MEDIA)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2200" b="1">
                <a:solidFill>
                  <a:srgbClr val="4353CC"/>
                </a:solidFill>
                <a:latin typeface="Consolas"/>
              </a:rPr>
              <a:t>S/ 1.189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La mediana × Duan 1,4009.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1" y="5266944"/>
            <a:ext cx="3471672" cy="1115568"/>
          </a:xfrm>
          <a:prstGeom prst="roundRect">
            <a:avLst>
              <a:gd name="adj" fmla="val 5000"/>
            </a:avLst>
          </a:prstGeom>
          <a:solidFill>
            <a:srgbClr val="FCFBF8"/>
          </a:solidFill>
          <a:ln w="15875">
            <a:solidFill>
              <a:srgbClr val="D5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F6875"/>
                </a:solidFill>
                <a:latin typeface="Consolas"/>
              </a:rPr>
              <a:t>PROB. DE INFORMALIDAD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2200" b="1">
                <a:solidFill>
                  <a:srgbClr val="8A5D0B"/>
                </a:solidFill>
                <a:latin typeface="Consolas"/>
              </a:rPr>
              <a:t>97,5 %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Umbral 0,6054: señalado.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docs/presentacion/verificacion_local.py · salida_consola_verificacion.txt · capturas de la app desplegada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Revisamos nuestro propio trabajo: cuatro errores encontrados, cuatro publicados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Cada cifra contra el archivo que la genera, cada cita contra su fuente; cada hallazgo, con su origen.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66543"/>
          <a:ext cx="11055095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528"/>
                <a:gridCol w="2542672"/>
                <a:gridCol w="5195895"/>
              </a:tblGrid>
              <a:tr h="48463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Dónde nació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Qué pasó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El código de faltante, leído como un sueldo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DATOS DE ORIGEN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999999 es «no sabe», pero entraba como S/ 999.999: tratarlo como faltante subió el R² de 0,023 a 0,248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La rejilla de hiperparámetros estaba acotada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DECISIÓN PROPIA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Los tres quedaron en el borde. Ampliada, el error baja de S/ 610,90 a S/ 607,31 (0,59 %): no se promovió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Una cifra del INEI con la etiqueta equivocada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DECISIÓN PROPIA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El 88,6 % es del tramo 1-10 del INEI; nuestra categoría «Hasta 20» da 81,1 %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Tres afirmaciones distintas sobre el mismo R²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DECISIÓN PROPIA · DOCUMENTACIÓN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Circulaban «0,4–0,5», «rara vez supera 0,4» y «ninguno supera 0,5»: quedó una, sobre Mincer y Card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212079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542B8"/>
                </a:solidFill>
                <a:latin typeface="Consolas"/>
              </a:rPr>
              <a:t>LA LÍNEA DE MÉTODO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Los de origen se corrigen y se documentan; los propios se corrigen y se aprende de ellos; los de cita se verifican en el texto completo. Ninguno se borra en silencio.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INFORME_AUDITORIA.md · models/ui_artifacts.json (torneo.autopsia) · la sección «Qué encontró la auditoría» de la propia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35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600" b="1">
                <a:solidFill>
                  <a:srgbClr val="1E232B"/>
                </a:solidFill>
                <a:latin typeface="Calibri"/>
              </a:rPr>
              <a:t>El regresor compara perfiles; el clasificador señala empleos, no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08176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0"/>
              </a:spcAft>
            </a:pPr>
            <a:r>
              <a:rPr sz="2000" b="0">
                <a:solidFill>
                  <a:srgbClr val="49525F"/>
                </a:solidFill>
                <a:latin typeface="Calibri"/>
              </a:rPr>
              <a:t>Qué se puede afirmar con cada modelo, qué no, y qué dejó el despliegue.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66543"/>
          <a:ext cx="1105509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19"/>
                <a:gridCol w="4422038"/>
                <a:gridCol w="4422038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Regresor de ingreso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5F6875"/>
                          </a:solidFill>
                          <a:latin typeface="Calibri"/>
                        </a:rPr>
                        <a:t>Clasificador de informalidad</a:t>
                      </a:r>
                    </a:p>
                  </a:txBody>
                  <a:tcPr marL="91440" marR="91440" marT="45720" marB="45720" anchor="ctr">
                    <a:solidFill>
                      <a:srgbClr val="F1EFE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Sí se puede afirmar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Un ingreso típico para un perfil, con un error medio de S/ 611 al mes.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Que una configuración laboral observable se asocia a informalidad (PR-AUC de test 0,9605).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No se puede afirmar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Cuánto va a cobrar una persona concreta. Sirve para comparar perfiles, no para fijar sueldos.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32B"/>
                          </a:solidFill>
                          <a:latin typeface="Calibri"/>
                        </a:rPr>
                        <a:t>Que alguien vaya a ser informal. No predice el futuro ni juzga a ninguna persona.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352544"/>
            <a:ext cx="11055096" cy="1152144"/>
          </a:xfrm>
          <a:prstGeom prst="roundRect">
            <a:avLst>
              <a:gd name="adj" fmla="val 5000"/>
            </a:avLst>
          </a:prstGeom>
          <a:solidFill>
            <a:srgbClr val="E6E8FA"/>
          </a:solidFill>
          <a:ln w="15875">
            <a:solidFill>
              <a:srgbClr val="435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3542B8"/>
                </a:solidFill>
                <a:latin typeface="Consolas"/>
              </a:rPr>
              <a:t>QUÉ DEJÓ EL DESPLIEGUE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800" b="0">
                <a:solidFill>
                  <a:srgbClr val="1E232B"/>
                </a:solidFill>
                <a:latin typeface="Calibri"/>
              </a:rPr>
              <a:t>Fijar las versiones exactas (scikit-learn 1.9.0, pandas 3.0.5) y precomputar todo lo pesado en un JSON de 44,7 KB es lo que hace que la app cargue rápido y no se quede sin memoria.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742431"/>
            <a:ext cx="1105509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E232B"/>
                </a:solidFill>
                <a:latin typeface="Calibri"/>
              </a:rPr>
              <a:t>Alan Nestor Cañazaca Mamani · Magdalena Quico de la Cruz · Yoichi Palacios Tanaka · Edgar Delgado Ortega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49525F"/>
                </a:solidFill>
                <a:latin typeface="Calibri"/>
              </a:rPr>
              <a:t>Docente: Orlando Advíncula Zeballos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F6875"/>
                </a:solidFill>
                <a:latin typeface="Calibri"/>
              </a:rPr>
              <a:t>Fuente: models/feature_schema.json (métricas de test) · AUTHORS.md · CITATION.cff · LICENSE (Apache-2.0) y docs/LICENSE-DOCS.md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