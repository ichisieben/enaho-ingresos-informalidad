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Somos el grupo de Alan, Magdalena, Yoichi y Edgar, del curso de Machine Learning de la ENEI, con el profesor Orlando Advíncula. Presentamos dos modelos entrenados sobre los microdatos públicos de la ENAHO 2025 del INEI: uno estima el ingreso laboral mensual y otro clasifica si un empleo es informal. Los dos están desplegados en una app pública de Streamlit que vamos a abrir en vivo. El curso es de despliegue, así que el peso de la exposición está en cómo llega el modelo del editor al navegador y en qué garantías tenemos de que lo que corre en la nube es lo que entrenamos. Esos dos enlaces son los únicos que hace falta apuntar; no vuelven a aparecer.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app tiene cuatro secciones; estas son las dos que hacen predicción. A la izquierda, el formulario del regresor: se describe un perfil laboral y devuelve un ingreso mensual típico en soles. A la derecha, la pestaña de informalidad: con las mismas once variables devuelve una probabilidad y, según dónde se ponga el umbral, un veredicto. Son dos modelos independientes que comparten las entradas, no un modelo con dos salidas. Las otras dos secciones son el torneo de modelos y la ficha técnica. Y toda la app se explica sola: cada sección tiene una lectura llana y un expander de detalle técnico, los gráficos etiquetan qué es DATO, qué es MECÁNICA y qué es HIPÓTESIS, la matriz de confusión está nombrada en castellano, y hay 15 referencias bibliográficas con el enlace comprobado una a una. Nadie necesita abrir el código para entender qué está viendo.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lámina que sostiene todo lo demás. El pipeline completo corre en local, en VS Code: los scripts numerados del 00 al 09 leen los microdatos del INEI, entrenan los modelos y escriben los artefactos: dos .joblib y los JSON de contrato con la app. Los microdatos son 601,3 megabytes que el .gitignore excluye por diseño: no se redistribuyen, se enlaza a la fuente. Lo que sale de la máquina son 8,74 megabytes en 108 archivos, en carpetas con un rol fijo: src/ para el entrenamiento, models/ para los artefactos, app/ para lo desplegado, docs/ y reports/ para la evidencia. GitHub recibe el push, avisa por webhook a Streamlit Community Cloud, y la nube reconstruye el entorno y publica. Entre guardar en el editor y ver el cambio en el navegador no hay ningún paso manual: esa es la definición de despliegue continuo que defendemos aquí.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recorrido real de abrir la app: cero ejecuciones del modelo. Las curvas de umbral, los histogramas, las tablas de consecuencias y las dependencias parciales se calcularon una sola vez, en 09_precomputar_ui.py, y viajan como un JSON de 44,7 kilobytes. La app en producción abre ese archivo y dibuja: no hay nada que calcular ahí. Los .joblib solo entran cuando el usuario arma un perfil y pulsa «Estimar»: una llamada a predict, que da S/ 849 para el perfil por defecto, y una a predict_proba. Además, cache_data y cache_resource evitan releer el JSON y los modelos en cada interacción de la sesión. Community Cloud da poca memoria por aplicación: mantener el trabajo pesado fuera del tiempo de ejecución es lo que permite que cargue rápido y no se quede sin memoria. Qué gana el usuario: una app que responde al instante; qué ganamos nosotros: una app que no se cae.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requirements.txt no deja ninguna versión suelta. scikit-learn queda fijado en 1.9.0, la misma con la que se generaron los .joblib, porque un modelo serializado con otra versión puede no cargar, o cargar y comportarse distinto, sin ningún aviso. La comprobación no es una promesa del archivo: el propio generador de esta presentación compara requirements.txt con la versión anotada en los artefactos y se niega a producir el .pptx si no coinciden. Del lado de la nube, Streamlit Cloud apunta a un archivo y una rama fijos —app/streamlit_app.py en main— y reconstruye ese entorno en cada push. La versión de pandas, 3.0.5, queda fijada por la misma razón.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formulario no declara ningún campo a mano: recorre feature_schema.json y arma un control por variable, número o selector según el tipo. Los numéricos usan number_input con su paso y su rango; los categóricos, selectbox con las opciones que realmente vio el codificador entrenado. Si mañana cambia una variable en el schema, el formulario cambia solo: el schema es el contrato entre el entrenamiento y la interfaz. El slider del umbral vive en un st.fragment: moverlo reejecuta solo ese fragmento y no la página entera, así que la predicción y los artefactos no se vuelven a cargar en cada arrastre. El expander separa la lectura llana de la técnica, el popover resuelve una pregunta puntual sin ocupar espacio permanente, y el selector de tema es un radio que lee sus opciones de PALETAS, la misma paleta que estás viendo en estas láminas.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controles distintos, cada uno contra un tipo de fallo distinto. Primero, los tests de contrato: un despliegue del 20 de agosto rompió la app tres veces con la misma forma de error, la app pedía algo que su proveedor no tenía: un tema que no estaba en la paleta, una función de dibujo que no existía, una clave del artefacto renombrada. Cada uno de esos fallos está hoy reproducido como un test de pytest que corre sin navegador: si el error vuelve, salta en local antes del push, no en producción delante del usuario. Segundo, la autoría: cada commit va firmado con una clave SSH y git log muestra la firma buena; en un repositorio público, saber quién publicó qué no es un adorno. Tercero, el QA: cuando afirmamos algo de la app desplegada, por ejemplo que un gráfico ya no se corta, no lo miramos a ojo: se mide sobre el DOM real con Playwright. Ese estándar quedó escrito en la guía de post-entrega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guía pide comparar Random Forest y Gradient Boosting, y esta es la comparación en los dos problemas a la vez. En regresión, Gradient Boosting se equivoca de media en S/ 610,9 al mes y Random Forest en S/ 613,0: empate práctico; la mejor especificación lineal, E7, queda en S/ 686,9, y ahí sí hay distancia. En clasificación gana también Gradient Boosting: PR-AUC de 0,9626 contra 0,9619 del Random Forest y 0,9553 de la logística. Contexto que conviene tener a mano: detrás de la fila de regresión hay un torneo de nueve especificaciones, de la consigna E1 con S/ 900,6 de error hasta E9; los datos vienen de un embudo documentado: 84.853 registros del módulo de empleo, 57.716 ocupados de 14 años o más, 47.899 con ingreso positivo y 47.632 casos completos, partidos en 38.105 de entrenamiento y 9.527 de prueba con semilla fija. Medimos PR-AUC y no accuracy porque la prevalencia es 0,6778: decir «informal» a todos ya acierta el 67,8 % de las veces. Y la selección es siempre por validación cruzada: el test se miró una sola vez, al final.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Tomamos una variable, desordenamos sus valores al azar entre las personas, y medimos cuántos soles más se equivoca el modelo. La categoría ocupacional sube el error en unos S/ 139 al mes y los años de educación en unos S/ 128. Ojo con la lectura: esto mide cuánto usa el modelo cada variable, no cuánto causa cada variable en el ingreso real. Para la lectura causal está el modelo explicativo E6, una regresión ponderada aparte que está en la app: ahí cada año de educación se asocia a un 4,8 % más de ingreso y vivir en zona urbana a un 32,3 % más. En el clasificador hicimos además una ablación estructural: quitar el tamaño de empresa y la categoría ocupacional baja el PR-AUC de 0,9626 a 0,9415; esas dos variables llevan gran parte de la señal, lo cual es coherente con cómo se define la informalidad.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dar la app por buena corrimos el mismo perfil —los once valores por defecto del formulario— en la consola local de VS Code y lo comparamos con la app ya desplegada. El regresor da S/ 849 de ingreso típico, la mediana del Gradient Boosting E9, y S/ 1.189 de ingreso esperado, que aplica el factor de smearing de Duan 1,4009 sobre esa mediana. El clasificador da 97,5 % de probabilidad de informalidad, y con el umbral operativo 0,6054 el empleo queda señalado: la consola imprime INFORMAL y la app dice «señalado para focalización», que es lo mismo dicho con cuidado, porque la señal es sobre una configuración de empleo y no sobre la persona. Un detalle honesto: el formulario del clasificador arranca con un valor de horas distinto al del regresor, así que los dos perfiles no son idénticos entre sí; dentro de cada fila, consola y app comparan exactamente el mismo perfil. Cuidado con lo que prueba esto: no valida que el modelo prediga bien, valida que la nube corre exactamente el artefacto que entrenamos, no una copia vieja ni un reentrenamiento distinto.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publicar, el proyecto se auditó a sí mismo: cada cifra contra el script que la genera, cada cita contra su fuente original. Aparecieron cuatro problemas y se publicaron los cuatro, cada uno con la etiqueta de dónde nació. El primero venía en los datos: el INEI codifica «no sabe» como 999999 y ese valor se estaba leyendo como un ingreso real de casi un millón de soles; convertirlo en dato faltante subió el R² de 0,023 a 0,248 y devolvió el sentido económico a los coeficientes. Los otros tres nacieron en nuestro propio trabajo. El de la rejilla merece una frase más: la rejilla original dejaba los tres hiperparámetros ganadores en el borde, la ampliada baja el error a S/ 607,31, y aun así NO se promovió, porque un 0,59 % de mejora no justifica invalidar la evidencia ya documentada: esa disciplina —separar «es mejor» de «vale la pena cambiarlo»— es parte del método. Ninguno de los hallazgos cambia el modelo en producción. El valor de auditar no fue que no hubiera errores: fue encontrarlos y dejarlos escritos.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los límites. El regresor da un ingreso típico con un error medio de unos S/ 611 al mes: sirve para comparar perfiles entre sí, no para decirle a una persona cuánto va a cobrar. El clasificador identifica si una configuración laboral observable se asocia a la informalidad, con un PR-AUC de test de 0,9605; es una herramienta de focalización, no predice el futuro de nadie. Del despliegue nos llevamos dos cosas concretas: fijar las versiones exactas de las librerías, porque un pickle no es portable entre versiones, y sacar todo el cálculo pesado del tiempo de ejecución. Los enlaces están en la portada.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ei_microdatos_cabecera.jpg"/>
          <p:cNvPicPr>
            <a:picLocks noChangeAspect="1"/>
          </p:cNvPicPr>
          <p:nvPr/>
        </p:nvPicPr>
        <p:blipFill>
          <a:blip r:embed="rId2"/>
          <a:stretch>
            <a:fillRect/>
          </a:stretch>
        </p:blipFill>
        <p:spPr>
          <a:xfrm>
            <a:off x="566928" y="384048"/>
            <a:ext cx="4023360" cy="751301"/>
          </a:xfrm>
          <a:prstGeom prst="rect">
            <a:avLst/>
          </a:prstGeom>
        </p:spPr>
      </p:pic>
      <p:pic>
        <p:nvPicPr>
          <p:cNvPr id="4" name="Picture 3" descr="enei_logo.png"/>
          <p:cNvPicPr>
            <a:picLocks noChangeAspect="1"/>
          </p:cNvPicPr>
          <p:nvPr/>
        </p:nvPicPr>
        <p:blipFill>
          <a:blip r:embed="rId3"/>
          <a:stretch>
            <a:fillRect/>
          </a:stretch>
        </p:blipFill>
        <p:spPr>
          <a:xfrm>
            <a:off x="10104120" y="310896"/>
            <a:ext cx="1536192" cy="1123615"/>
          </a:xfrm>
          <a:prstGeom prst="rect">
            <a:avLst/>
          </a:prstGeom>
        </p:spPr>
      </p:pic>
      <p:sp>
        <p:nvSpPr>
          <p:cNvPr id="5" name="TextBox 4"/>
          <p:cNvSpPr txBox="1"/>
          <p:nvPr/>
        </p:nvSpPr>
        <p:spPr>
          <a:xfrm>
            <a:off x="566928" y="1755648"/>
            <a:ext cx="11055096" cy="1517904"/>
          </a:xfrm>
          <a:prstGeom prst="rect">
            <a:avLst/>
          </a:prstGeom>
          <a:noFill/>
        </p:spPr>
        <p:txBody>
          <a:bodyPr wrap="square" lIns="0" rIns="0" tIns="0" bIns="0">
            <a:spAutoFit/>
          </a:bodyPr>
          <a:lstStyle/>
          <a:p>
            <a:pPr>
              <a:lnSpc>
                <a:spcPct val="94000"/>
              </a:lnSpc>
              <a:spcAft>
                <a:spcPts val="600"/>
              </a:spcAft>
            </a:pPr>
            <a:r>
              <a:rPr sz="4400" b="1">
                <a:solidFill>
                  <a:srgbClr val="1E232B"/>
                </a:solidFill>
                <a:latin typeface="Calibri"/>
              </a:rPr>
              <a:t>Ingreso laboral e informalidad en el Perú</a:t>
            </a:r>
          </a:p>
          <a:p>
            <a:pPr>
              <a:lnSpc>
                <a:spcPct val="105000"/>
              </a:lnSpc>
              <a:spcAft>
                <a:spcPts val="0"/>
              </a:spcAft>
            </a:pPr>
            <a:r>
              <a:rPr sz="2000" b="0">
                <a:solidFill>
                  <a:srgbClr val="49525F"/>
                </a:solidFill>
                <a:latin typeface="Calibri"/>
              </a:rPr>
              <a:t>Dos modelos sobre los microdatos de la ENAHO 2025 (INEI), desplegados en una app pública</a:t>
            </a:r>
          </a:p>
        </p:txBody>
      </p:sp>
      <p:sp>
        <p:nvSpPr>
          <p:cNvPr id="6" name="TextBox 5"/>
          <p:cNvSpPr txBox="1"/>
          <p:nvPr/>
        </p:nvSpPr>
        <p:spPr>
          <a:xfrm>
            <a:off x="566928" y="3310128"/>
            <a:ext cx="11055096" cy="566928"/>
          </a:xfrm>
          <a:prstGeom prst="rect">
            <a:avLst/>
          </a:prstGeom>
          <a:noFill/>
        </p:spPr>
        <p:txBody>
          <a:bodyPr wrap="square" lIns="0" rIns="0" tIns="0" bIns="0">
            <a:spAutoFit/>
          </a:bodyPr>
          <a:lstStyle/>
          <a:p>
            <a:pPr>
              <a:spcAft>
                <a:spcPts val="300"/>
              </a:spcAft>
            </a:pPr>
            <a:r>
              <a:rPr sz="1800" b="0">
                <a:solidFill>
                  <a:srgbClr val="1E232B"/>
                </a:solidFill>
                <a:latin typeface="Calibri"/>
              </a:rPr>
              <a:t>Curso de Machine Learning · ENEI — Escuela Nacional de Estadística e Informática</a:t>
            </a:r>
          </a:p>
          <a:p>
            <a:pPr>
              <a:spcAft>
                <a:spcPts val="0"/>
              </a:spcAft>
            </a:pPr>
            <a:r>
              <a:rPr sz="1800" b="0">
                <a:solidFill>
                  <a:srgbClr val="49525F"/>
                </a:solidFill>
                <a:latin typeface="Calibri"/>
              </a:rPr>
              <a:t>Docente: Orlando Advíncula Zeballos · 25 de agosto de 2026</a:t>
            </a:r>
          </a:p>
        </p:txBody>
      </p:sp>
      <p:sp>
        <p:nvSpPr>
          <p:cNvPr id="7" name="Rounded Rectangle 6"/>
          <p:cNvSpPr/>
          <p:nvPr/>
        </p:nvSpPr>
        <p:spPr>
          <a:xfrm>
            <a:off x="566928" y="4096512"/>
            <a:ext cx="11055096" cy="1060704"/>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500"/>
              </a:spcAft>
            </a:pPr>
            <a:r>
              <a:rPr sz="1400" b="0">
                <a:solidFill>
                  <a:srgbClr val="3542B8"/>
                </a:solidFill>
                <a:latin typeface="Consolas"/>
              </a:rPr>
              <a:t>INTEGRANTES</a:t>
            </a:r>
          </a:p>
          <a:p>
            <a:pPr>
              <a:lnSpc>
                <a:spcPct val="105000"/>
              </a:lnSpc>
              <a:spcAft>
                <a:spcPts val="0"/>
              </a:spcAft>
            </a:pPr>
            <a:r>
              <a:rPr sz="1800" b="1">
                <a:solidFill>
                  <a:srgbClr val="1E232B"/>
                </a:solidFill>
                <a:latin typeface="Calibri"/>
              </a:rPr>
              <a:t>Alan Nestor Cañazaca Mamani  ·  Magdalena Quico de la Cruz  ·  Yoichi Palacios Tanaka  ·  Edgar Delgado Ortega</a:t>
            </a:r>
          </a:p>
        </p:txBody>
      </p:sp>
      <p:sp>
        <p:nvSpPr>
          <p:cNvPr id="8" name="Rounded Rectangle 7"/>
          <p:cNvSpPr/>
          <p:nvPr/>
        </p:nvSpPr>
        <p:spPr>
          <a:xfrm>
            <a:off x="566928" y="5358384"/>
            <a:ext cx="11055096" cy="1133856"/>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l">
              <a:spcAft>
                <a:spcPts val="1000"/>
              </a:spcAft>
            </a:pPr>
            <a:r>
              <a:rPr sz="1800" b="0">
                <a:solidFill>
                  <a:srgbClr val="49525F"/>
                </a:solidFill>
                <a:latin typeface="Calibri"/>
              </a:rPr>
              <a:t>App:  </a:t>
            </a:r>
            <a:r>
              <a:rPr sz="1800" b="1">
                <a:solidFill>
                  <a:srgbClr val="3542B8"/>
                </a:solidFill>
                <a:latin typeface="Consolas"/>
              </a:rPr>
              <a:t>enaho-ingresos-informalidad.streamlit.app</a:t>
            </a:r>
          </a:p>
          <a:p>
            <a:pPr algn="l">
              <a:spcAft>
                <a:spcPts val="0"/>
              </a:spcAft>
            </a:pPr>
            <a:r>
              <a:rPr sz="1800" b="0">
                <a:solidFill>
                  <a:srgbClr val="49525F"/>
                </a:solidFill>
                <a:latin typeface="Calibri"/>
              </a:rPr>
              <a:t>Repositorio:  </a:t>
            </a:r>
            <a:r>
              <a:rPr sz="1800" b="1">
                <a:solidFill>
                  <a:srgbClr val="3542B8"/>
                </a:solidFill>
                <a:latin typeface="Consolas"/>
              </a:rPr>
              <a:t>github.com/IchiSieben/enaho-ingresos-informalidad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Una app pública, dos modelos: cuánto gana un perfil y si su empleo es informal</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El mismo formulario alimenta dos modelos independientes; cada pestaña corre el suyo.</a:t>
            </a:r>
          </a:p>
        </p:txBody>
      </p:sp>
      <p:pic>
        <p:nvPicPr>
          <p:cNvPr id="5" name="Picture 4" descr="cloud_reg_panel_pulida.png"/>
          <p:cNvPicPr>
            <a:picLocks noChangeAspect="1"/>
          </p:cNvPicPr>
          <p:nvPr/>
        </p:nvPicPr>
        <p:blipFill>
          <a:blip r:embed="rId2"/>
          <a:stretch>
            <a:fillRect/>
          </a:stretch>
        </p:blipFill>
        <p:spPr>
          <a:xfrm>
            <a:off x="1293661" y="2066543"/>
            <a:ext cx="3904916" cy="2761487"/>
          </a:xfrm>
          <a:prstGeom prst="rect">
            <a:avLst/>
          </a:prstGeom>
        </p:spPr>
      </p:pic>
      <p:pic>
        <p:nvPicPr>
          <p:cNvPr id="6" name="Picture 5" descr="cloud_clf_panel_pulida.png"/>
          <p:cNvPicPr>
            <a:picLocks noChangeAspect="1"/>
          </p:cNvPicPr>
          <p:nvPr/>
        </p:nvPicPr>
        <p:blipFill>
          <a:blip r:embed="rId3"/>
          <a:stretch>
            <a:fillRect/>
          </a:stretch>
        </p:blipFill>
        <p:spPr>
          <a:xfrm>
            <a:off x="6990373" y="2066543"/>
            <a:ext cx="3904916" cy="2761487"/>
          </a:xfrm>
          <a:prstGeom prst="rect">
            <a:avLst/>
          </a:prstGeom>
        </p:spPr>
      </p:pic>
      <p:sp>
        <p:nvSpPr>
          <p:cNvPr id="7" name="Rounded Rectangle 6"/>
          <p:cNvSpPr/>
          <p:nvPr/>
        </p:nvSpPr>
        <p:spPr>
          <a:xfrm>
            <a:off x="566928" y="4937760"/>
            <a:ext cx="5358384" cy="1353312"/>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600"/>
              </a:spcAft>
            </a:pPr>
            <a:r>
              <a:rPr sz="1400" b="0">
                <a:solidFill>
                  <a:srgbClr val="5F6875"/>
                </a:solidFill>
                <a:latin typeface="Consolas"/>
              </a:rPr>
              <a:t>ESTIMACIÓN DE INGRESO  ·  REGRESIÓN</a:t>
            </a:r>
          </a:p>
          <a:p>
            <a:pPr>
              <a:lnSpc>
                <a:spcPct val="106000"/>
              </a:lnSpc>
              <a:spcAft>
                <a:spcPts val="0"/>
              </a:spcAft>
            </a:pPr>
            <a:r>
              <a:rPr sz="1800" b="0">
                <a:solidFill>
                  <a:srgbClr val="1E232B"/>
                </a:solidFill>
                <a:latin typeface="Calibri"/>
              </a:rPr>
              <a:t>Estima el ingreso laboral mensual en soles con Gradient Boosting sobre el logaritmo del ingreso (especificación E9).</a:t>
            </a:r>
          </a:p>
        </p:txBody>
      </p:sp>
      <p:sp>
        <p:nvSpPr>
          <p:cNvPr id="8" name="Rounded Rectangle 7"/>
          <p:cNvSpPr/>
          <p:nvPr/>
        </p:nvSpPr>
        <p:spPr>
          <a:xfrm>
            <a:off x="6263640" y="4937760"/>
            <a:ext cx="5358384" cy="1353312"/>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600"/>
              </a:spcAft>
            </a:pPr>
            <a:r>
              <a:rPr sz="1400" b="0">
                <a:solidFill>
                  <a:srgbClr val="5F6875"/>
                </a:solidFill>
                <a:latin typeface="Consolas"/>
              </a:rPr>
              <a:t>EMPLEO INFORMAL  ·  CLASIFICACIÓN</a:t>
            </a:r>
          </a:p>
          <a:p>
            <a:pPr>
              <a:lnSpc>
                <a:spcPct val="106000"/>
              </a:lnSpc>
              <a:spcAft>
                <a:spcPts val="0"/>
              </a:spcAft>
            </a:pPr>
            <a:r>
              <a:rPr sz="1800" b="0">
                <a:solidFill>
                  <a:srgbClr val="1E232B"/>
                </a:solidFill>
                <a:latin typeface="Calibri"/>
              </a:rPr>
              <a:t>Estima la probabilidad de que el empleo sea informal, también con Gradient Boosting, sobre las mismas once variables.</a:t>
            </a:r>
          </a:p>
        </p:txBody>
      </p:sp>
      <p:sp>
        <p:nvSpPr>
          <p:cNvPr id="9" name="TextBox 8"/>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capturas de la app desplegada en Streamlit Community Cloud (enaho-ingresos-informalidad.streamlit.app).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Cada push a main redespliega la app en la nube, sin pasos manuales</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Del editor al navegador solo hay commits: Streamlit Cloud reconstruye y publica en cada push.</a:t>
            </a:r>
          </a:p>
        </p:txBody>
      </p:sp>
      <p:pic>
        <p:nvPicPr>
          <p:cNvPr id="5" name="Picture 4" descr="fig_arquitectura.png"/>
          <p:cNvPicPr>
            <a:picLocks noChangeAspect="1"/>
          </p:cNvPicPr>
          <p:nvPr/>
        </p:nvPicPr>
        <p:blipFill>
          <a:blip r:embed="rId2"/>
          <a:stretch>
            <a:fillRect/>
          </a:stretch>
        </p:blipFill>
        <p:spPr>
          <a:xfrm>
            <a:off x="1943553" y="2066543"/>
            <a:ext cx="8301844" cy="3200399"/>
          </a:xfrm>
          <a:prstGeom prst="rect">
            <a:avLst/>
          </a:prstGeom>
        </p:spPr>
      </p:pic>
      <p:sp>
        <p:nvSpPr>
          <p:cNvPr id="6" name="Rounded Rectangle 5"/>
          <p:cNvSpPr/>
          <p:nvPr/>
        </p:nvSpPr>
        <p:spPr>
          <a:xfrm>
            <a:off x="566928" y="5413248"/>
            <a:ext cx="11055096" cy="804672"/>
          </a:xfrm>
          <a:prstGeom prst="roundRect">
            <a:avLst>
              <a:gd name="adj" fmla="val 5000"/>
            </a:avLst>
          </a:prstGeom>
          <a:solidFill>
            <a:srgbClr val="E2F2E9"/>
          </a:solidFill>
          <a:ln w="15875">
            <a:solidFill>
              <a:srgbClr val="177A4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lnSpc>
                <a:spcPct val="106000"/>
              </a:lnSpc>
              <a:spcAft>
                <a:spcPts val="0"/>
              </a:spcAft>
            </a:pPr>
            <a:r>
              <a:rPr sz="1800" b="1">
                <a:solidFill>
                  <a:srgbClr val="177A4C"/>
                </a:solidFill>
                <a:latin typeface="Calibri"/>
              </a:rPr>
              <a:t>Los microdatos se quedan en la máquina: los 601,3 MB de la ENAHO no viajan al repositorio, que enlaza a la fuente oficial del INEI.</a:t>
            </a:r>
          </a:p>
        </p:txBody>
      </p:sp>
      <p:sp>
        <p:nvSpPr>
          <p:cNvPr id="7" name="TextBox 6"/>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docs/arquitectura.md · .gitignore · git ls-files · tamaños medidos del disco al generar esta lámina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La app no calcula al abrirse: lee resultados ya guardados</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Curvas, histogramas y tablas se calcularon una sola vez, al entrenar. La app solo las lee y las dibuja.</a:t>
            </a:r>
          </a:p>
        </p:txBody>
      </p:sp>
      <p:pic>
        <p:nvPicPr>
          <p:cNvPr id="5" name="Picture 4" descr="fig_precomputo.png"/>
          <p:cNvPicPr>
            <a:picLocks noChangeAspect="1"/>
          </p:cNvPicPr>
          <p:nvPr/>
        </p:nvPicPr>
        <p:blipFill>
          <a:blip r:embed="rId2"/>
          <a:stretch>
            <a:fillRect/>
          </a:stretch>
        </p:blipFill>
        <p:spPr>
          <a:xfrm>
            <a:off x="2734838" y="2066543"/>
            <a:ext cx="6719275" cy="2834640"/>
          </a:xfrm>
          <a:prstGeom prst="rect">
            <a:avLst/>
          </a:prstGeom>
        </p:spPr>
      </p:pic>
      <p:sp>
        <p:nvSpPr>
          <p:cNvPr id="6" name="Rounded Rectangle 5"/>
          <p:cNvSpPr/>
          <p:nvPr/>
        </p:nvSpPr>
        <p:spPr>
          <a:xfrm>
            <a:off x="566928" y="5020055"/>
            <a:ext cx="11055096" cy="1142999"/>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spcAft>
                <a:spcPts val="0"/>
              </a:spcAft>
            </a:pPr>
            <a:r>
              <a:rPr sz="1800" b="0">
                <a:solidFill>
                  <a:srgbClr val="49525F"/>
                </a:solidFill>
                <a:latin typeface="Calibri"/>
              </a:rPr>
              <a:t>Abrir la app</a:t>
            </a:r>
            <a:r>
              <a:rPr sz="1800" b="1">
                <a:solidFill>
                  <a:srgbClr val="5F6875"/>
                </a:solidFill>
                <a:latin typeface="Consolas"/>
              </a:rPr>
              <a:t>  →  </a:t>
            </a:r>
            <a:r>
              <a:rPr sz="2600" b="1">
                <a:solidFill>
                  <a:srgbClr val="177A4C"/>
                </a:solidFill>
                <a:latin typeface="Consolas"/>
              </a:rPr>
              <a:t>0</a:t>
            </a:r>
            <a:r>
              <a:rPr sz="1800" b="0">
                <a:solidFill>
                  <a:srgbClr val="49525F"/>
                </a:solidFill>
                <a:latin typeface="Calibri"/>
              </a:rPr>
              <a:t> ejecuciones</a:t>
            </a:r>
            <a:r>
              <a:rPr sz="1800" b="0">
                <a:solidFill>
                  <a:srgbClr val="49525F"/>
                </a:solidFill>
                <a:latin typeface="Calibri"/>
              </a:rPr>
              <a:t>      Pulsar «Estimar»</a:t>
            </a:r>
            <a:r>
              <a:rPr sz="1800" b="1">
                <a:solidFill>
                  <a:srgbClr val="5F6875"/>
                </a:solidFill>
                <a:latin typeface="Consolas"/>
              </a:rPr>
              <a:t>  →  </a:t>
            </a:r>
            <a:r>
              <a:rPr sz="2600" b="1">
                <a:solidFill>
                  <a:srgbClr val="4353CC"/>
                </a:solidFill>
                <a:latin typeface="Consolas"/>
              </a:rPr>
              <a:t>1</a:t>
            </a:r>
            <a:r>
              <a:rPr sz="1800" b="0">
                <a:solidFill>
                  <a:srgbClr val="49525F"/>
                </a:solidFill>
                <a:latin typeface="Calibri"/>
              </a:rPr>
              <a:t> predicción</a:t>
            </a:r>
            <a:r>
              <a:rPr sz="1800" b="1">
                <a:solidFill>
                  <a:srgbClr val="5F6875"/>
                </a:solidFill>
                <a:latin typeface="Consolas"/>
              </a:rPr>
              <a:t>  →  </a:t>
            </a:r>
            <a:r>
              <a:rPr sz="2600" b="1">
                <a:solidFill>
                  <a:srgbClr val="3542B8"/>
                </a:solidFill>
                <a:latin typeface="Consolas"/>
              </a:rPr>
              <a:t>S/ 849</a:t>
            </a:r>
          </a:p>
        </p:txBody>
      </p:sp>
      <p:sp>
        <p:nvSpPr>
          <p:cNvPr id="7" name="TextBox 6"/>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src/09_precomputar_ui.py · models/ui_artifacts.json · models/*.joblib · docs/presentacion/verificacion_local.py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El pickle exige la misma scikit-learn que lo entrenó: cada versión queda fijada</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requirements.txt fija las versiones que generaron los artefactos, y Streamlit Cloud reconstruye ese mismo entorno.</a:t>
            </a:r>
          </a:p>
        </p:txBody>
      </p:sp>
      <p:pic>
        <p:nvPicPr>
          <p:cNvPr id="5" name="Picture 4" descr="fig_requisitos.png"/>
          <p:cNvPicPr>
            <a:picLocks noChangeAspect="1"/>
          </p:cNvPicPr>
          <p:nvPr/>
        </p:nvPicPr>
        <p:blipFill>
          <a:blip r:embed="rId2"/>
          <a:stretch>
            <a:fillRect/>
          </a:stretch>
        </p:blipFill>
        <p:spPr>
          <a:xfrm>
            <a:off x="566928" y="2424282"/>
            <a:ext cx="7589520" cy="3262162"/>
          </a:xfrm>
          <a:prstGeom prst="rect">
            <a:avLst/>
          </a:prstGeom>
        </p:spPr>
      </p:pic>
      <p:sp>
        <p:nvSpPr>
          <p:cNvPr id="6" name="Rounded Rectangle 5"/>
          <p:cNvSpPr/>
          <p:nvPr/>
        </p:nvSpPr>
        <p:spPr>
          <a:xfrm>
            <a:off x="8366760" y="2139696"/>
            <a:ext cx="3255264" cy="1901952"/>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SCIKIT-LEARN FIJADO</a:t>
            </a:r>
          </a:p>
          <a:p>
            <a:pPr>
              <a:lnSpc>
                <a:spcPct val="95000"/>
              </a:lnSpc>
              <a:spcAft>
                <a:spcPts val="600"/>
              </a:spcAft>
            </a:pPr>
            <a:r>
              <a:rPr sz="3400" b="1">
                <a:solidFill>
                  <a:srgbClr val="4353CC"/>
                </a:solidFill>
                <a:latin typeface="Consolas"/>
              </a:rPr>
              <a:t>1.9.0</a:t>
            </a:r>
          </a:p>
          <a:p>
            <a:pPr>
              <a:lnSpc>
                <a:spcPct val="105000"/>
              </a:lnSpc>
              <a:spcAft>
                <a:spcPts val="0"/>
              </a:spcAft>
            </a:pPr>
            <a:r>
              <a:rPr sz="1800" b="0">
                <a:solidFill>
                  <a:srgbClr val="49525F"/>
                </a:solidFill>
                <a:latin typeface="Calibri"/>
              </a:rPr>
              <a:t>La misma que entrenó los .joblib. Si dejan de coincidir, este generador aborta.</a:t>
            </a:r>
          </a:p>
        </p:txBody>
      </p:sp>
      <p:sp>
        <p:nvSpPr>
          <p:cNvPr id="7" name="Rounded Rectangle 6"/>
          <p:cNvSpPr/>
          <p:nvPr/>
        </p:nvSpPr>
        <p:spPr>
          <a:xfrm>
            <a:off x="8366760" y="4133087"/>
            <a:ext cx="3255264" cy="1901952"/>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LA NUBE APUNTA A</a:t>
            </a:r>
          </a:p>
          <a:p>
            <a:pPr>
              <a:lnSpc>
                <a:spcPct val="95000"/>
              </a:lnSpc>
              <a:spcAft>
                <a:spcPts val="600"/>
              </a:spcAft>
            </a:pPr>
            <a:r>
              <a:rPr sz="3000" b="1">
                <a:solidFill>
                  <a:srgbClr val="177A4C"/>
                </a:solidFill>
                <a:latin typeface="Consolas"/>
              </a:rPr>
              <a:t>main</a:t>
            </a:r>
          </a:p>
          <a:p>
            <a:pPr>
              <a:lnSpc>
                <a:spcPct val="105000"/>
              </a:lnSpc>
              <a:spcAft>
                <a:spcPts val="0"/>
              </a:spcAft>
            </a:pPr>
            <a:r>
              <a:rPr sz="1800" b="0">
                <a:solidFill>
                  <a:srgbClr val="49525F"/>
                </a:solidFill>
                <a:latin typeface="Calibri"/>
              </a:rPr>
              <a:t>Streamlit Cloud sigue esa rama y reconstruye el entorno en cada push.</a:t>
            </a:r>
          </a:p>
        </p:txBody>
      </p:sp>
      <p:sp>
        <p:nvSpPr>
          <p:cNvPr id="8" name="TextBox 7"/>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requirements.txt · models/ui_artifacts.json (meta) · panel de Streamlit Community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El formulario no declara ni un campo a mano: se genera desde feature_schema.json</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Cada componente de Streamlit resuelve un problema concreto; si el schema cambia, el formulario cambia solo.</a:t>
            </a:r>
          </a:p>
        </p:txBody>
      </p:sp>
      <p:pic>
        <p:nvPicPr>
          <p:cNvPr id="5" name="Picture 4" descr="cloud_form_pulida.png"/>
          <p:cNvPicPr>
            <a:picLocks noChangeAspect="1"/>
          </p:cNvPicPr>
          <p:nvPr/>
        </p:nvPicPr>
        <p:blipFill>
          <a:blip r:embed="rId2"/>
          <a:stretch>
            <a:fillRect/>
          </a:stretch>
        </p:blipFill>
        <p:spPr>
          <a:xfrm>
            <a:off x="566928" y="2066543"/>
            <a:ext cx="6309360" cy="4206240"/>
          </a:xfrm>
          <a:prstGeom prst="rect">
            <a:avLst/>
          </a:prstGeom>
        </p:spPr>
      </p:pic>
      <p:sp>
        <p:nvSpPr>
          <p:cNvPr id="6" name="Rounded Rectangle 5"/>
          <p:cNvSpPr/>
          <p:nvPr/>
        </p:nvSpPr>
        <p:spPr>
          <a:xfrm>
            <a:off x="1197864" y="4169664"/>
            <a:ext cx="144475" cy="274320"/>
          </a:xfrm>
          <a:prstGeom prst="roundRect">
            <a:avLst>
              <a:gd name="adj" fmla="val 35000"/>
            </a:avLst>
          </a:prstGeom>
          <a:solidFill>
            <a:srgbClr val="E6E8FA"/>
          </a:solidFill>
          <a:ln w="12700">
            <a:solidFill>
              <a:srgbClr val="3542B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Aft>
                <a:spcPts val="0"/>
              </a:spcAft>
            </a:pPr>
            <a:r>
              <a:rPr sz="1400" b="1">
                <a:solidFill>
                  <a:srgbClr val="3542B8"/>
                </a:solidFill>
                <a:latin typeface="Consolas"/>
              </a:rPr>
              <a:t>1</a:t>
            </a:r>
          </a:p>
        </p:txBody>
      </p:sp>
      <p:sp>
        <p:nvSpPr>
          <p:cNvPr id="7" name="Rounded Rectangle 6"/>
          <p:cNvSpPr/>
          <p:nvPr/>
        </p:nvSpPr>
        <p:spPr>
          <a:xfrm>
            <a:off x="2459736" y="3833164"/>
            <a:ext cx="144475" cy="274320"/>
          </a:xfrm>
          <a:prstGeom prst="roundRect">
            <a:avLst>
              <a:gd name="adj" fmla="val 35000"/>
            </a:avLst>
          </a:prstGeom>
          <a:solidFill>
            <a:srgbClr val="E6E8FA"/>
          </a:solidFill>
          <a:ln w="12700">
            <a:solidFill>
              <a:srgbClr val="3542B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Aft>
                <a:spcPts val="0"/>
              </a:spcAft>
            </a:pPr>
            <a:r>
              <a:rPr sz="1400" b="1">
                <a:solidFill>
                  <a:srgbClr val="3542B8"/>
                </a:solidFill>
                <a:latin typeface="Consolas"/>
              </a:rPr>
              <a:t>2</a:t>
            </a:r>
          </a:p>
        </p:txBody>
      </p:sp>
      <p:sp>
        <p:nvSpPr>
          <p:cNvPr id="8" name="Rounded Rectangle 7"/>
          <p:cNvSpPr/>
          <p:nvPr/>
        </p:nvSpPr>
        <p:spPr>
          <a:xfrm>
            <a:off x="2459736" y="5095036"/>
            <a:ext cx="144475" cy="274320"/>
          </a:xfrm>
          <a:prstGeom prst="roundRect">
            <a:avLst>
              <a:gd name="adj" fmla="val 35000"/>
            </a:avLst>
          </a:prstGeom>
          <a:solidFill>
            <a:srgbClr val="E6E8FA"/>
          </a:solidFill>
          <a:ln w="12700">
            <a:solidFill>
              <a:srgbClr val="3542B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Aft>
                <a:spcPts val="0"/>
              </a:spcAft>
            </a:pPr>
            <a:r>
              <a:rPr sz="1400" b="1">
                <a:solidFill>
                  <a:srgbClr val="3542B8"/>
                </a:solidFill>
                <a:latin typeface="Consolas"/>
              </a:rPr>
              <a:t>3</a:t>
            </a:r>
          </a:p>
        </p:txBody>
      </p:sp>
      <p:sp>
        <p:nvSpPr>
          <p:cNvPr id="9" name="Rounded Rectangle 8"/>
          <p:cNvSpPr/>
          <p:nvPr/>
        </p:nvSpPr>
        <p:spPr>
          <a:xfrm>
            <a:off x="2333548" y="2991916"/>
            <a:ext cx="144475" cy="274320"/>
          </a:xfrm>
          <a:prstGeom prst="roundRect">
            <a:avLst>
              <a:gd name="adj" fmla="val 35000"/>
            </a:avLst>
          </a:prstGeom>
          <a:solidFill>
            <a:srgbClr val="E6E8FA"/>
          </a:solidFill>
          <a:ln w="12700">
            <a:solidFill>
              <a:srgbClr val="3542B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Aft>
                <a:spcPts val="0"/>
              </a:spcAft>
            </a:pPr>
            <a:r>
              <a:rPr sz="1400" b="1">
                <a:solidFill>
                  <a:srgbClr val="3542B8"/>
                </a:solidFill>
                <a:latin typeface="Consolas"/>
              </a:rPr>
              <a:t>4</a:t>
            </a:r>
          </a:p>
        </p:txBody>
      </p:sp>
      <p:sp>
        <p:nvSpPr>
          <p:cNvPr id="10" name="TextBox 9"/>
          <p:cNvSpPr txBox="1"/>
          <p:nvPr/>
        </p:nvSpPr>
        <p:spPr>
          <a:xfrm>
            <a:off x="7086600" y="2084831"/>
            <a:ext cx="4535424" cy="2267712"/>
          </a:xfrm>
          <a:prstGeom prst="rect">
            <a:avLst/>
          </a:prstGeom>
          <a:noFill/>
        </p:spPr>
        <p:txBody>
          <a:bodyPr wrap="square" lIns="0" rIns="0" tIns="0" bIns="0">
            <a:spAutoFit/>
          </a:bodyPr>
          <a:lstStyle/>
          <a:p>
            <a:pPr>
              <a:spcAft>
                <a:spcPts val="100"/>
              </a:spcAft>
            </a:pPr>
            <a:r>
              <a:rPr sz="1800" b="1">
                <a:solidFill>
                  <a:srgbClr val="3542B8"/>
                </a:solidFill>
                <a:latin typeface="Consolas"/>
              </a:rPr>
              <a:t>1 · st.radio</a:t>
            </a:r>
          </a:p>
          <a:p>
            <a:pPr>
              <a:lnSpc>
                <a:spcPct val="100000"/>
              </a:lnSpc>
              <a:spcAft>
                <a:spcPts val="400"/>
              </a:spcAft>
            </a:pPr>
            <a:r>
              <a:rPr sz="1800" b="0">
                <a:solidFill>
                  <a:srgbClr val="49525F"/>
                </a:solidFill>
                <a:latin typeface="Calibri"/>
              </a:rPr>
              <a:t>cambia de tema desde PALETAS</a:t>
            </a:r>
          </a:p>
          <a:p>
            <a:pPr>
              <a:spcAft>
                <a:spcPts val="100"/>
              </a:spcAft>
            </a:pPr>
            <a:r>
              <a:rPr sz="1800" b="1">
                <a:solidFill>
                  <a:srgbClr val="3542B8"/>
                </a:solidFill>
                <a:latin typeface="Consolas"/>
              </a:rPr>
              <a:t>2 · st.number_input</a:t>
            </a:r>
          </a:p>
          <a:p>
            <a:pPr>
              <a:lnSpc>
                <a:spcPct val="100000"/>
              </a:lnSpc>
              <a:spcAft>
                <a:spcPts val="400"/>
              </a:spcAft>
            </a:pPr>
            <a:r>
              <a:rPr sz="1800" b="0">
                <a:solidFill>
                  <a:srgbClr val="49525F"/>
                </a:solidFill>
                <a:latin typeface="Calibri"/>
              </a:rPr>
              <a:t>una por variable numérica</a:t>
            </a:r>
          </a:p>
          <a:p>
            <a:pPr>
              <a:spcAft>
                <a:spcPts val="100"/>
              </a:spcAft>
            </a:pPr>
            <a:r>
              <a:rPr sz="1800" b="1">
                <a:solidFill>
                  <a:srgbClr val="3542B8"/>
                </a:solidFill>
                <a:latin typeface="Consolas"/>
              </a:rPr>
              <a:t>3 · st.selectbox</a:t>
            </a:r>
          </a:p>
          <a:p>
            <a:pPr>
              <a:lnSpc>
                <a:spcPct val="100000"/>
              </a:lnSpc>
              <a:spcAft>
                <a:spcPts val="400"/>
              </a:spcAft>
            </a:pPr>
            <a:r>
              <a:rPr sz="1800" b="0">
                <a:solidFill>
                  <a:srgbClr val="49525F"/>
                </a:solidFill>
                <a:latin typeface="Calibri"/>
              </a:rPr>
              <a:t>una por variable categórica</a:t>
            </a:r>
          </a:p>
          <a:p>
            <a:pPr>
              <a:spcAft>
                <a:spcPts val="100"/>
              </a:spcAft>
            </a:pPr>
            <a:r>
              <a:rPr sz="1800" b="1">
                <a:solidFill>
                  <a:srgbClr val="3542B8"/>
                </a:solidFill>
                <a:latin typeface="Consolas"/>
              </a:rPr>
              <a:t>4 · st.expander · st.popover</a:t>
            </a:r>
          </a:p>
          <a:p>
            <a:pPr>
              <a:lnSpc>
                <a:spcPct val="100000"/>
              </a:lnSpc>
              <a:spcAft>
                <a:spcPts val="400"/>
              </a:spcAft>
            </a:pPr>
            <a:r>
              <a:rPr sz="1800" b="0">
                <a:solidFill>
                  <a:srgbClr val="49525F"/>
                </a:solidFill>
                <a:latin typeface="Calibri"/>
              </a:rPr>
              <a:t>lectura llana y lectura técnica</a:t>
            </a:r>
          </a:p>
        </p:txBody>
      </p:sp>
      <p:sp>
        <p:nvSpPr>
          <p:cNvPr id="11" name="Rounded Rectangle 10"/>
          <p:cNvSpPr/>
          <p:nvPr/>
        </p:nvSpPr>
        <p:spPr>
          <a:xfrm>
            <a:off x="7086600" y="4626864"/>
            <a:ext cx="4535424" cy="1668948"/>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p>
        </p:txBody>
      </p:sp>
      <p:sp>
        <p:nvSpPr>
          <p:cNvPr id="12" name="TextBox 11"/>
          <p:cNvSpPr txBox="1"/>
          <p:nvPr/>
        </p:nvSpPr>
        <p:spPr>
          <a:xfrm>
            <a:off x="7269480" y="4754879"/>
            <a:ext cx="4206240" cy="292608"/>
          </a:xfrm>
          <a:prstGeom prst="rect">
            <a:avLst/>
          </a:prstGeom>
          <a:noFill/>
        </p:spPr>
        <p:txBody>
          <a:bodyPr wrap="square" lIns="0" rIns="0" tIns="0" bIns="0">
            <a:spAutoFit/>
          </a:bodyPr>
          <a:lstStyle/>
          <a:p>
            <a:pPr>
              <a:spcAft>
                <a:spcPts val="0"/>
              </a:spcAft>
            </a:pPr>
            <a:r>
              <a:rPr sz="1800" b="1">
                <a:solidFill>
                  <a:srgbClr val="3542B8"/>
                </a:solidFill>
                <a:latin typeface="Consolas"/>
              </a:rPr>
              <a:t>5 · st.slider + st.fragment</a:t>
            </a:r>
          </a:p>
        </p:txBody>
      </p:sp>
      <p:pic>
        <p:nvPicPr>
          <p:cNvPr id="13" name="Picture 12" descr="cloud_umbral_control_pulida.png"/>
          <p:cNvPicPr>
            <a:picLocks noChangeAspect="1"/>
          </p:cNvPicPr>
          <p:nvPr/>
        </p:nvPicPr>
        <p:blipFill>
          <a:blip r:embed="rId3"/>
          <a:stretch>
            <a:fillRect/>
          </a:stretch>
        </p:blipFill>
        <p:spPr>
          <a:xfrm>
            <a:off x="7242048" y="5102352"/>
            <a:ext cx="4224528" cy="974004"/>
          </a:xfrm>
          <a:prstGeom prst="rect">
            <a:avLst/>
          </a:prstGeom>
        </p:spPr>
      </p:pic>
      <p:sp>
        <p:nvSpPr>
          <p:cNvPr id="14" name="Rounded Rectangle 13"/>
          <p:cNvSpPr/>
          <p:nvPr/>
        </p:nvSpPr>
        <p:spPr>
          <a:xfrm>
            <a:off x="10030236" y="5530913"/>
            <a:ext cx="144475" cy="274320"/>
          </a:xfrm>
          <a:prstGeom prst="roundRect">
            <a:avLst>
              <a:gd name="adj" fmla="val 35000"/>
            </a:avLst>
          </a:prstGeom>
          <a:solidFill>
            <a:srgbClr val="E6E8FA"/>
          </a:solidFill>
          <a:ln w="12700">
            <a:solidFill>
              <a:srgbClr val="3542B8"/>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spcAft>
                <a:spcPts val="0"/>
              </a:spcAft>
            </a:pPr>
            <a:r>
              <a:rPr sz="1400" b="1">
                <a:solidFill>
                  <a:srgbClr val="3542B8"/>
                </a:solidFill>
                <a:latin typeface="Consolas"/>
              </a:rPr>
              <a:t>5</a:t>
            </a:r>
          </a:p>
        </p:txBody>
      </p:sp>
      <p:sp>
        <p:nvSpPr>
          <p:cNvPr id="15" name="TextBox 14"/>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captura de la app desplegada · app/streamlit_app.py (componentes realmente usados) · models/feature_schema.json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Lo que se publica va firmado, con tests y medido sobre la app viva</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Tres controles rodean cada entrega: que la app y los archivos del modelo digan lo mismo, quién publicó cada versión, y qué se ve de verdad en la app.</a:t>
            </a:r>
          </a:p>
        </p:txBody>
      </p:sp>
      <p:graphicFrame>
        <p:nvGraphicFramePr>
          <p:cNvPr id="5" name="Table 4"/>
          <p:cNvGraphicFramePr>
            <a:graphicFrameLocks noGrp="1"/>
          </p:cNvGraphicFramePr>
          <p:nvPr/>
        </p:nvGraphicFramePr>
        <p:xfrm>
          <a:off x="566928" y="2066543"/>
          <a:ext cx="11055094" cy="2468880"/>
        </p:xfrm>
        <a:graphic>
          <a:graphicData uri="http://schemas.openxmlformats.org/drawingml/2006/table">
            <a:tbl>
              <a:tblPr firstRow="1" bandRow="1">
                <a:tableStyleId>{5C22544A-7EE6-4342-B048-85BDC9FD1C3A}</a:tableStyleId>
              </a:tblPr>
              <a:tblGrid>
                <a:gridCol w="2432121"/>
                <a:gridCol w="5748649"/>
                <a:gridCol w="2874324"/>
              </a:tblGrid>
              <a:tr h="617220">
                <a:tc>
                  <a:txBody>
                    <a:bodyPr wrap="square"/>
                    <a:lstStyle/>
                    <a:p>
                      <a:r>
                        <a:rPr sz="1600" b="1">
                          <a:solidFill>
                            <a:srgbClr val="5F6875"/>
                          </a:solidFill>
                          <a:latin typeface="Calibri"/>
                        </a:rPr>
                        <a:t>Control</a:t>
                      </a:r>
                    </a:p>
                  </a:txBody>
                  <a:tcPr marL="91440" marR="91440" marT="45720" marB="45720" anchor="ctr">
                    <a:solidFill>
                      <a:srgbClr val="F1EFE8"/>
                    </a:solidFill>
                  </a:tcPr>
                </a:tc>
                <a:tc>
                  <a:txBody>
                    <a:bodyPr wrap="square"/>
                    <a:lstStyle/>
                    <a:p>
                      <a:r>
                        <a:rPr sz="1600" b="1">
                          <a:solidFill>
                            <a:srgbClr val="5F6875"/>
                          </a:solidFill>
                          <a:latin typeface="Calibri"/>
                        </a:rPr>
                        <a:t>Qué garantiza</a:t>
                      </a:r>
                    </a:p>
                  </a:txBody>
                  <a:tcPr marL="91440" marR="91440" marT="45720" marB="45720" anchor="ctr">
                    <a:solidFill>
                      <a:srgbClr val="F1EFE8"/>
                    </a:solidFill>
                  </a:tcPr>
                </a:tc>
                <a:tc>
                  <a:txBody>
                    <a:bodyPr wrap="square"/>
                    <a:lstStyle/>
                    <a:p>
                      <a:r>
                        <a:rPr sz="1600" b="1">
                          <a:solidFill>
                            <a:srgbClr val="5F6875"/>
                          </a:solidFill>
                          <a:latin typeface="Calibri"/>
                        </a:rPr>
                        <a:t>Dónde se comprueba</a:t>
                      </a:r>
                    </a:p>
                  </a:txBody>
                  <a:tcPr marL="91440" marR="91440" marT="45720" marB="45720" anchor="ctr">
                    <a:solidFill>
                      <a:srgbClr val="F1EFE8"/>
                    </a:solidFill>
                  </a:tcPr>
                </a:tc>
              </a:tr>
              <a:tr h="617220">
                <a:tc>
                  <a:txBody>
                    <a:bodyPr wrap="square"/>
                    <a:lstStyle/>
                    <a:p>
                      <a:r>
                        <a:rPr sz="1600" b="0">
                          <a:solidFill>
                            <a:srgbClr val="1E232B"/>
                          </a:solidFill>
                          <a:latin typeface="Calibri"/>
                        </a:rPr>
                        <a:t>Tests de contrato</a:t>
                      </a:r>
                    </a:p>
                  </a:txBody>
                  <a:tcPr marL="91440" marR="91440" marT="45720" marB="45720" anchor="ctr">
                    <a:solidFill>
                      <a:srgbClr val="FCFBF8"/>
                    </a:solidFill>
                  </a:tcPr>
                </a:tc>
                <a:tc>
                  <a:txBody>
                    <a:bodyPr wrap="square"/>
                    <a:lstStyle/>
                    <a:p>
                      <a:r>
                        <a:rPr sz="1600" b="0">
                          <a:solidFill>
                            <a:srgbClr val="1E232B"/>
                          </a:solidFill>
                          <a:latin typeface="Calibri"/>
                        </a:rPr>
                        <a:t>Que la app no pida nada que sus archivos no tengan. Los tres fallos reales están reproducidos sin navegador: si vuelven, saltan en local y no en la nube.</a:t>
                      </a:r>
                    </a:p>
                  </a:txBody>
                  <a:tcPr marL="91440" marR="91440" marT="45720" marB="45720" anchor="ctr">
                    <a:solidFill>
                      <a:srgbClr val="FCFBF8"/>
                    </a:solidFill>
                  </a:tcPr>
                </a:tc>
                <a:tc>
                  <a:txBody>
                    <a:bodyPr wrap="square"/>
                    <a:lstStyle/>
                    <a:p>
                      <a:r>
                        <a:rPr sz="1600" b="0">
                          <a:solidFill>
                            <a:srgbClr val="1E232B"/>
                          </a:solidFill>
                          <a:latin typeface="Calibri"/>
                        </a:rPr>
                        <a:t>tests/test_contratos.py</a:t>
                      </a:r>
                    </a:p>
                  </a:txBody>
                  <a:tcPr marL="91440" marR="91440" marT="45720" marB="45720" anchor="ctr">
                    <a:solidFill>
                      <a:srgbClr val="FCFBF8"/>
                    </a:solidFill>
                  </a:tcPr>
                </a:tc>
              </a:tr>
              <a:tr h="617220">
                <a:tc>
                  <a:txBody>
                    <a:bodyPr wrap="square"/>
                    <a:lstStyle/>
                    <a:p>
                      <a:r>
                        <a:rPr sz="1600" b="0">
                          <a:solidFill>
                            <a:srgbClr val="1E232B"/>
                          </a:solidFill>
                          <a:latin typeface="Calibri"/>
                        </a:rPr>
                        <a:t>Commits firmados</a:t>
                      </a:r>
                    </a:p>
                  </a:txBody>
                  <a:tcPr marL="91440" marR="91440" marT="45720" marB="45720" anchor="ctr">
                    <a:solidFill>
                      <a:srgbClr val="FCFBF8"/>
                    </a:solidFill>
                  </a:tcPr>
                </a:tc>
                <a:tc>
                  <a:txBody>
                    <a:bodyPr wrap="square"/>
                    <a:lstStyle/>
                    <a:p>
                      <a:r>
                        <a:rPr sz="1600" b="0">
                          <a:solidFill>
                            <a:srgbClr val="1E232B"/>
                          </a:solidFill>
                          <a:latin typeface="Calibri"/>
                        </a:rPr>
                        <a:t>Cada versión publicada lleva la firma SSH del autor: se sabe quién publicó qué.</a:t>
                      </a:r>
                    </a:p>
                  </a:txBody>
                  <a:tcPr marL="91440" marR="91440" marT="45720" marB="45720" anchor="ctr">
                    <a:solidFill>
                      <a:srgbClr val="FCFBF8"/>
                    </a:solidFill>
                  </a:tcPr>
                </a:tc>
                <a:tc>
                  <a:txBody>
                    <a:bodyPr wrap="square"/>
                    <a:lstStyle/>
                    <a:p>
                      <a:r>
                        <a:rPr sz="1600" b="0">
                          <a:solidFill>
                            <a:srgbClr val="1E232B"/>
                          </a:solidFill>
                          <a:latin typeface="Calibri"/>
                        </a:rPr>
                        <a:t>git log --show-signature</a:t>
                      </a:r>
                    </a:p>
                  </a:txBody>
                  <a:tcPr marL="91440" marR="91440" marT="45720" marB="45720" anchor="ctr">
                    <a:solidFill>
                      <a:srgbClr val="FCFBF8"/>
                    </a:solidFill>
                  </a:tcPr>
                </a:tc>
              </a:tr>
              <a:tr h="617220">
                <a:tc>
                  <a:txBody>
                    <a:bodyPr wrap="square"/>
                    <a:lstStyle/>
                    <a:p>
                      <a:r>
                        <a:rPr sz="1600" b="0">
                          <a:solidFill>
                            <a:srgbClr val="1E232B"/>
                          </a:solidFill>
                          <a:latin typeface="Calibri"/>
                        </a:rPr>
                        <a:t>QA sobre la app viva</a:t>
                      </a:r>
                    </a:p>
                  </a:txBody>
                  <a:tcPr marL="91440" marR="91440" marT="45720" marB="45720" anchor="ctr">
                    <a:solidFill>
                      <a:srgbClr val="FCFBF8"/>
                    </a:solidFill>
                  </a:tcPr>
                </a:tc>
                <a:tc>
                  <a:txBody>
                    <a:bodyPr wrap="square"/>
                    <a:lstStyle/>
                    <a:p>
                      <a:r>
                        <a:rPr sz="1600" b="0">
                          <a:solidFill>
                            <a:srgbClr val="1E232B"/>
                          </a:solidFill>
                          <a:latin typeface="Calibri"/>
                        </a:rPr>
                        <a:t>Lo que se afirma de la app desplegada se mide en su DOM con Playwright, no se mira a ojo.</a:t>
                      </a:r>
                    </a:p>
                  </a:txBody>
                  <a:tcPr marL="91440" marR="91440" marT="45720" marB="45720" anchor="ctr">
                    <a:solidFill>
                      <a:srgbClr val="FCFBF8"/>
                    </a:solidFill>
                  </a:tcPr>
                </a:tc>
                <a:tc>
                  <a:txBody>
                    <a:bodyPr wrap="square"/>
                    <a:lstStyle/>
                    <a:p>
                      <a:r>
                        <a:rPr sz="1600" b="0">
                          <a:solidFill>
                            <a:srgbClr val="1E232B"/>
                          </a:solidFill>
                          <a:latin typeface="Calibri"/>
                        </a:rPr>
                        <a:t>docs/POST_ENTREGA.md</a:t>
                      </a:r>
                    </a:p>
                  </a:txBody>
                  <a:tcPr marL="91440" marR="91440" marT="45720" marB="45720" anchor="ctr">
                    <a:solidFill>
                      <a:srgbClr val="FCFBF8"/>
                    </a:solidFill>
                  </a:tcPr>
                </a:tc>
              </a:tr>
            </a:tbl>
          </a:graphicData>
        </a:graphic>
      </p:graphicFrame>
      <p:sp>
        <p:nvSpPr>
          <p:cNvPr id="6" name="Rounded Rectangle 5"/>
          <p:cNvSpPr/>
          <p:nvPr/>
        </p:nvSpPr>
        <p:spPr>
          <a:xfrm>
            <a:off x="566928" y="4919472"/>
            <a:ext cx="11055096" cy="1389888"/>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500"/>
              </a:spcAft>
            </a:pPr>
            <a:r>
              <a:rPr sz="1400" b="0">
                <a:solidFill>
                  <a:srgbClr val="3542B8"/>
                </a:solidFill>
                <a:latin typeface="Consolas"/>
              </a:rPr>
              <a:t>LOS TRES FALLOS DEL 20 DE AGOSTO, HOY CADA UNO UN TEST</a:t>
            </a:r>
          </a:p>
          <a:p>
            <a:pPr>
              <a:lnSpc>
                <a:spcPct val="100000"/>
              </a:lnSpc>
              <a:spcAft>
                <a:spcPts val="200"/>
              </a:spcAft>
            </a:pPr>
            <a:r>
              <a:rPr sz="1800" b="0">
                <a:solidFill>
                  <a:srgbClr val="1E232B"/>
                </a:solidFill>
                <a:latin typeface="Calibri"/>
              </a:rPr>
              <a:t>—  Un tema del selector no estaba en la paleta: elegirlo dejaba la app en blanco, sin vuelta atrás.</a:t>
            </a:r>
          </a:p>
          <a:p>
            <a:pPr>
              <a:lnSpc>
                <a:spcPct val="100000"/>
              </a:lnSpc>
              <a:spcAft>
                <a:spcPts val="200"/>
              </a:spcAft>
            </a:pPr>
            <a:r>
              <a:rPr sz="1800" b="0">
                <a:solidFill>
                  <a:srgbClr val="1E232B"/>
                </a:solidFill>
                <a:latin typeface="Calibri"/>
              </a:rPr>
              <a:t>—  La app pedía un gráfico que el módulo desplegado no tenía: la página se cortaba a medio dibujo.</a:t>
            </a:r>
          </a:p>
          <a:p>
            <a:pPr>
              <a:lnSpc>
                <a:spcPct val="100000"/>
              </a:lnSpc>
              <a:spcAft>
                <a:spcPts val="200"/>
              </a:spcAft>
            </a:pPr>
            <a:r>
              <a:rPr sz="1800" b="0">
                <a:solidFill>
                  <a:srgbClr val="1E232B"/>
                </a:solidFill>
                <a:latin typeface="Calibri"/>
              </a:rPr>
              <a:t>—  Se renombró una clave del artefacto y la app siguió sirviendo la vieja desde su caché.</a:t>
            </a:r>
          </a:p>
        </p:txBody>
      </p:sp>
      <p:sp>
        <p:nvSpPr>
          <p:cNvPr id="7" name="TextBox 6"/>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tests/test_contratos.py · git log --show-signature · docs/POST_ENTREGA.md (estándares de la corrida de entrega)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Elegimos Gradient Boosting: le gana a Random Forest por poco, con las mismas 11 variables</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Mismos datos, mismos cinco pliegues, misma semilla; el modelo se eligió por validación cruzada, nunca por el test.</a:t>
            </a:r>
          </a:p>
        </p:txBody>
      </p:sp>
      <p:graphicFrame>
        <p:nvGraphicFramePr>
          <p:cNvPr id="5" name="Table 4"/>
          <p:cNvGraphicFramePr>
            <a:graphicFrameLocks noGrp="1"/>
          </p:cNvGraphicFramePr>
          <p:nvPr/>
        </p:nvGraphicFramePr>
        <p:xfrm>
          <a:off x="566928" y="2066543"/>
          <a:ext cx="11055095" cy="1463040"/>
        </p:xfrm>
        <a:graphic>
          <a:graphicData uri="http://schemas.openxmlformats.org/drawingml/2006/table">
            <a:tbl>
              <a:tblPr firstRow="1" bandRow="1">
                <a:tableStyleId>{5C22544A-7EE6-4342-B048-85BDC9FD1C3A}</a:tableStyleId>
              </a:tblPr>
              <a:tblGrid>
                <a:gridCol w="3758732"/>
                <a:gridCol w="2321570"/>
                <a:gridCol w="2653223"/>
                <a:gridCol w="2321570"/>
              </a:tblGrid>
              <a:tr h="487680">
                <a:tc>
                  <a:txBody>
                    <a:bodyPr wrap="square"/>
                    <a:lstStyle/>
                    <a:p>
                      <a:r>
                        <a:rPr sz="1600" b="1">
                          <a:solidFill>
                            <a:srgbClr val="5F6875"/>
                          </a:solidFill>
                          <a:latin typeface="Calibri"/>
                        </a:rPr>
                        <a:t/>
                      </a:r>
                    </a:p>
                  </a:txBody>
                  <a:tcPr marL="91440" marR="91440" marT="45720" marB="45720" anchor="ctr">
                    <a:solidFill>
                      <a:srgbClr val="F1EFE8"/>
                    </a:solidFill>
                  </a:tcPr>
                </a:tc>
                <a:tc>
                  <a:txBody>
                    <a:bodyPr wrap="square"/>
                    <a:lstStyle/>
                    <a:p>
                      <a:r>
                        <a:rPr sz="1600" b="1">
                          <a:solidFill>
                            <a:srgbClr val="5F6875"/>
                          </a:solidFill>
                          <a:latin typeface="Calibri"/>
                        </a:rPr>
                        <a:t>Random Forest</a:t>
                      </a:r>
                    </a:p>
                  </a:txBody>
                  <a:tcPr marL="91440" marR="91440" marT="45720" marB="45720" anchor="ctr">
                    <a:solidFill>
                      <a:srgbClr val="F1EFE8"/>
                    </a:solidFill>
                  </a:tcPr>
                </a:tc>
                <a:tc>
                  <a:txBody>
                    <a:bodyPr wrap="square"/>
                    <a:lstStyle/>
                    <a:p>
                      <a:r>
                        <a:rPr sz="1600" b="1">
                          <a:solidFill>
                            <a:srgbClr val="5F6875"/>
                          </a:solidFill>
                          <a:latin typeface="Calibri"/>
                        </a:rPr>
                        <a:t>Gradient Boosting</a:t>
                      </a:r>
                    </a:p>
                  </a:txBody>
                  <a:tcPr marL="91440" marR="91440" marT="45720" marB="45720" anchor="ctr">
                    <a:solidFill>
                      <a:srgbClr val="F1EFE8"/>
                    </a:solidFill>
                  </a:tcPr>
                </a:tc>
                <a:tc>
                  <a:txBody>
                    <a:bodyPr wrap="square"/>
                    <a:lstStyle/>
                    <a:p>
                      <a:r>
                        <a:rPr sz="1600" b="1">
                          <a:solidFill>
                            <a:srgbClr val="5F6875"/>
                          </a:solidFill>
                          <a:latin typeface="Calibri"/>
                        </a:rPr>
                        <a:t>Referencia lineal</a:t>
                      </a:r>
                    </a:p>
                  </a:txBody>
                  <a:tcPr marL="91440" marR="91440" marT="45720" marB="45720" anchor="ctr">
                    <a:solidFill>
                      <a:srgbClr val="F1EFE8"/>
                    </a:solidFill>
                  </a:tcPr>
                </a:tc>
              </a:tr>
              <a:tr h="487680">
                <a:tc>
                  <a:txBody>
                    <a:bodyPr wrap="square"/>
                    <a:lstStyle/>
                    <a:p>
                      <a:r>
                        <a:rPr sz="1800" b="0">
                          <a:solidFill>
                            <a:srgbClr val="1E232B"/>
                          </a:solidFill>
                          <a:latin typeface="Calibri"/>
                        </a:rPr>
                        <a:t>Ingreso mensual — MAE cv, soles</a:t>
                      </a:r>
                    </a:p>
                  </a:txBody>
                  <a:tcPr marL="91440" marR="91440" marT="45720" marB="45720" anchor="ctr">
                    <a:solidFill>
                      <a:srgbClr val="FCFBF8"/>
                    </a:solidFill>
                  </a:tcPr>
                </a:tc>
                <a:tc>
                  <a:txBody>
                    <a:bodyPr wrap="square"/>
                    <a:lstStyle/>
                    <a:p>
                      <a:pPr algn="r"/>
                      <a:r>
                        <a:rPr sz="1800" b="0">
                          <a:solidFill>
                            <a:srgbClr val="1E232B"/>
                          </a:solidFill>
                          <a:latin typeface="Consolas"/>
                        </a:rPr>
                        <a:t>613,0</a:t>
                      </a:r>
                    </a:p>
                  </a:txBody>
                  <a:tcPr marL="91440" marR="91440" marT="45720" marB="45720" anchor="ctr">
                    <a:solidFill>
                      <a:srgbClr val="FCFBF8"/>
                    </a:solidFill>
                  </a:tcPr>
                </a:tc>
                <a:tc>
                  <a:txBody>
                    <a:bodyPr wrap="square"/>
                    <a:lstStyle/>
                    <a:p>
                      <a:pPr algn="r"/>
                      <a:r>
                        <a:rPr sz="1800" b="1">
                          <a:solidFill>
                            <a:srgbClr val="1E232B"/>
                          </a:solidFill>
                          <a:latin typeface="Consolas"/>
                        </a:rPr>
                        <a:t>610,9</a:t>
                      </a:r>
                    </a:p>
                  </a:txBody>
                  <a:tcPr marL="91440" marR="91440" marT="45720" marB="45720" anchor="ctr">
                    <a:solidFill>
                      <a:srgbClr val="E6E8FA"/>
                    </a:solidFill>
                  </a:tcPr>
                </a:tc>
                <a:tc>
                  <a:txBody>
                    <a:bodyPr wrap="square"/>
                    <a:lstStyle/>
                    <a:p>
                      <a:pPr algn="r"/>
                      <a:r>
                        <a:rPr sz="1800" b="0">
                          <a:solidFill>
                            <a:srgbClr val="1E232B"/>
                          </a:solidFill>
                          <a:latin typeface="Consolas"/>
                        </a:rPr>
                        <a:t>686,9  (E7)</a:t>
                      </a:r>
                    </a:p>
                  </a:txBody>
                  <a:tcPr marL="91440" marR="91440" marT="45720" marB="45720" anchor="ctr">
                    <a:solidFill>
                      <a:srgbClr val="FCFBF8"/>
                    </a:solidFill>
                  </a:tcPr>
                </a:tc>
              </a:tr>
              <a:tr h="487680">
                <a:tc>
                  <a:txBody>
                    <a:bodyPr wrap="square"/>
                    <a:lstStyle/>
                    <a:p>
                      <a:r>
                        <a:rPr sz="1800" b="0">
                          <a:solidFill>
                            <a:srgbClr val="1E232B"/>
                          </a:solidFill>
                          <a:latin typeface="Calibri"/>
                        </a:rPr>
                        <a:t>Empleo informal — PR-AUC cv</a:t>
                      </a:r>
                    </a:p>
                  </a:txBody>
                  <a:tcPr marL="91440" marR="91440" marT="45720" marB="45720" anchor="ctr">
                    <a:solidFill>
                      <a:srgbClr val="FCFBF8"/>
                    </a:solidFill>
                  </a:tcPr>
                </a:tc>
                <a:tc>
                  <a:txBody>
                    <a:bodyPr wrap="square"/>
                    <a:lstStyle/>
                    <a:p>
                      <a:pPr algn="r"/>
                      <a:r>
                        <a:rPr sz="1800" b="0">
                          <a:solidFill>
                            <a:srgbClr val="1E232B"/>
                          </a:solidFill>
                          <a:latin typeface="Consolas"/>
                        </a:rPr>
                        <a:t>0,9619</a:t>
                      </a:r>
                    </a:p>
                  </a:txBody>
                  <a:tcPr marL="91440" marR="91440" marT="45720" marB="45720" anchor="ctr">
                    <a:solidFill>
                      <a:srgbClr val="FCFBF8"/>
                    </a:solidFill>
                  </a:tcPr>
                </a:tc>
                <a:tc>
                  <a:txBody>
                    <a:bodyPr wrap="square"/>
                    <a:lstStyle/>
                    <a:p>
                      <a:pPr algn="r"/>
                      <a:r>
                        <a:rPr sz="1800" b="1">
                          <a:solidFill>
                            <a:srgbClr val="1E232B"/>
                          </a:solidFill>
                          <a:latin typeface="Consolas"/>
                        </a:rPr>
                        <a:t>0,9626</a:t>
                      </a:r>
                    </a:p>
                  </a:txBody>
                  <a:tcPr marL="91440" marR="91440" marT="45720" marB="45720" anchor="ctr">
                    <a:solidFill>
                      <a:srgbClr val="E6E8FA"/>
                    </a:solidFill>
                  </a:tcPr>
                </a:tc>
                <a:tc>
                  <a:txBody>
                    <a:bodyPr wrap="square"/>
                    <a:lstStyle/>
                    <a:p>
                      <a:pPr algn="r"/>
                      <a:r>
                        <a:rPr sz="1800" b="0">
                          <a:solidFill>
                            <a:srgbClr val="1E232B"/>
                          </a:solidFill>
                          <a:latin typeface="Consolas"/>
                        </a:rPr>
                        <a:t>0,9553  (logística)</a:t>
                      </a:r>
                    </a:p>
                  </a:txBody>
                  <a:tcPr marL="91440" marR="91440" marT="45720" marB="45720" anchor="ctr">
                    <a:solidFill>
                      <a:srgbClr val="FCFBF8"/>
                    </a:solidFill>
                  </a:tcPr>
                </a:tc>
              </a:tr>
            </a:tbl>
          </a:graphicData>
        </a:graphic>
      </p:graphicFrame>
      <p:graphicFrame>
        <p:nvGraphicFramePr>
          <p:cNvPr id="6" name="Table 5"/>
          <p:cNvGraphicFramePr>
            <a:graphicFrameLocks noGrp="1"/>
          </p:cNvGraphicFramePr>
          <p:nvPr/>
        </p:nvGraphicFramePr>
        <p:xfrm>
          <a:off x="566928" y="3913631"/>
          <a:ext cx="11055095" cy="1371600"/>
        </p:xfrm>
        <a:graphic>
          <a:graphicData uri="http://schemas.openxmlformats.org/drawingml/2006/table">
            <a:tbl>
              <a:tblPr firstRow="1" bandRow="1">
                <a:tableStyleId>{5C22544A-7EE6-4342-B048-85BDC9FD1C3A}</a:tableStyleId>
              </a:tblPr>
              <a:tblGrid>
                <a:gridCol w="2653223"/>
                <a:gridCol w="8401872"/>
              </a:tblGrid>
              <a:tr h="457200">
                <a:tc>
                  <a:txBody>
                    <a:bodyPr wrap="square"/>
                    <a:lstStyle/>
                    <a:p>
                      <a:r>
                        <a:rPr sz="1600" b="1">
                          <a:solidFill>
                            <a:srgbClr val="5F6875"/>
                          </a:solidFill>
                          <a:latin typeface="Calibri"/>
                        </a:rPr>
                        <a:t>Variables de entrada</a:t>
                      </a:r>
                    </a:p>
                  </a:txBody>
                  <a:tcPr marL="91440" marR="91440" marT="45720" marB="45720" anchor="ctr">
                    <a:solidFill>
                      <a:srgbClr val="F1EFE8"/>
                    </a:solidFill>
                  </a:tcPr>
                </a:tc>
                <a:tc>
                  <a:txBody>
                    <a:bodyPr wrap="square"/>
                    <a:lstStyle/>
                    <a:p>
                      <a:r>
                        <a:rPr sz="1600" b="1">
                          <a:solidFill>
                            <a:srgbClr val="5F6875"/>
                          </a:solidFill>
                          <a:latin typeface="Calibri"/>
                        </a:rPr>
                        <a:t>las mismas 11 variables en los dos modelos</a:t>
                      </a:r>
                    </a:p>
                  </a:txBody>
                  <a:tcPr marL="91440" marR="91440" marT="45720" marB="45720" anchor="ctr">
                    <a:solidFill>
                      <a:srgbClr val="F1EFE8"/>
                    </a:solidFill>
                  </a:tcPr>
                </a:tc>
              </a:tr>
              <a:tr h="457200">
                <a:tc>
                  <a:txBody>
                    <a:bodyPr wrap="square"/>
                    <a:lstStyle/>
                    <a:p>
                      <a:r>
                        <a:rPr sz="1600" b="0">
                          <a:solidFill>
                            <a:srgbClr val="1E232B"/>
                          </a:solidFill>
                          <a:latin typeface="Calibri"/>
                        </a:rPr>
                        <a:t>Numéricas (5)</a:t>
                      </a:r>
                    </a:p>
                  </a:txBody>
                  <a:tcPr marL="91440" marR="91440" marT="45720" marB="45720" anchor="ctr">
                    <a:solidFill>
                      <a:srgbClr val="FCFBF8"/>
                    </a:solidFill>
                  </a:tcPr>
                </a:tc>
                <a:tc>
                  <a:txBody>
                    <a:bodyPr wrap="square"/>
                    <a:lstStyle/>
                    <a:p>
                      <a:r>
                        <a:rPr sz="1600" b="0">
                          <a:solidFill>
                            <a:srgbClr val="1E232B"/>
                          </a:solidFill>
                          <a:latin typeface="Calibri"/>
                        </a:rPr>
                        <a:t>años de educación · edad · experiencia · experiencia² · horas semanales</a:t>
                      </a:r>
                    </a:p>
                  </a:txBody>
                  <a:tcPr marL="91440" marR="91440" marT="45720" marB="45720" anchor="ctr">
                    <a:solidFill>
                      <a:srgbClr val="FCFBF8"/>
                    </a:solidFill>
                  </a:tcPr>
                </a:tc>
              </a:tr>
              <a:tr h="457200">
                <a:tc>
                  <a:txBody>
                    <a:bodyPr wrap="square"/>
                    <a:lstStyle/>
                    <a:p>
                      <a:r>
                        <a:rPr sz="1600" b="0">
                          <a:solidFill>
                            <a:srgbClr val="1E232B"/>
                          </a:solidFill>
                          <a:latin typeface="Calibri"/>
                        </a:rPr>
                        <a:t>Categóricas (6)</a:t>
                      </a:r>
                    </a:p>
                  </a:txBody>
                  <a:tcPr marL="91440" marR="91440" marT="45720" marB="45720" anchor="ctr">
                    <a:solidFill>
                      <a:srgbClr val="FCFBF8"/>
                    </a:solidFill>
                  </a:tcPr>
                </a:tc>
                <a:tc>
                  <a:txBody>
                    <a:bodyPr wrap="square"/>
                    <a:lstStyle/>
                    <a:p>
                      <a:r>
                        <a:rPr sz="1600" b="0">
                          <a:solidFill>
                            <a:srgbClr val="1E232B"/>
                          </a:solidFill>
                          <a:latin typeface="Calibri"/>
                        </a:rPr>
                        <a:t>sexo · área · dominio geográfico · rama de actividad · tamaño de empresa · categoría ocupacional — 35 niveles one-hot dentro del pipeline</a:t>
                      </a:r>
                    </a:p>
                  </a:txBody>
                  <a:tcPr marL="91440" marR="91440" marT="45720" marB="45720" anchor="ctr">
                    <a:solidFill>
                      <a:srgbClr val="FCFBF8"/>
                    </a:solidFill>
                  </a:tcPr>
                </a:tc>
              </a:tr>
            </a:tbl>
          </a:graphicData>
        </a:graphic>
      </p:graphicFrame>
      <p:sp>
        <p:nvSpPr>
          <p:cNvPr id="7" name="Rounded Rectangle 6"/>
          <p:cNvSpPr/>
          <p:nvPr/>
        </p:nvSpPr>
        <p:spPr>
          <a:xfrm>
            <a:off x="566928" y="5596127"/>
            <a:ext cx="11055096" cy="822960"/>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lnSpc>
                <a:spcPct val="106000"/>
              </a:lnSpc>
              <a:spcAft>
                <a:spcPts val="0"/>
              </a:spcAft>
            </a:pPr>
            <a:r>
              <a:rPr sz="1800" b="0">
                <a:solidFill>
                  <a:srgbClr val="1E232B"/>
                </a:solidFill>
                <a:latin typeface="Calibri"/>
              </a:rPr>
              <a:t>El clasificador no se corta en 0,5: el umbral operativo 0,6054 se fijó para que la precisión llegue a 0,90 — esa es una decisión de costos, no del modelo.</a:t>
            </a:r>
          </a:p>
        </p:txBody>
      </p:sp>
      <p:sp>
        <p:nvSpPr>
          <p:cNvPr id="8" name="TextBox 7"/>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models/ui_artifacts.json (torneo.tabla, clasificador.comparacion) · models/feature_schema.json · src/04, src/06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La categoría ocupacional y la educación son las variables que más cargan el regresor</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Con el modelo ya entrenado, desordenamos una columna a la vez y medimos cuánto empeora el error promedio. Mide cuánto la usa el modelo, no qué la causa.</a:t>
            </a:r>
          </a:p>
        </p:txBody>
      </p:sp>
      <p:pic>
        <p:nvPicPr>
          <p:cNvPr id="5" name="Picture 4" descr="fig_importancia.png"/>
          <p:cNvPicPr>
            <a:picLocks noChangeAspect="1"/>
          </p:cNvPicPr>
          <p:nvPr/>
        </p:nvPicPr>
        <p:blipFill>
          <a:blip r:embed="rId2"/>
          <a:stretch>
            <a:fillRect/>
          </a:stretch>
        </p:blipFill>
        <p:spPr>
          <a:xfrm>
            <a:off x="566928" y="2240966"/>
            <a:ext cx="7315200" cy="3811674"/>
          </a:xfrm>
          <a:prstGeom prst="rect">
            <a:avLst/>
          </a:prstGeom>
        </p:spPr>
      </p:pic>
      <p:sp>
        <p:nvSpPr>
          <p:cNvPr id="6" name="Rounded Rectangle 5"/>
          <p:cNvSpPr/>
          <p:nvPr/>
        </p:nvSpPr>
        <p:spPr>
          <a:xfrm>
            <a:off x="8101583" y="2203703"/>
            <a:ext cx="3520440" cy="1737360"/>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CATEGORÍA OCUPACIONAL</a:t>
            </a:r>
          </a:p>
          <a:p>
            <a:pPr>
              <a:lnSpc>
                <a:spcPct val="95000"/>
              </a:lnSpc>
              <a:spcAft>
                <a:spcPts val="600"/>
              </a:spcAft>
            </a:pPr>
            <a:r>
              <a:rPr sz="3400" b="1">
                <a:solidFill>
                  <a:srgbClr val="4353CC"/>
                </a:solidFill>
                <a:latin typeface="Consolas"/>
              </a:rPr>
              <a:t>S/ 139</a:t>
            </a:r>
          </a:p>
          <a:p>
            <a:pPr>
              <a:lnSpc>
                <a:spcPct val="105000"/>
              </a:lnSpc>
              <a:spcAft>
                <a:spcPts val="0"/>
              </a:spcAft>
            </a:pPr>
            <a:r>
              <a:rPr sz="1800" b="0">
                <a:solidFill>
                  <a:srgbClr val="49525F"/>
                </a:solidFill>
                <a:latin typeface="Calibri"/>
              </a:rPr>
              <a:t>Lo que sube el error al mes si el modelo se queda sin ella.</a:t>
            </a:r>
          </a:p>
        </p:txBody>
      </p:sp>
      <p:sp>
        <p:nvSpPr>
          <p:cNvPr id="7" name="Rounded Rectangle 6"/>
          <p:cNvSpPr/>
          <p:nvPr/>
        </p:nvSpPr>
        <p:spPr>
          <a:xfrm>
            <a:off x="8101583" y="4078224"/>
            <a:ext cx="3520440" cy="1737360"/>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AÑOS DE EDUCACIÓN</a:t>
            </a:r>
          </a:p>
          <a:p>
            <a:pPr>
              <a:lnSpc>
                <a:spcPct val="95000"/>
              </a:lnSpc>
              <a:spcAft>
                <a:spcPts val="600"/>
              </a:spcAft>
            </a:pPr>
            <a:r>
              <a:rPr sz="3400" b="1">
                <a:solidFill>
                  <a:srgbClr val="4353CC"/>
                </a:solidFill>
                <a:latin typeface="Consolas"/>
              </a:rPr>
              <a:t>S/ 128</a:t>
            </a:r>
          </a:p>
          <a:p>
            <a:pPr>
              <a:lnSpc>
                <a:spcPct val="105000"/>
              </a:lnSpc>
              <a:spcAft>
                <a:spcPts val="0"/>
              </a:spcAft>
            </a:pPr>
            <a:r>
              <a:rPr sz="1800" b="0">
                <a:solidFill>
                  <a:srgbClr val="49525F"/>
                </a:solidFill>
                <a:latin typeface="Calibri"/>
              </a:rPr>
              <a:t>La segunda que más usa el modelo, con el mismo cálculo.</a:t>
            </a:r>
          </a:p>
        </p:txBody>
      </p:sp>
      <p:sp>
        <p:nvSpPr>
          <p:cNvPr id="8" name="TextBox 7"/>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models/ui_artifacts.json (regresor.importancia_permutacion): 5 repeticiones sobre 9.000 filas de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El modelo local y el desplegado dan el mismo número, dígito a dígito</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El mismo perfil se corrió en la consola de VS Code y en la app pública: tres números, cero diferencias.</a:t>
            </a:r>
          </a:p>
        </p:txBody>
      </p:sp>
      <p:sp>
        <p:nvSpPr>
          <p:cNvPr id="5" name="TextBox 4"/>
          <p:cNvSpPr txBox="1"/>
          <p:nvPr/>
        </p:nvSpPr>
        <p:spPr>
          <a:xfrm>
            <a:off x="566928" y="2084831"/>
            <a:ext cx="4846320" cy="237744"/>
          </a:xfrm>
          <a:prstGeom prst="rect">
            <a:avLst/>
          </a:prstGeom>
          <a:noFill/>
        </p:spPr>
        <p:txBody>
          <a:bodyPr wrap="square" lIns="0" rIns="0" tIns="0" bIns="0">
            <a:spAutoFit/>
          </a:bodyPr>
          <a:lstStyle/>
          <a:p>
            <a:pPr algn="ctr">
              <a:spcAft>
                <a:spcPts val="0"/>
              </a:spcAft>
            </a:pPr>
            <a:r>
              <a:rPr sz="1400" b="0">
                <a:solidFill>
                  <a:srgbClr val="5F6875"/>
                </a:solidFill>
                <a:latin typeface="Consolas"/>
              </a:rPr>
              <a:t>VS CODE · CONSOLA LOCAL</a:t>
            </a:r>
          </a:p>
        </p:txBody>
      </p:sp>
      <p:sp>
        <p:nvSpPr>
          <p:cNvPr id="6" name="TextBox 5"/>
          <p:cNvSpPr txBox="1"/>
          <p:nvPr/>
        </p:nvSpPr>
        <p:spPr>
          <a:xfrm>
            <a:off x="6053328" y="2084831"/>
            <a:ext cx="5568696" cy="237744"/>
          </a:xfrm>
          <a:prstGeom prst="rect">
            <a:avLst/>
          </a:prstGeom>
          <a:noFill/>
        </p:spPr>
        <p:txBody>
          <a:bodyPr wrap="square" lIns="0" rIns="0" tIns="0" bIns="0">
            <a:spAutoFit/>
          </a:bodyPr>
          <a:lstStyle/>
          <a:p>
            <a:pPr algn="ctr">
              <a:spcAft>
                <a:spcPts val="0"/>
              </a:spcAft>
            </a:pPr>
            <a:r>
              <a:rPr sz="1400" b="0">
                <a:solidFill>
                  <a:srgbClr val="5F6875"/>
                </a:solidFill>
                <a:latin typeface="Consolas"/>
              </a:rPr>
              <a:t>STREAMLIT COMMUNITY CLOUD · APP PÚBLICA</a:t>
            </a:r>
          </a:p>
        </p:txBody>
      </p:sp>
      <p:pic>
        <p:nvPicPr>
          <p:cNvPr id="7" name="Picture 6" descr="fig_consola_regresor.png"/>
          <p:cNvPicPr>
            <a:picLocks noChangeAspect="1"/>
          </p:cNvPicPr>
          <p:nvPr/>
        </p:nvPicPr>
        <p:blipFill>
          <a:blip r:embed="rId2"/>
          <a:stretch>
            <a:fillRect/>
          </a:stretch>
        </p:blipFill>
        <p:spPr>
          <a:xfrm>
            <a:off x="566928" y="2407663"/>
            <a:ext cx="4846320" cy="1238000"/>
          </a:xfrm>
          <a:prstGeom prst="rect">
            <a:avLst/>
          </a:prstGeom>
        </p:spPr>
      </p:pic>
      <p:sp>
        <p:nvSpPr>
          <p:cNvPr id="8" name="TextBox 7"/>
          <p:cNvSpPr txBox="1"/>
          <p:nvPr/>
        </p:nvSpPr>
        <p:spPr>
          <a:xfrm>
            <a:off x="5468112" y="2798063"/>
            <a:ext cx="548640" cy="457200"/>
          </a:xfrm>
          <a:prstGeom prst="rect">
            <a:avLst/>
          </a:prstGeom>
          <a:noFill/>
        </p:spPr>
        <p:txBody>
          <a:bodyPr wrap="square" lIns="0" rIns="0" tIns="0" bIns="0">
            <a:spAutoFit/>
          </a:bodyPr>
          <a:lstStyle/>
          <a:p>
            <a:pPr algn="ctr">
              <a:spcAft>
                <a:spcPts val="0"/>
              </a:spcAft>
            </a:pPr>
            <a:r>
              <a:rPr sz="4000" b="1">
                <a:solidFill>
                  <a:srgbClr val="177A4C"/>
                </a:solidFill>
                <a:latin typeface="Calibri"/>
              </a:rPr>
              <a:t>=</a:t>
            </a:r>
          </a:p>
        </p:txBody>
      </p:sp>
      <p:pic>
        <p:nvPicPr>
          <p:cNvPr id="9" name="Picture 8" descr="cloud_reg_zona_pulida.png"/>
          <p:cNvPicPr>
            <a:picLocks noChangeAspect="1"/>
          </p:cNvPicPr>
          <p:nvPr/>
        </p:nvPicPr>
        <p:blipFill>
          <a:blip r:embed="rId3"/>
          <a:stretch>
            <a:fillRect/>
          </a:stretch>
        </p:blipFill>
        <p:spPr>
          <a:xfrm>
            <a:off x="7287191" y="2377439"/>
            <a:ext cx="3100968" cy="1298448"/>
          </a:xfrm>
          <a:prstGeom prst="rect">
            <a:avLst/>
          </a:prstGeom>
        </p:spPr>
      </p:pic>
      <p:pic>
        <p:nvPicPr>
          <p:cNvPr id="10" name="Picture 9" descr="fig_consola_clasificador.png"/>
          <p:cNvPicPr>
            <a:picLocks noChangeAspect="1"/>
          </p:cNvPicPr>
          <p:nvPr/>
        </p:nvPicPr>
        <p:blipFill>
          <a:blip r:embed="rId4"/>
          <a:stretch>
            <a:fillRect/>
          </a:stretch>
        </p:blipFill>
        <p:spPr>
          <a:xfrm>
            <a:off x="1118299" y="3767328"/>
            <a:ext cx="3743577" cy="1298448"/>
          </a:xfrm>
          <a:prstGeom prst="rect">
            <a:avLst/>
          </a:prstGeom>
        </p:spPr>
      </p:pic>
      <p:sp>
        <p:nvSpPr>
          <p:cNvPr id="11" name="TextBox 10"/>
          <p:cNvSpPr txBox="1"/>
          <p:nvPr/>
        </p:nvSpPr>
        <p:spPr>
          <a:xfrm>
            <a:off x="5468112" y="4187952"/>
            <a:ext cx="548640" cy="457200"/>
          </a:xfrm>
          <a:prstGeom prst="rect">
            <a:avLst/>
          </a:prstGeom>
          <a:noFill/>
        </p:spPr>
        <p:txBody>
          <a:bodyPr wrap="square" lIns="0" rIns="0" tIns="0" bIns="0">
            <a:spAutoFit/>
          </a:bodyPr>
          <a:lstStyle/>
          <a:p>
            <a:pPr algn="ctr">
              <a:spcAft>
                <a:spcPts val="0"/>
              </a:spcAft>
            </a:pPr>
            <a:r>
              <a:rPr sz="4000" b="1">
                <a:solidFill>
                  <a:srgbClr val="177A4C"/>
                </a:solidFill>
                <a:latin typeface="Calibri"/>
              </a:rPr>
              <a:t>=</a:t>
            </a:r>
          </a:p>
        </p:txBody>
      </p:sp>
      <p:pic>
        <p:nvPicPr>
          <p:cNvPr id="12" name="Picture 11" descr="cloud_clf_zona_pulida.png"/>
          <p:cNvPicPr>
            <a:picLocks noChangeAspect="1"/>
          </p:cNvPicPr>
          <p:nvPr/>
        </p:nvPicPr>
        <p:blipFill>
          <a:blip r:embed="rId5"/>
          <a:stretch>
            <a:fillRect/>
          </a:stretch>
        </p:blipFill>
        <p:spPr>
          <a:xfrm>
            <a:off x="6119471" y="3767328"/>
            <a:ext cx="5436408" cy="1298448"/>
          </a:xfrm>
          <a:prstGeom prst="rect">
            <a:avLst/>
          </a:prstGeom>
        </p:spPr>
      </p:pic>
      <p:sp>
        <p:nvSpPr>
          <p:cNvPr id="13" name="Rounded Rectangle 12"/>
          <p:cNvSpPr/>
          <p:nvPr/>
        </p:nvSpPr>
        <p:spPr>
          <a:xfrm>
            <a:off x="566928" y="5266944"/>
            <a:ext cx="3471672" cy="1115568"/>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INGRESO TÍPICO (MEDIANA)</a:t>
            </a:r>
          </a:p>
          <a:p>
            <a:pPr>
              <a:lnSpc>
                <a:spcPct val="95000"/>
              </a:lnSpc>
              <a:spcAft>
                <a:spcPts val="600"/>
              </a:spcAft>
            </a:pPr>
            <a:r>
              <a:rPr sz="2200" b="1">
                <a:solidFill>
                  <a:srgbClr val="4353CC"/>
                </a:solidFill>
                <a:latin typeface="Consolas"/>
              </a:rPr>
              <a:t>S/ 849</a:t>
            </a:r>
          </a:p>
          <a:p>
            <a:pPr>
              <a:lnSpc>
                <a:spcPct val="105000"/>
              </a:lnSpc>
              <a:spcAft>
                <a:spcPts val="0"/>
              </a:spcAft>
            </a:pPr>
            <a:r>
              <a:rPr sz="1800" b="0">
                <a:solidFill>
                  <a:srgbClr val="49525F"/>
                </a:solidFill>
                <a:latin typeface="Calibri"/>
              </a:rPr>
              <a:t>Idéntico en los dos lados.</a:t>
            </a:r>
          </a:p>
        </p:txBody>
      </p:sp>
      <p:sp>
        <p:nvSpPr>
          <p:cNvPr id="14" name="Rounded Rectangle 13"/>
          <p:cNvSpPr/>
          <p:nvPr/>
        </p:nvSpPr>
        <p:spPr>
          <a:xfrm>
            <a:off x="4358640" y="5266944"/>
            <a:ext cx="3471672" cy="1115568"/>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INGRESO ESPERADO (MEDIA)</a:t>
            </a:r>
          </a:p>
          <a:p>
            <a:pPr>
              <a:lnSpc>
                <a:spcPct val="95000"/>
              </a:lnSpc>
              <a:spcAft>
                <a:spcPts val="600"/>
              </a:spcAft>
            </a:pPr>
            <a:r>
              <a:rPr sz="2200" b="1">
                <a:solidFill>
                  <a:srgbClr val="4353CC"/>
                </a:solidFill>
                <a:latin typeface="Consolas"/>
              </a:rPr>
              <a:t>S/ 1.189</a:t>
            </a:r>
          </a:p>
          <a:p>
            <a:pPr>
              <a:lnSpc>
                <a:spcPct val="105000"/>
              </a:lnSpc>
              <a:spcAft>
                <a:spcPts val="0"/>
              </a:spcAft>
            </a:pPr>
            <a:r>
              <a:rPr sz="1800" b="0">
                <a:solidFill>
                  <a:srgbClr val="49525F"/>
                </a:solidFill>
                <a:latin typeface="Calibri"/>
              </a:rPr>
              <a:t>La mediana × Duan 1,4009.</a:t>
            </a:r>
          </a:p>
        </p:txBody>
      </p:sp>
      <p:sp>
        <p:nvSpPr>
          <p:cNvPr id="15" name="Rounded Rectangle 14"/>
          <p:cNvSpPr/>
          <p:nvPr/>
        </p:nvSpPr>
        <p:spPr>
          <a:xfrm>
            <a:off x="8150351" y="5266944"/>
            <a:ext cx="3471672" cy="1115568"/>
          </a:xfrm>
          <a:prstGeom prst="roundRect">
            <a:avLst>
              <a:gd name="adj" fmla="val 5000"/>
            </a:avLst>
          </a:prstGeom>
          <a:solidFill>
            <a:srgbClr val="FCFBF8"/>
          </a:solidFill>
          <a:ln w="15875">
            <a:solidFill>
              <a:srgbClr val="D5D1C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5F6875"/>
                </a:solidFill>
                <a:latin typeface="Consolas"/>
              </a:rPr>
              <a:t>PROB. DE INFORMALIDAD</a:t>
            </a:r>
          </a:p>
          <a:p>
            <a:pPr>
              <a:lnSpc>
                <a:spcPct val="95000"/>
              </a:lnSpc>
              <a:spcAft>
                <a:spcPts val="600"/>
              </a:spcAft>
            </a:pPr>
            <a:r>
              <a:rPr sz="2200" b="1">
                <a:solidFill>
                  <a:srgbClr val="8A5D0B"/>
                </a:solidFill>
                <a:latin typeface="Consolas"/>
              </a:rPr>
              <a:t>97,5 %</a:t>
            </a:r>
          </a:p>
          <a:p>
            <a:pPr>
              <a:lnSpc>
                <a:spcPct val="105000"/>
              </a:lnSpc>
              <a:spcAft>
                <a:spcPts val="0"/>
              </a:spcAft>
            </a:pPr>
            <a:r>
              <a:rPr sz="1800" b="0">
                <a:solidFill>
                  <a:srgbClr val="49525F"/>
                </a:solidFill>
                <a:latin typeface="Calibri"/>
              </a:rPr>
              <a:t>Umbral 0,6054: señalado.</a:t>
            </a:r>
          </a:p>
        </p:txBody>
      </p:sp>
      <p:sp>
        <p:nvSpPr>
          <p:cNvPr id="16" name="TextBox 15"/>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docs/presentacion/verificacion_local.py · salida_consola_verificacion.txt · capturas de la app desplegada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Revisamos nuestro propio trabajo: cuatro errores encontrados, cuatro publicados</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Cada cifra contra el archivo que la genera, cada cita contra su fuente; cada hallazgo, con su origen.</a:t>
            </a:r>
          </a:p>
        </p:txBody>
      </p:sp>
      <p:graphicFrame>
        <p:nvGraphicFramePr>
          <p:cNvPr id="5" name="Table 4"/>
          <p:cNvGraphicFramePr>
            <a:graphicFrameLocks noGrp="1"/>
          </p:cNvGraphicFramePr>
          <p:nvPr/>
        </p:nvGraphicFramePr>
        <p:xfrm>
          <a:off x="566928" y="2066543"/>
          <a:ext cx="11055095" cy="2423160"/>
        </p:xfrm>
        <a:graphic>
          <a:graphicData uri="http://schemas.openxmlformats.org/drawingml/2006/table">
            <a:tbl>
              <a:tblPr firstRow="1" bandRow="1">
                <a:tableStyleId>{5C22544A-7EE6-4342-B048-85BDC9FD1C3A}</a:tableStyleId>
              </a:tblPr>
              <a:tblGrid>
                <a:gridCol w="3316528"/>
                <a:gridCol w="2542672"/>
                <a:gridCol w="5195895"/>
              </a:tblGrid>
              <a:tr h="484632">
                <a:tc>
                  <a:txBody>
                    <a:bodyPr wrap="square"/>
                    <a:lstStyle/>
                    <a:p>
                      <a:r>
                        <a:rPr sz="1600" b="1">
                          <a:solidFill>
                            <a:srgbClr val="5F6875"/>
                          </a:solidFill>
                          <a:latin typeface="Calibri"/>
                        </a:rPr>
                        <a:t>Hallazgo</a:t>
                      </a:r>
                    </a:p>
                  </a:txBody>
                  <a:tcPr marL="91440" marR="91440" marT="45720" marB="45720" anchor="ctr">
                    <a:solidFill>
                      <a:srgbClr val="F1EFE8"/>
                    </a:solidFill>
                  </a:tcPr>
                </a:tc>
                <a:tc>
                  <a:txBody>
                    <a:bodyPr wrap="square"/>
                    <a:lstStyle/>
                    <a:p>
                      <a:r>
                        <a:rPr sz="1600" b="1">
                          <a:solidFill>
                            <a:srgbClr val="5F6875"/>
                          </a:solidFill>
                          <a:latin typeface="Calibri"/>
                        </a:rPr>
                        <a:t>Dónde nació</a:t>
                      </a:r>
                    </a:p>
                  </a:txBody>
                  <a:tcPr marL="91440" marR="91440" marT="45720" marB="45720" anchor="ctr">
                    <a:solidFill>
                      <a:srgbClr val="F1EFE8"/>
                    </a:solidFill>
                  </a:tcPr>
                </a:tc>
                <a:tc>
                  <a:txBody>
                    <a:bodyPr wrap="square"/>
                    <a:lstStyle/>
                    <a:p>
                      <a:r>
                        <a:rPr sz="1600" b="1">
                          <a:solidFill>
                            <a:srgbClr val="5F6875"/>
                          </a:solidFill>
                          <a:latin typeface="Calibri"/>
                        </a:rPr>
                        <a:t>Qué pasó</a:t>
                      </a:r>
                    </a:p>
                  </a:txBody>
                  <a:tcPr marL="91440" marR="91440" marT="45720" marB="45720" anchor="ctr">
                    <a:solidFill>
                      <a:srgbClr val="F1EFE8"/>
                    </a:solidFill>
                  </a:tcPr>
                </a:tc>
              </a:tr>
              <a:tr h="484632">
                <a:tc>
                  <a:txBody>
                    <a:bodyPr wrap="square"/>
                    <a:lstStyle/>
                    <a:p>
                      <a:r>
                        <a:rPr sz="1600" b="0">
                          <a:solidFill>
                            <a:srgbClr val="1E232B"/>
                          </a:solidFill>
                          <a:latin typeface="Calibri"/>
                        </a:rPr>
                        <a:t>El código de faltante, leído como un sueldo</a:t>
                      </a:r>
                    </a:p>
                  </a:txBody>
                  <a:tcPr marL="91440" marR="91440" marT="45720" marB="45720" anchor="ctr">
                    <a:solidFill>
                      <a:srgbClr val="FCFBF8"/>
                    </a:solidFill>
                  </a:tcPr>
                </a:tc>
                <a:tc>
                  <a:txBody>
                    <a:bodyPr wrap="square"/>
                    <a:lstStyle/>
                    <a:p>
                      <a:r>
                        <a:rPr sz="1600" b="0">
                          <a:solidFill>
                            <a:srgbClr val="1E232B"/>
                          </a:solidFill>
                          <a:latin typeface="Calibri"/>
                        </a:rPr>
                        <a:t>DATOS DE ORIGEN</a:t>
                      </a:r>
                    </a:p>
                  </a:txBody>
                  <a:tcPr marL="91440" marR="91440" marT="45720" marB="45720" anchor="ctr">
                    <a:solidFill>
                      <a:srgbClr val="FCFBF8"/>
                    </a:solidFill>
                  </a:tcPr>
                </a:tc>
                <a:tc>
                  <a:txBody>
                    <a:bodyPr wrap="square"/>
                    <a:lstStyle/>
                    <a:p>
                      <a:r>
                        <a:rPr sz="1600" b="0">
                          <a:solidFill>
                            <a:srgbClr val="1E232B"/>
                          </a:solidFill>
                          <a:latin typeface="Calibri"/>
                        </a:rPr>
                        <a:t>999999 es «no sabe», pero entraba como S/ 999.999: tratarlo como faltante subió el R² de 0,023 a 0,248</a:t>
                      </a:r>
                    </a:p>
                  </a:txBody>
                  <a:tcPr marL="91440" marR="91440" marT="45720" marB="45720" anchor="ctr">
                    <a:solidFill>
                      <a:srgbClr val="FCFBF8"/>
                    </a:solidFill>
                  </a:tcPr>
                </a:tc>
              </a:tr>
              <a:tr h="484632">
                <a:tc>
                  <a:txBody>
                    <a:bodyPr wrap="square"/>
                    <a:lstStyle/>
                    <a:p>
                      <a:r>
                        <a:rPr sz="1600" b="0">
                          <a:solidFill>
                            <a:srgbClr val="1E232B"/>
                          </a:solidFill>
                          <a:latin typeface="Calibri"/>
                        </a:rPr>
                        <a:t>La rejilla de hiperparámetros estaba acotada</a:t>
                      </a:r>
                    </a:p>
                  </a:txBody>
                  <a:tcPr marL="91440" marR="91440" marT="45720" marB="45720" anchor="ctr">
                    <a:solidFill>
                      <a:srgbClr val="FCFBF8"/>
                    </a:solidFill>
                  </a:tcPr>
                </a:tc>
                <a:tc>
                  <a:txBody>
                    <a:bodyPr wrap="square"/>
                    <a:lstStyle/>
                    <a:p>
                      <a:r>
                        <a:rPr sz="1600" b="0">
                          <a:solidFill>
                            <a:srgbClr val="1E232B"/>
                          </a:solidFill>
                          <a:latin typeface="Calibri"/>
                        </a:rPr>
                        <a:t>DECISIÓN PROPIA</a:t>
                      </a:r>
                    </a:p>
                  </a:txBody>
                  <a:tcPr marL="91440" marR="91440" marT="45720" marB="45720" anchor="ctr">
                    <a:solidFill>
                      <a:srgbClr val="FCFBF8"/>
                    </a:solidFill>
                  </a:tcPr>
                </a:tc>
                <a:tc>
                  <a:txBody>
                    <a:bodyPr wrap="square"/>
                    <a:lstStyle/>
                    <a:p>
                      <a:r>
                        <a:rPr sz="1600" b="0">
                          <a:solidFill>
                            <a:srgbClr val="1E232B"/>
                          </a:solidFill>
                          <a:latin typeface="Calibri"/>
                        </a:rPr>
                        <a:t>Los tres quedaron en el borde. Ampliada, el error baja de S/ 610,90 a S/ 607,31 (0,59 %): no se promovió</a:t>
                      </a:r>
                    </a:p>
                  </a:txBody>
                  <a:tcPr marL="91440" marR="91440" marT="45720" marB="45720" anchor="ctr">
                    <a:solidFill>
                      <a:srgbClr val="FCFBF8"/>
                    </a:solidFill>
                  </a:tcPr>
                </a:tc>
              </a:tr>
              <a:tr h="484632">
                <a:tc>
                  <a:txBody>
                    <a:bodyPr wrap="square"/>
                    <a:lstStyle/>
                    <a:p>
                      <a:r>
                        <a:rPr sz="1600" b="0">
                          <a:solidFill>
                            <a:srgbClr val="1E232B"/>
                          </a:solidFill>
                          <a:latin typeface="Calibri"/>
                        </a:rPr>
                        <a:t>Una cifra del INEI con la etiqueta equivocada</a:t>
                      </a:r>
                    </a:p>
                  </a:txBody>
                  <a:tcPr marL="91440" marR="91440" marT="45720" marB="45720" anchor="ctr">
                    <a:solidFill>
                      <a:srgbClr val="FCFBF8"/>
                    </a:solidFill>
                  </a:tcPr>
                </a:tc>
                <a:tc>
                  <a:txBody>
                    <a:bodyPr wrap="square"/>
                    <a:lstStyle/>
                    <a:p>
                      <a:r>
                        <a:rPr sz="1600" b="0">
                          <a:solidFill>
                            <a:srgbClr val="1E232B"/>
                          </a:solidFill>
                          <a:latin typeface="Calibri"/>
                        </a:rPr>
                        <a:t>DECISIÓN PROPIA</a:t>
                      </a:r>
                    </a:p>
                  </a:txBody>
                  <a:tcPr marL="91440" marR="91440" marT="45720" marB="45720" anchor="ctr">
                    <a:solidFill>
                      <a:srgbClr val="FCFBF8"/>
                    </a:solidFill>
                  </a:tcPr>
                </a:tc>
                <a:tc>
                  <a:txBody>
                    <a:bodyPr wrap="square"/>
                    <a:lstStyle/>
                    <a:p>
                      <a:r>
                        <a:rPr sz="1600" b="0">
                          <a:solidFill>
                            <a:srgbClr val="1E232B"/>
                          </a:solidFill>
                          <a:latin typeface="Calibri"/>
                        </a:rPr>
                        <a:t>El 88,6 % es del tramo 1-10 del INEI; nuestra categoría «Hasta 20» da 81,1 %</a:t>
                      </a:r>
                    </a:p>
                  </a:txBody>
                  <a:tcPr marL="91440" marR="91440" marT="45720" marB="45720" anchor="ctr">
                    <a:solidFill>
                      <a:srgbClr val="FCFBF8"/>
                    </a:solidFill>
                  </a:tcPr>
                </a:tc>
              </a:tr>
              <a:tr h="484632">
                <a:tc>
                  <a:txBody>
                    <a:bodyPr wrap="square"/>
                    <a:lstStyle/>
                    <a:p>
                      <a:r>
                        <a:rPr sz="1600" b="0">
                          <a:solidFill>
                            <a:srgbClr val="1E232B"/>
                          </a:solidFill>
                          <a:latin typeface="Calibri"/>
                        </a:rPr>
                        <a:t>Tres afirmaciones distintas sobre el mismo R²</a:t>
                      </a:r>
                    </a:p>
                  </a:txBody>
                  <a:tcPr marL="91440" marR="91440" marT="45720" marB="45720" anchor="ctr">
                    <a:solidFill>
                      <a:srgbClr val="FCFBF8"/>
                    </a:solidFill>
                  </a:tcPr>
                </a:tc>
                <a:tc>
                  <a:txBody>
                    <a:bodyPr wrap="square"/>
                    <a:lstStyle/>
                    <a:p>
                      <a:r>
                        <a:rPr sz="1600" b="0">
                          <a:solidFill>
                            <a:srgbClr val="1E232B"/>
                          </a:solidFill>
                          <a:latin typeface="Calibri"/>
                        </a:rPr>
                        <a:t>DECISIÓN PROPIA · DOCUMENTACIÓN</a:t>
                      </a:r>
                    </a:p>
                  </a:txBody>
                  <a:tcPr marL="91440" marR="91440" marT="45720" marB="45720" anchor="ctr">
                    <a:solidFill>
                      <a:srgbClr val="FCFBF8"/>
                    </a:solidFill>
                  </a:tcPr>
                </a:tc>
                <a:tc>
                  <a:txBody>
                    <a:bodyPr wrap="square"/>
                    <a:lstStyle/>
                    <a:p>
                      <a:r>
                        <a:rPr sz="1600" b="0">
                          <a:solidFill>
                            <a:srgbClr val="1E232B"/>
                          </a:solidFill>
                          <a:latin typeface="Calibri"/>
                        </a:rPr>
                        <a:t>Circulaban «0,4–0,5», «rara vez supera 0,4» y «ninguno supera 0,5»: quedó una, sobre Mincer y Card</a:t>
                      </a:r>
                    </a:p>
                  </a:txBody>
                  <a:tcPr marL="91440" marR="91440" marT="45720" marB="45720" anchor="ctr">
                    <a:solidFill>
                      <a:srgbClr val="FCFBF8"/>
                    </a:solidFill>
                  </a:tcPr>
                </a:tc>
              </a:tr>
            </a:tbl>
          </a:graphicData>
        </a:graphic>
      </p:graphicFrame>
      <p:sp>
        <p:nvSpPr>
          <p:cNvPr id="6" name="Rounded Rectangle 5"/>
          <p:cNvSpPr/>
          <p:nvPr/>
        </p:nvSpPr>
        <p:spPr>
          <a:xfrm>
            <a:off x="566928" y="5212079"/>
            <a:ext cx="11055096" cy="1097280"/>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400"/>
              </a:spcAft>
            </a:pPr>
            <a:r>
              <a:rPr sz="1400" b="0">
                <a:solidFill>
                  <a:srgbClr val="3542B8"/>
                </a:solidFill>
                <a:latin typeface="Consolas"/>
              </a:rPr>
              <a:t>LA LÍNEA DE MÉTODO</a:t>
            </a:r>
          </a:p>
          <a:p>
            <a:pPr>
              <a:lnSpc>
                <a:spcPct val="104000"/>
              </a:lnSpc>
              <a:spcAft>
                <a:spcPts val="0"/>
              </a:spcAft>
            </a:pPr>
            <a:r>
              <a:rPr sz="1800" b="0">
                <a:solidFill>
                  <a:srgbClr val="1E232B"/>
                </a:solidFill>
                <a:latin typeface="Calibri"/>
              </a:rPr>
              <a:t>Los de origen se corrigen y se documentan; los propios se corrigen y se aprende de ellos; los de cita se verifican en el texto completo. Ninguno se borra en silencio.</a:t>
            </a:r>
          </a:p>
        </p:txBody>
      </p:sp>
      <p:sp>
        <p:nvSpPr>
          <p:cNvPr id="7" name="TextBox 6"/>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INFORME_AUDITORIA.md · models/ui_artifacts.json (torneo.autopsia) · la sección «Qué encontró la auditoría» de la propia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435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969264"/>
          </a:xfrm>
          <a:prstGeom prst="rect">
            <a:avLst/>
          </a:prstGeom>
          <a:noFill/>
        </p:spPr>
        <p:txBody>
          <a:bodyPr wrap="square" lIns="0" rIns="0" tIns="0" bIns="0">
            <a:spAutoFit/>
          </a:bodyPr>
          <a:lstStyle/>
          <a:p>
            <a:pPr>
              <a:lnSpc>
                <a:spcPct val="92000"/>
              </a:lnSpc>
              <a:spcAft>
                <a:spcPts val="0"/>
              </a:spcAft>
            </a:pPr>
            <a:r>
              <a:rPr sz="3600" b="1">
                <a:solidFill>
                  <a:srgbClr val="1E232B"/>
                </a:solidFill>
                <a:latin typeface="Calibri"/>
              </a:rPr>
              <a:t>El regresor compara perfiles; el clasificador señala empleos, no personas</a:t>
            </a:r>
          </a:p>
        </p:txBody>
      </p:sp>
      <p:sp>
        <p:nvSpPr>
          <p:cNvPr id="4" name="TextBox 3"/>
          <p:cNvSpPr txBox="1"/>
          <p:nvPr/>
        </p:nvSpPr>
        <p:spPr>
          <a:xfrm>
            <a:off x="566928" y="1408176"/>
            <a:ext cx="10881360" cy="603504"/>
          </a:xfrm>
          <a:prstGeom prst="rect">
            <a:avLst/>
          </a:prstGeom>
          <a:noFill/>
        </p:spPr>
        <p:txBody>
          <a:bodyPr wrap="square" lIns="0" rIns="0" tIns="0" bIns="0">
            <a:spAutoFit/>
          </a:bodyPr>
          <a:lstStyle/>
          <a:p>
            <a:pPr>
              <a:lnSpc>
                <a:spcPct val="102000"/>
              </a:lnSpc>
              <a:spcAft>
                <a:spcPts val="0"/>
              </a:spcAft>
            </a:pPr>
            <a:r>
              <a:rPr sz="2000" b="0">
                <a:solidFill>
                  <a:srgbClr val="49525F"/>
                </a:solidFill>
                <a:latin typeface="Calibri"/>
              </a:rPr>
              <a:t>Qué se puede afirmar con cada modelo, qué no, y qué dejó el despliegue.</a:t>
            </a:r>
          </a:p>
        </p:txBody>
      </p:sp>
      <p:graphicFrame>
        <p:nvGraphicFramePr>
          <p:cNvPr id="5" name="Table 4"/>
          <p:cNvGraphicFramePr>
            <a:graphicFrameLocks noGrp="1"/>
          </p:cNvGraphicFramePr>
          <p:nvPr/>
        </p:nvGraphicFramePr>
        <p:xfrm>
          <a:off x="566928" y="2066543"/>
          <a:ext cx="11055095" cy="1920240"/>
        </p:xfrm>
        <a:graphic>
          <a:graphicData uri="http://schemas.openxmlformats.org/drawingml/2006/table">
            <a:tbl>
              <a:tblPr firstRow="1" bandRow="1">
                <a:tableStyleId>{5C22544A-7EE6-4342-B048-85BDC9FD1C3A}</a:tableStyleId>
              </a:tblPr>
              <a:tblGrid>
                <a:gridCol w="2211019"/>
                <a:gridCol w="4422038"/>
                <a:gridCol w="4422038"/>
              </a:tblGrid>
              <a:tr h="640080">
                <a:tc>
                  <a:txBody>
                    <a:bodyPr wrap="square"/>
                    <a:lstStyle/>
                    <a:p>
                      <a:r>
                        <a:rPr sz="1600" b="1">
                          <a:solidFill>
                            <a:srgbClr val="5F6875"/>
                          </a:solidFill>
                          <a:latin typeface="Calibri"/>
                        </a:rPr>
                        <a:t/>
                      </a:r>
                    </a:p>
                  </a:txBody>
                  <a:tcPr marL="91440" marR="91440" marT="45720" marB="45720" anchor="ctr">
                    <a:solidFill>
                      <a:srgbClr val="F1EFE8"/>
                    </a:solidFill>
                  </a:tcPr>
                </a:tc>
                <a:tc>
                  <a:txBody>
                    <a:bodyPr wrap="square"/>
                    <a:lstStyle/>
                    <a:p>
                      <a:r>
                        <a:rPr sz="1600" b="1">
                          <a:solidFill>
                            <a:srgbClr val="5F6875"/>
                          </a:solidFill>
                          <a:latin typeface="Calibri"/>
                        </a:rPr>
                        <a:t>Regresor de ingreso</a:t>
                      </a:r>
                    </a:p>
                  </a:txBody>
                  <a:tcPr marL="91440" marR="91440" marT="45720" marB="45720" anchor="ctr">
                    <a:solidFill>
                      <a:srgbClr val="F1EFE8"/>
                    </a:solidFill>
                  </a:tcPr>
                </a:tc>
                <a:tc>
                  <a:txBody>
                    <a:bodyPr wrap="square"/>
                    <a:lstStyle/>
                    <a:p>
                      <a:r>
                        <a:rPr sz="1600" b="1">
                          <a:solidFill>
                            <a:srgbClr val="5F6875"/>
                          </a:solidFill>
                          <a:latin typeface="Calibri"/>
                        </a:rPr>
                        <a:t>Clasificador de informalidad</a:t>
                      </a:r>
                    </a:p>
                  </a:txBody>
                  <a:tcPr marL="91440" marR="91440" marT="45720" marB="45720" anchor="ctr">
                    <a:solidFill>
                      <a:srgbClr val="F1EFE8"/>
                    </a:solidFill>
                  </a:tcPr>
                </a:tc>
              </a:tr>
              <a:tr h="640080">
                <a:tc>
                  <a:txBody>
                    <a:bodyPr wrap="square"/>
                    <a:lstStyle/>
                    <a:p>
                      <a:r>
                        <a:rPr sz="1600" b="0">
                          <a:solidFill>
                            <a:srgbClr val="1E232B"/>
                          </a:solidFill>
                          <a:latin typeface="Calibri"/>
                        </a:rPr>
                        <a:t>Sí se puede afirmar</a:t>
                      </a:r>
                    </a:p>
                  </a:txBody>
                  <a:tcPr marL="91440" marR="91440" marT="45720" marB="45720" anchor="ctr">
                    <a:solidFill>
                      <a:srgbClr val="FCFBF8"/>
                    </a:solidFill>
                  </a:tcPr>
                </a:tc>
                <a:tc>
                  <a:txBody>
                    <a:bodyPr wrap="square"/>
                    <a:lstStyle/>
                    <a:p>
                      <a:r>
                        <a:rPr sz="1600" b="0">
                          <a:solidFill>
                            <a:srgbClr val="1E232B"/>
                          </a:solidFill>
                          <a:latin typeface="Calibri"/>
                        </a:rPr>
                        <a:t>Un ingreso típico para un perfil, con un error medio de S/ 611 al mes.</a:t>
                      </a:r>
                    </a:p>
                  </a:txBody>
                  <a:tcPr marL="91440" marR="91440" marT="45720" marB="45720" anchor="ctr">
                    <a:solidFill>
                      <a:srgbClr val="FCFBF8"/>
                    </a:solidFill>
                  </a:tcPr>
                </a:tc>
                <a:tc>
                  <a:txBody>
                    <a:bodyPr wrap="square"/>
                    <a:lstStyle/>
                    <a:p>
                      <a:r>
                        <a:rPr sz="1600" b="0">
                          <a:solidFill>
                            <a:srgbClr val="1E232B"/>
                          </a:solidFill>
                          <a:latin typeface="Calibri"/>
                        </a:rPr>
                        <a:t>Que una configuración laboral observable se asocia a informalidad (PR-AUC de test 0,9605).</a:t>
                      </a:r>
                    </a:p>
                  </a:txBody>
                  <a:tcPr marL="91440" marR="91440" marT="45720" marB="45720" anchor="ctr">
                    <a:solidFill>
                      <a:srgbClr val="FCFBF8"/>
                    </a:solidFill>
                  </a:tcPr>
                </a:tc>
              </a:tr>
              <a:tr h="640080">
                <a:tc>
                  <a:txBody>
                    <a:bodyPr wrap="square"/>
                    <a:lstStyle/>
                    <a:p>
                      <a:r>
                        <a:rPr sz="1600" b="0">
                          <a:solidFill>
                            <a:srgbClr val="1E232B"/>
                          </a:solidFill>
                          <a:latin typeface="Calibri"/>
                        </a:rPr>
                        <a:t>No se puede afirmar</a:t>
                      </a:r>
                    </a:p>
                  </a:txBody>
                  <a:tcPr marL="91440" marR="91440" marT="45720" marB="45720" anchor="ctr">
                    <a:solidFill>
                      <a:srgbClr val="FCFBF8"/>
                    </a:solidFill>
                  </a:tcPr>
                </a:tc>
                <a:tc>
                  <a:txBody>
                    <a:bodyPr wrap="square"/>
                    <a:lstStyle/>
                    <a:p>
                      <a:r>
                        <a:rPr sz="1600" b="0">
                          <a:solidFill>
                            <a:srgbClr val="1E232B"/>
                          </a:solidFill>
                          <a:latin typeface="Calibri"/>
                        </a:rPr>
                        <a:t>Cuánto va a cobrar una persona concreta. Sirve para comparar perfiles, no para fijar sueldos.</a:t>
                      </a:r>
                    </a:p>
                  </a:txBody>
                  <a:tcPr marL="91440" marR="91440" marT="45720" marB="45720" anchor="ctr">
                    <a:solidFill>
                      <a:srgbClr val="FCFBF8"/>
                    </a:solidFill>
                  </a:tcPr>
                </a:tc>
                <a:tc>
                  <a:txBody>
                    <a:bodyPr wrap="square"/>
                    <a:lstStyle/>
                    <a:p>
                      <a:r>
                        <a:rPr sz="1600" b="0">
                          <a:solidFill>
                            <a:srgbClr val="1E232B"/>
                          </a:solidFill>
                          <a:latin typeface="Calibri"/>
                        </a:rPr>
                        <a:t>Que alguien vaya a ser informal. No predice el futuro ni juzga a ninguna persona.</a:t>
                      </a:r>
                    </a:p>
                  </a:txBody>
                  <a:tcPr marL="91440" marR="91440" marT="45720" marB="45720" anchor="ctr">
                    <a:solidFill>
                      <a:srgbClr val="FCFBF8"/>
                    </a:solidFill>
                  </a:tcPr>
                </a:tc>
              </a:tr>
            </a:tbl>
          </a:graphicData>
        </a:graphic>
      </p:graphicFrame>
      <p:sp>
        <p:nvSpPr>
          <p:cNvPr id="6" name="Rounded Rectangle 5"/>
          <p:cNvSpPr/>
          <p:nvPr/>
        </p:nvSpPr>
        <p:spPr>
          <a:xfrm>
            <a:off x="566928" y="4352544"/>
            <a:ext cx="11055096" cy="1152144"/>
          </a:xfrm>
          <a:prstGeom prst="roundRect">
            <a:avLst>
              <a:gd name="adj" fmla="val 5000"/>
            </a:avLst>
          </a:prstGeom>
          <a:solidFill>
            <a:srgbClr val="E6E8FA"/>
          </a:solidFill>
          <a:ln w="15875">
            <a:solidFill>
              <a:srgbClr val="4353CC"/>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6" bIns="128016"/>
          <a:lstStyle/>
          <a:p>
            <a:pPr algn="ctr">
              <a:spcAft>
                <a:spcPts val="600"/>
              </a:spcAft>
            </a:pPr>
            <a:r>
              <a:rPr sz="1400" b="0">
                <a:solidFill>
                  <a:srgbClr val="3542B8"/>
                </a:solidFill>
                <a:latin typeface="Consolas"/>
              </a:rPr>
              <a:t>QUÉ DEJÓ EL DESPLIEGUE</a:t>
            </a:r>
          </a:p>
          <a:p>
            <a:pPr>
              <a:lnSpc>
                <a:spcPct val="106000"/>
              </a:lnSpc>
              <a:spcAft>
                <a:spcPts val="0"/>
              </a:spcAft>
            </a:pPr>
            <a:r>
              <a:rPr sz="1800" b="0">
                <a:solidFill>
                  <a:srgbClr val="1E232B"/>
                </a:solidFill>
                <a:latin typeface="Calibri"/>
              </a:rPr>
              <a:t>Fijar las versiones exactas (scikit-learn 1.9.0, pandas 3.0.5) y precomputar todo lo pesado en un JSON de 44,7 KB es lo que hace que la app cargue rápido y no se quede sin memoria.</a:t>
            </a:r>
          </a:p>
        </p:txBody>
      </p:sp>
      <p:sp>
        <p:nvSpPr>
          <p:cNvPr id="7" name="TextBox 6"/>
          <p:cNvSpPr txBox="1"/>
          <p:nvPr/>
        </p:nvSpPr>
        <p:spPr>
          <a:xfrm>
            <a:off x="566928" y="5742431"/>
            <a:ext cx="11055096" cy="566928"/>
          </a:xfrm>
          <a:prstGeom prst="rect">
            <a:avLst/>
          </a:prstGeom>
          <a:noFill/>
        </p:spPr>
        <p:txBody>
          <a:bodyPr wrap="square" lIns="0" rIns="0" tIns="0" bIns="0">
            <a:spAutoFit/>
          </a:bodyPr>
          <a:lstStyle/>
          <a:p>
            <a:pPr algn="ctr">
              <a:spcAft>
                <a:spcPts val="200"/>
              </a:spcAft>
            </a:pPr>
            <a:r>
              <a:rPr sz="1800" b="1">
                <a:solidFill>
                  <a:srgbClr val="1E232B"/>
                </a:solidFill>
                <a:latin typeface="Calibri"/>
              </a:rPr>
              <a:t>Alan Nestor Cañazaca Mamani · Magdalena Quico de la Cruz · Yoichi Palacios Tanaka · Edgar Delgado Ortega</a:t>
            </a:r>
          </a:p>
          <a:p>
            <a:pPr algn="ctr">
              <a:spcAft>
                <a:spcPts val="0"/>
              </a:spcAft>
            </a:pPr>
            <a:r>
              <a:rPr sz="1800" b="0">
                <a:solidFill>
                  <a:srgbClr val="49525F"/>
                </a:solidFill>
                <a:latin typeface="Calibri"/>
              </a:rPr>
              <a:t>Docente: Orlando Advíncula Zeballos</a:t>
            </a:r>
          </a:p>
        </p:txBody>
      </p:sp>
      <p:sp>
        <p:nvSpPr>
          <p:cNvPr id="8" name="TextBox 7"/>
          <p:cNvSpPr txBox="1"/>
          <p:nvPr/>
        </p:nvSpPr>
        <p:spPr>
          <a:xfrm>
            <a:off x="566928" y="6419088"/>
            <a:ext cx="11057839" cy="310896"/>
          </a:xfrm>
          <a:prstGeom prst="rect">
            <a:avLst/>
          </a:prstGeom>
          <a:noFill/>
        </p:spPr>
        <p:txBody>
          <a:bodyPr wrap="square" lIns="0" rIns="0" tIns="0" bIns="0">
            <a:spAutoFit/>
          </a:bodyPr>
          <a:lstStyle/>
          <a:p>
            <a:pPr>
              <a:spcAft>
                <a:spcPts val="0"/>
              </a:spcAft>
            </a:pPr>
            <a:r>
              <a:rPr sz="1200" b="0">
                <a:solidFill>
                  <a:srgbClr val="5F6875"/>
                </a:solidFill>
                <a:latin typeface="Calibri"/>
              </a:rPr>
              <a:t>Fuente: models/feature_schema.json (métricas de test) · AUTHORS.md · CITATION.cff · LICENSE (Apache-2.0) y docs/LICENSE-DOCS.md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