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Somos el grupo de Alan, Magdalena, Yoichi y Edgar, del curso de Machine Learning de la ENEI, con el profesor Orlando Advíncula. Presentamos dos modelos entrenados sobre los microdatos públicos de la ENAHO 2025 del INEI: uno estima el ingreso laboral mensual y otro clasifica si un empleo es informal. Los dos están desplegados en una app pública de Streamlit que vamos a abrir en vivo. El curso es de despliegue, así que el peso de la exposición está en cómo llega el modelo del editor al navegador, no en la estadística. Esos dos enlaces de abajo son los únicos que hace falta apuntar.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app tiene cuatro secciones; estas son las dos que hacen predicción. A la izquierda, el formulario del regresor: se describe un perfil laboral y devuelve un ingreso mensual típico en soles. A la derecha, la pestaña de informalidad: con las mismas once variables devuelve una probabilidad y, según dónde se ponga el umbral, un veredicto. Son dos modelos independientes que comparten las entradas, no un modelo con dos salidas. Las otras dos secciones son el torneo de modelos y la ficha técnica, y las vemos al final.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entrenar nada había que decidir qué filas entraban. Partimos del módulo de empleo e ingresos: 84.853 registros, de los que 57.716 son personas ocupadas de 14 años o más. Exigir un ingreso laboral mayor que cero deja 47.899: ahí quedan fuera, por ejemplo, los trabajadores familiares no remunerados, que declaran ingreso cero por definición. El último corte quita las filas sin alguna variable del modelo y deja 47.632. De ahí salen 38.105 de entrenamiento y 9.527 de prueba, con semilla fija. Ninguno de estos números está escrito a mano en la diapositiva: se leen del informe al generarla.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guía pide distinguir explícitamente las variables numéricas de las categóricas, así que aquí están las once. Cinco numéricas: años de educación, edad, experiencia potencial, su cuadrado y horas trabajadas por semana. Seis categóricas: sexo, área, dominio geográfico, rama de actividad, tamaño de empresa y categoría ocupacional. Entre las seis suman 35 niveles, que el pipeline codifica en one-hot dentro del propio modelo: eso importa para el despliegue, porque significa que la app manda un diccionario con los valores en bruto y no tiene que replicar la codificación. La columna de la derecha es el perfil por defecto del formulario, el mismo con el que verificamos al 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curso pedía comparar Random Forest y Gradient Boosting, así que esta es la comparación de frente. Mismos datos, mismos cinco pliegues, misma semilla. Gradient Boosting se equivoca de media en S/ 610,9 al mes y Random Forest en S/ 613,0: dos soles de diferencia sobre un error de seiscientos, es decir, empate práctico. La línea punteada es la mejor especificación lineal del torneo, E7, en S/ 686,9: ahí sí hay una diferencia real, de S/ 76,0. Detrás de esto hay un torneo de nueve especificaciones, de E1 a E9, que está documentado en docs/METODOLOGIA_TORNEO.md y en la propia app. Elegimos E9 por el error en validación cruzada, nunca por el de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Mismo ejercicio del lado de la clasificación, y aquí entra también la regresión logística, que es el modelo lineal de referencia. Gradient Boosting gana en las cuatro métricas, pero por márgenes muy pequeños: 0,9626 contra 0,9619 del Random Forest. El Brier mide error de calibración, así que ahí menos es mejor. La línea roja del gráfico es lo importante: la prevalencia. Como el 67,8 % de los ocupados de la muestra es informal, un modelo que dijera «informal» a todo el mundo ya tendría un PR-AUC de 0,6778. Por eso la mejora hay que leerla contra esa línea y no contra cero, y por eso no usamos accuracy.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decisiones de método en una lámina. Primera: el ganador se elige por validación cruzada, no por el conjunto de prueba; el test se mira una sola vez, al final, y no decide nada. Segunda: en clasificación miramos PR-AUC y no accuracy, porque con una prevalencia de 0,6778 decir «informal» a todos ya acierta el 67,8 % de las veces. Tercera: el umbral. La curva muestra el intercambio: cuanto más alto lo pones, más aciertas en los que señalas y más informales se te escapan. Fijamos 0,6054 porque es donde la precisión llega a 0,90. En la app ese umbral se puede mover y ver las consecuencias en vivo: es una elección de costos, no un resultado del modelo.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guía pide explicar por qué el modelo vale lo que vale, y esta es la forma llana de decirlo: tomamos una variable, desordenamos sus valores al azar entre las personas, y medimos cuántos soles más se equivoca el modelo. Si la variable no aportaba nada, no pasa nada; si aportaba, el error sube. La categoría ocupacional sube el error en unos S/ 139 al mes y los años de educación en unos S/ 128. Ojo con la lectura: esto mide cuánto usa el modelo cada variable, no cuánto causa cada variable en el ingreso real. Para la lectura causal está el modelo explicativo E6, que es una regresión ponderada aparte y está en la app.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pipeline completo corre en local, en VS Code: los scripts numerados del 00 al 09 leen los microdatos del INEI, entrenan los modelos y escriben los artefactos. Esos microdatos no se suben a ningún lado: son 601,3 megabytes que se descargan de la fuente oficial, y el repositorio los excluye por diseño en el .gitignore. Lo único que sale de la máquina son código y unos pocos archivos pequeños: los .joblib entrenados y tres JSON, dos de contrato con la app y uno con los hiperparámetros. En total 9,19 megabytes. Streamlit Community Cloud vigila la rama main en GitHub y cada push dispara un redespliegue automático, sin ningún paso manual de por medio. Ese mismo repositorio tiene una estructura de carpetas fija que conviene mirar de cerca.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repositorio tiene 112 archivos y 26 commits, sin contar los microdatos porque esos nunca entraron. src/ guarda los scripts numerados del 00 al 09 más un módulo común, y se ejecutan en ese orden fijo. models/ versiona los artefactos: los .joblib entrenados y los JSON de contrato con la app; la caché de probabilidades out-of-fold queda fuera porque es derivable y pesa. docs/ y reports/ juntan la documentación de arquitectura y la evidencia de cada paso: auditoría, torneo, ablación. data/ cierra el árbol como recordatorio de lo ya dicho: esa carpeta no existe en el repositorio. Uno de los archivos más simples de ese árbol, requirements.txt, es también uno de los más importantes.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requirements.txt no deja ninguna versión suelta. scikit-learn queda fijado en 1.9.0, la misma con la que se generaron los .joblib, porque un modelo entrenado con otra versión puede no cargar, o cargar y comportarse distinto, sin ningún aviso. La comprobación no es una promesa del archivo: el propio generador de esta presentación compara requirements.txt con la versión anotada en los artefactos y se niega a producir el .pptx si no coinciden. Del lado de la nube, Streamlit Cloud apunta a un archivo y una rama fijos —app/streamlit_app.py en main— y reconstruye ese entorno en cada push. Ese entorno reconstruido es el que sostiene, widget por widget, el formulario de la app.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formulario no declara ningún campo a mano: recorre feature_schema.json y arma un control por variable, número o selector según el tipo. Los numéricos usan number_input con su paso y su rango; los categóricos, selectbox con las opciones que realmente vio el codificador entrenado. Si mañana cambia una variable en el schema, el formulario cambia solo. El bloque del umbral vive en un st.fragment: mover el slider reejecuta solo ese fragmento y no la página entera, así que la predicción y los artefactos no se vuelven a cargar en cada arrastre. El expander separa la lectura llana de la técnica, el popover resuelve una pregunta puntual sin ocupar espacio permanente, y el selector de tema es un radio que lee sus opciones de PALETAS. Todo ese formulario, sin embargo, solo predice el perfil puntual: el resto de los gráficos ya viene calculado de antes.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decisión de ingeniería que más se nota al usar la app es esta: nada pesado se calcula mientras alguien la mira. Las curvas de umbral, los histogramas, las tablas de consecuencias y las dependencias parciales se calculan una sola vez, en 09_precomputar_ui.py, y viajan como un JSON de 44,7 kilobytes. La app en producción abre ese archivo y dibuja. Los .joblib solo entran cuando hay que predecir el perfil puntual que arma el usuario. Además, cache_data y cache_resource evitan releer el JSON y los modelos en cada interacción de la sesión. Community Cloud da poca memoria por aplicación, así que mantener el trabajo pesado fuera del tiempo de ejecución es justamente lo que permite que cargue rápido y no se quede sin memoria. Ese mismo material precalculado es el que sostiene la capa educativa de cada gráfico.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app se pensó para que nadie necesite abrir el código. Cada sección tiene dos capas: primero una lectura llana y después un expander de «Detalle técnico» para quien quiera la fórmula o el supuesto exacto. Los gráficos etiquetan cada elemento como DATO, MECÁNICA o HIPÓTESIS, para distinguir qué es medición, qué es cómo funciona el cálculo y qué es una lectura nuestra. La matriz de confusión no usa la jerga de verdaderos y falsos positivos: nombra las cuatro casillas en castellano. Y hay 15 referencias bibliográficas con el enlace comprobado una a una, ancladas a la sección que las cita. Toda esta capa solo tiene sentido si el modelo que corre en la nube es exactamente el mismo que se entrenó en local: eso es lo que se verificó a continuación.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mostrar la app en clase corrimos el mismo perfil en la consola local de VS Code y lo comparamos con la app ya desplegada. El resultado es idéntico: S/ 849 de ingreso típico, que es la mediana que da el Gradient Boosting E9, y S/ 1.189 de ingreso esperado, que aplica el factor de smearing de Duan sobre esa mediana. Cuidado con lo que prueba esto: no valida que el modelo prediga bien, valida que la app en la nube corre exactamente el mismo artefacto que se entrenó y se probó en local, no una copia vieja ni un reentrenamiento distinto. La misma comprobación se repitió con el segundo modelo.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consola local y la app en la nube devuelven la misma probabilidad, 97,5 %, con el mismo umbral operativo de 0,6054 que fijamos en la lámina 7. Un detalle honesto que conviene decir en voz alta: el formulario del clasificador arranca con 46 horas por defecto y el del regresor con 45; el script de verificación usa el valor por defecto de cada modelo, así que los dos perfiles de las láminas 15 y 16 no son idénticos entre sí. Dentro de cada lámina, en cambio, la consola y la app comparan exactamente el mismo perfil. La consola imprime la palabra INFORMAL y la app dice «señalado para focalización»: es lo mismo dicho de dos maneras, y la de la app es deliberada, porque la señal es sobre una configuración de empleo y no sobre la persona. Antes de dar la app por buena, el proyecto pasó también por una auditoría interna.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publicar, el proyecto se auditó a sí mismo: cada cifra contra el script que la genera, cada cita contra su fuente original. Aparecieron cuatro problemas y se publicaron los cuatro. El primero venía en los datos: el INEI codifica «no sabe» como 999999 y ese valor se estaba leyendo como un ingreso real de casi un millón de soles; convertirlo en dato faltante subió el R² de 0,023 a 0,248 y devolvió el sentido económico a los coeficientes. Ese fallo estaba en los datos del INEI, no en el modelado de nadie. Los otros tres nacieron en nuestro propio trabajo de elegir y de resumir, y uno de ellos además en las citas. Ninguno cambia el modelo que está en producción. El valor de auditar no fue que no hubiera errores: fue encontrarlos y dejarlos escritos.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los límites. El regresor da un ingreso típico con un error medio de unos S/ 611 al mes: sirve para comparar perfiles entre sí, no para decirle a una persona cuánto va a cobrar. El clasificador identifica si una configuración laboral observable se asocia a la informalidad, con un PR-AUC de test de 0,9605; es una herramienta de focalización, no predice el futuro de nadie. Del despliegue nos llevamos dos cosas concretas: fijar las versiones exactas de las librerías, porque un pickle no es portable entre versiones, y sacar todo el cálculo pesado del tiempo de ejecución. Los enlaces están en la portada.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pic>
        <p:nvPicPr>
          <p:cNvPr id="2" name="Picture 1" descr="inei_microdatos_cabecera.jpg"/>
          <p:cNvPicPr>
            <a:picLocks noChangeAspect="1"/>
          </p:cNvPicPr>
          <p:nvPr/>
        </p:nvPicPr>
        <p:blipFill>
          <a:blip r:embed="rId2"/>
          <a:stretch>
            <a:fillRect/>
          </a:stretch>
        </p:blipFill>
        <p:spPr>
          <a:xfrm>
            <a:off x="566928" y="420624"/>
            <a:ext cx="4023360" cy="751301"/>
          </a:xfrm>
          <a:prstGeom prst="rect">
            <a:avLst/>
          </a:prstGeom>
        </p:spPr>
      </p:pic>
      <p:pic>
        <p:nvPicPr>
          <p:cNvPr id="3" name="Picture 2" descr="enei_logo.png"/>
          <p:cNvPicPr>
            <a:picLocks noChangeAspect="1"/>
          </p:cNvPicPr>
          <p:nvPr/>
        </p:nvPicPr>
        <p:blipFill>
          <a:blip r:embed="rId3"/>
          <a:stretch>
            <a:fillRect/>
          </a:stretch>
        </p:blipFill>
        <p:spPr>
          <a:xfrm>
            <a:off x="10104120" y="310896"/>
            <a:ext cx="1536192" cy="1123615"/>
          </a:xfrm>
          <a:prstGeom prst="rect">
            <a:avLst/>
          </a:prstGeom>
        </p:spPr>
      </p:pic>
      <p:sp>
        <p:nvSpPr>
          <p:cNvPr id="4" name="TextBox 3"/>
          <p:cNvSpPr txBox="1"/>
          <p:nvPr/>
        </p:nvSpPr>
        <p:spPr>
          <a:xfrm>
            <a:off x="566928" y="1920240"/>
            <a:ext cx="11055096" cy="1737360"/>
          </a:xfrm>
          <a:prstGeom prst="rect">
            <a:avLst/>
          </a:prstGeom>
          <a:noFill/>
        </p:spPr>
        <p:txBody>
          <a:bodyPr wrap="square" lIns="0" rIns="0" tIns="0" bIns="0">
            <a:spAutoFit/>
          </a:bodyPr>
          <a:lstStyle/>
          <a:p>
            <a:pPr>
              <a:lnSpc>
                <a:spcPct val="94000"/>
              </a:lnSpc>
              <a:spcAft>
                <a:spcPts val="600"/>
              </a:spcAft>
            </a:pPr>
            <a:r>
              <a:rPr sz="4400" b="1">
                <a:solidFill>
                  <a:srgbClr val="1E232B"/>
                </a:solidFill>
                <a:latin typeface="Calibri"/>
              </a:rPr>
              <a:t>Ingreso laboral e informalidad en el Perú</a:t>
            </a:r>
          </a:p>
          <a:p>
            <a:pPr>
              <a:lnSpc>
                <a:spcPct val="105000"/>
              </a:lnSpc>
              <a:spcAft>
                <a:spcPts val="0"/>
              </a:spcAft>
            </a:pPr>
            <a:r>
              <a:rPr sz="2000" b="0">
                <a:solidFill>
                  <a:srgbClr val="49525F"/>
                </a:solidFill>
                <a:latin typeface="Calibri"/>
              </a:rPr>
              <a:t>Dos modelos sobre los microdatos de la ENAHO 2025 (INEI), desplegados en una app pública</a:t>
            </a:r>
          </a:p>
        </p:txBody>
      </p:sp>
      <p:sp>
        <p:nvSpPr>
          <p:cNvPr id="5" name="TextBox 4"/>
          <p:cNvSpPr txBox="1"/>
          <p:nvPr/>
        </p:nvSpPr>
        <p:spPr>
          <a:xfrm>
            <a:off x="566928" y="3675887"/>
            <a:ext cx="11055096" cy="822960"/>
          </a:xfrm>
          <a:prstGeom prst="rect">
            <a:avLst/>
          </a:prstGeom>
          <a:noFill/>
        </p:spPr>
        <p:txBody>
          <a:bodyPr wrap="square" lIns="0" rIns="0" tIns="0" bIns="0">
            <a:spAutoFit/>
          </a:bodyPr>
          <a:lstStyle/>
          <a:p>
            <a:pPr>
              <a:spcAft>
                <a:spcPts val="400"/>
              </a:spcAft>
            </a:pPr>
            <a:r>
              <a:rPr sz="1800" b="0">
                <a:solidFill>
                  <a:srgbClr val="1E232B"/>
                </a:solidFill>
                <a:latin typeface="Calibri"/>
              </a:rPr>
              <a:t>Curso de Machine Learning · ENEI — Escuela Nacional de Estadística e Informática</a:t>
            </a:r>
          </a:p>
          <a:p>
            <a:pPr>
              <a:spcAft>
                <a:spcPts val="0"/>
              </a:spcAft>
            </a:pPr>
            <a:r>
              <a:rPr sz="1800" b="0">
                <a:solidFill>
                  <a:srgbClr val="49525F"/>
                </a:solidFill>
                <a:latin typeface="Calibri"/>
              </a:rPr>
              <a:t>Docente: Orlando Advíncula Zeballos · Agosto de 2026</a:t>
            </a:r>
          </a:p>
        </p:txBody>
      </p:sp>
      <p:sp>
        <p:nvSpPr>
          <p:cNvPr id="6" name="Rounded Rectangle 5"/>
          <p:cNvSpPr/>
          <p:nvPr/>
        </p:nvSpPr>
        <p:spPr>
          <a:xfrm>
            <a:off x="566928" y="4590288"/>
            <a:ext cx="11055096" cy="1225296"/>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3542B8"/>
                </a:solidFill>
                <a:latin typeface="Consolas"/>
              </a:rPr>
              <a:t>INTEGRANTES</a:t>
            </a:r>
          </a:p>
          <a:p>
            <a:pPr>
              <a:spcAft>
                <a:spcPts val="300"/>
              </a:spcAft>
            </a:pPr>
            <a:r>
              <a:rPr sz="1800" b="1">
                <a:solidFill>
                  <a:srgbClr val="1E232B"/>
                </a:solidFill>
                <a:latin typeface="Calibri"/>
              </a:rPr>
              <a:t>Alan Nestor Cañazaca Mamani   ·   Magdalena Quico de la Cruz</a:t>
            </a:r>
          </a:p>
          <a:p>
            <a:pPr>
              <a:spcAft>
                <a:spcPts val="0"/>
              </a:spcAft>
            </a:pPr>
            <a:r>
              <a:rPr sz="1800" b="1">
                <a:solidFill>
                  <a:srgbClr val="1E232B"/>
                </a:solidFill>
                <a:latin typeface="Calibri"/>
              </a:rPr>
              <a:t>Yoichi Palacios Tanaka   ·   Edgar Delgado Ortega</a:t>
            </a:r>
          </a:p>
        </p:txBody>
      </p:sp>
      <p:sp>
        <p:nvSpPr>
          <p:cNvPr id="7" name="Rounded Rectangle 6"/>
          <p:cNvSpPr/>
          <p:nvPr/>
        </p:nvSpPr>
        <p:spPr>
          <a:xfrm>
            <a:off x="566928" y="5961888"/>
            <a:ext cx="11055096" cy="694944"/>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0"/>
              </a:spcAft>
            </a:pPr>
            <a:r>
              <a:rPr sz="1800" b="0">
                <a:solidFill>
                  <a:srgbClr val="3542B8"/>
                </a:solidFill>
                <a:latin typeface="Consolas"/>
              </a:rPr>
              <a:t>App:  enaho-ingresos-informalidad.streamlit.app        Repositorio:  github.com/IchiSieben/enaho-ingresos-informalidad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A · QUÉ CONSTRUIMOS    ·    LÁMINA 2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Una app, dos modelos: cuánto gana una persona y si su empleo es informal</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 mismo formulario alimenta dos modelos distintos; cada pestaña corre el suyo.</a:t>
            </a:r>
          </a:p>
        </p:txBody>
      </p:sp>
      <p:pic>
        <p:nvPicPr>
          <p:cNvPr id="5" name="Picture 4" descr="cloud_reg_panel.png"/>
          <p:cNvPicPr>
            <a:picLocks noChangeAspect="1"/>
          </p:cNvPicPr>
          <p:nvPr/>
        </p:nvPicPr>
        <p:blipFill>
          <a:blip r:embed="rId2"/>
          <a:stretch>
            <a:fillRect/>
          </a:stretch>
        </p:blipFill>
        <p:spPr>
          <a:xfrm>
            <a:off x="1293661" y="2066543"/>
            <a:ext cx="3904916" cy="2761487"/>
          </a:xfrm>
          <a:prstGeom prst="rect">
            <a:avLst/>
          </a:prstGeom>
        </p:spPr>
      </p:pic>
      <p:pic>
        <p:nvPicPr>
          <p:cNvPr id="6" name="Picture 5" descr="cloud_clf_panel.png"/>
          <p:cNvPicPr>
            <a:picLocks noChangeAspect="1"/>
          </p:cNvPicPr>
          <p:nvPr/>
        </p:nvPicPr>
        <p:blipFill>
          <a:blip r:embed="rId3"/>
          <a:stretch>
            <a:fillRect/>
          </a:stretch>
        </p:blipFill>
        <p:spPr>
          <a:xfrm>
            <a:off x="6990373" y="2066543"/>
            <a:ext cx="3904916" cy="2761487"/>
          </a:xfrm>
          <a:prstGeom prst="rect">
            <a:avLst/>
          </a:prstGeom>
        </p:spPr>
      </p:pic>
      <p:sp>
        <p:nvSpPr>
          <p:cNvPr id="7" name="Rounded Rectangle 6"/>
          <p:cNvSpPr/>
          <p:nvPr/>
        </p:nvSpPr>
        <p:spPr>
          <a:xfrm>
            <a:off x="566928" y="4937760"/>
            <a:ext cx="5358384" cy="135331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5F6875"/>
                </a:solidFill>
                <a:latin typeface="Consolas"/>
              </a:rPr>
              <a:t>ESTIMACIÓN DE INGRESO  ·  REGRESIÓN</a:t>
            </a:r>
          </a:p>
          <a:p>
            <a:pPr>
              <a:lnSpc>
                <a:spcPct val="106000"/>
              </a:lnSpc>
              <a:spcAft>
                <a:spcPts val="0"/>
              </a:spcAft>
            </a:pPr>
            <a:r>
              <a:rPr sz="1800" b="0">
                <a:solidFill>
                  <a:srgbClr val="1E232B"/>
                </a:solidFill>
                <a:latin typeface="Calibri"/>
              </a:rPr>
              <a:t>Estima el ingreso laboral mensual en soles con Gradient Boosting sobre el logaritmo del ingreso (especificación E9).</a:t>
            </a:r>
          </a:p>
        </p:txBody>
      </p:sp>
      <p:sp>
        <p:nvSpPr>
          <p:cNvPr id="8" name="Rounded Rectangle 7"/>
          <p:cNvSpPr/>
          <p:nvPr/>
        </p:nvSpPr>
        <p:spPr>
          <a:xfrm>
            <a:off x="6263640" y="4937760"/>
            <a:ext cx="5358384" cy="135331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5F6875"/>
                </a:solidFill>
                <a:latin typeface="Consolas"/>
              </a:rPr>
              <a:t>EMPLEO INFORMAL  ·  CLASIFICACIÓN</a:t>
            </a:r>
          </a:p>
          <a:p>
            <a:pPr>
              <a:lnSpc>
                <a:spcPct val="106000"/>
              </a:lnSpc>
              <a:spcAft>
                <a:spcPts val="0"/>
              </a:spcAft>
            </a:pPr>
            <a:r>
              <a:rPr sz="1800" b="0">
                <a:solidFill>
                  <a:srgbClr val="1E232B"/>
                </a:solidFill>
                <a:latin typeface="Calibri"/>
              </a:rPr>
              <a:t>Estima la probabilidad de que el empleo sea informal, también con Gradient Boosting, sobre las mismas once variables.</a:t>
            </a:r>
          </a:p>
        </p:txBody>
      </p:sp>
      <p:sp>
        <p:nvSpPr>
          <p:cNvPr id="9" name="TextBox 8"/>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capturas de la app desplegada en Streamlit Community Cloud (enaho-ingresos-informalidad.streamlit.app).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A · QUÉ CONSTRUIMOS    ·    LÁMINA 3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De 84.853 registros del INEI quedan 47.632 personas comparables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Tres filtros documentados, no un recorte a conveniencia.</a:t>
            </a:r>
          </a:p>
        </p:txBody>
      </p:sp>
      <p:pic>
        <p:nvPicPr>
          <p:cNvPr id="5" name="Picture 4" descr="fig_embudo.png"/>
          <p:cNvPicPr>
            <a:picLocks noChangeAspect="1"/>
          </p:cNvPicPr>
          <p:nvPr/>
        </p:nvPicPr>
        <p:blipFill>
          <a:blip r:embed="rId2"/>
          <a:stretch>
            <a:fillRect/>
          </a:stretch>
        </p:blipFill>
        <p:spPr>
          <a:xfrm>
            <a:off x="1395838" y="2066543"/>
            <a:ext cx="9397274" cy="3154680"/>
          </a:xfrm>
          <a:prstGeom prst="rect">
            <a:avLst/>
          </a:prstGeom>
        </p:spPr>
      </p:pic>
      <p:sp>
        <p:nvSpPr>
          <p:cNvPr id="6" name="Rounded Rectangle 5"/>
          <p:cNvSpPr/>
          <p:nvPr/>
        </p:nvSpPr>
        <p:spPr>
          <a:xfrm>
            <a:off x="566928" y="5330952"/>
            <a:ext cx="11055096" cy="86868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lnSpc>
                <a:spcPct val="106000"/>
              </a:lnSpc>
              <a:spcAft>
                <a:spcPts val="0"/>
              </a:spcAft>
            </a:pPr>
            <a:r>
              <a:rPr sz="1800" b="0">
                <a:solidFill>
                  <a:srgbClr val="1E232B"/>
                </a:solidFill>
                <a:latin typeface="Calibri"/>
              </a:rPr>
              <a:t>ENAHO 2025 (INEI), módulos 02 (miembros del hogar) · 03 (educación) · 05 (empleo e ingresos). Cada corte está en src/03_fase1_preparacion.py y en el informe de auditoría.</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INFORME_AUDITORIA.md §4 (embudo reconstruido reejecutando la Fase 1) · src/03_fase1_preparacion.py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B · LOS MODELOS    ·    LÁMINA 4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Once variables: 5 numéricas y 6 categóricas, las mismas en los dos modelos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 regresor de ingreso y el clasificador de informalidad parten del mismo conjunto de entradas.</a:t>
            </a:r>
          </a:p>
        </p:txBody>
      </p:sp>
      <p:graphicFrame>
        <p:nvGraphicFramePr>
          <p:cNvPr id="5" name="Table 4"/>
          <p:cNvGraphicFramePr>
            <a:graphicFrameLocks noGrp="1"/>
          </p:cNvGraphicFramePr>
          <p:nvPr/>
        </p:nvGraphicFramePr>
        <p:xfrm>
          <a:off x="566928" y="2066543"/>
          <a:ext cx="5358383" cy="2240280"/>
        </p:xfrm>
        <a:graphic>
          <a:graphicData uri="http://schemas.openxmlformats.org/drawingml/2006/table">
            <a:tbl>
              <a:tblPr firstRow="1" bandRow="1">
                <a:tableStyleId>{5C22544A-7EE6-4342-B048-85BDC9FD1C3A}</a:tableStyleId>
              </a:tblPr>
              <a:tblGrid>
                <a:gridCol w="2464856"/>
                <a:gridCol w="1286012"/>
                <a:gridCol w="1607515"/>
              </a:tblGrid>
              <a:tr h="373380">
                <a:tc>
                  <a:txBody>
                    <a:bodyPr wrap="square"/>
                    <a:lstStyle/>
                    <a:p>
                      <a:r>
                        <a:rPr sz="1600" b="1">
                          <a:solidFill>
                            <a:srgbClr val="5F6875"/>
                          </a:solidFill>
                          <a:latin typeface="Calibri"/>
                        </a:rPr>
                        <a:t>Numérica (5)</a:t>
                      </a:r>
                    </a:p>
                  </a:txBody>
                  <a:tcPr marL="91440" marR="91440" marT="45720" marB="45720" anchor="ctr">
                    <a:solidFill>
                      <a:srgbClr val="F1EFE8"/>
                    </a:solidFill>
                  </a:tcPr>
                </a:tc>
                <a:tc>
                  <a:txBody>
                    <a:bodyPr wrap="square"/>
                    <a:lstStyle/>
                    <a:p>
                      <a:r>
                        <a:rPr sz="1600" b="1">
                          <a:solidFill>
                            <a:srgbClr val="5F6875"/>
                          </a:solidFill>
                          <a:latin typeface="Calibri"/>
                        </a:rPr>
                        <a:t>Rango</a:t>
                      </a:r>
                    </a:p>
                  </a:txBody>
                  <a:tcPr marL="91440" marR="91440" marT="45720" marB="45720" anchor="ctr">
                    <a:solidFill>
                      <a:srgbClr val="F1EFE8"/>
                    </a:solidFill>
                  </a:tcPr>
                </a:tc>
                <a:tc>
                  <a:txBody>
                    <a:bodyPr wrap="square"/>
                    <a:lstStyle/>
                    <a:p>
                      <a:r>
                        <a:rPr sz="1600" b="1">
                          <a:solidFill>
                            <a:srgbClr val="5F6875"/>
                          </a:solidFill>
                          <a:latin typeface="Calibri"/>
                        </a:rPr>
                        <a:t>Perfil de ejemplo</a:t>
                      </a:r>
                    </a:p>
                  </a:txBody>
                  <a:tcPr marL="91440" marR="91440" marT="45720" marB="45720" anchor="ctr">
                    <a:solidFill>
                      <a:srgbClr val="F1EFE8"/>
                    </a:solidFill>
                  </a:tcPr>
                </a:tc>
              </a:tr>
              <a:tr h="373380">
                <a:tc>
                  <a:txBody>
                    <a:bodyPr wrap="square"/>
                    <a:lstStyle/>
                    <a:p>
                      <a:r>
                        <a:rPr sz="1600" b="0">
                          <a:solidFill>
                            <a:srgbClr val="1E232B"/>
                          </a:solidFill>
                          <a:latin typeface="Calibri"/>
                        </a:rPr>
                        <a:t>Años de educación aprobados</a:t>
                      </a:r>
                    </a:p>
                  </a:txBody>
                  <a:tcPr marL="91440" marR="91440" marT="45720" marB="45720" anchor="ctr">
                    <a:solidFill>
                      <a:srgbClr val="FCFBF8"/>
                    </a:solidFill>
                  </a:tcPr>
                </a:tc>
                <a:tc>
                  <a:txBody>
                    <a:bodyPr wrap="square"/>
                    <a:lstStyle/>
                    <a:p>
                      <a:pPr algn="r"/>
                      <a:r>
                        <a:rPr sz="1600" b="0">
                          <a:solidFill>
                            <a:srgbClr val="1E232B"/>
                          </a:solidFill>
                          <a:latin typeface="Consolas"/>
                        </a:rPr>
                        <a:t>0 – 18</a:t>
                      </a:r>
                    </a:p>
                  </a:txBody>
                  <a:tcPr marL="91440" marR="91440" marT="45720" marB="45720" anchor="ctr">
                    <a:solidFill>
                      <a:srgbClr val="FCFBF8"/>
                    </a:solidFill>
                  </a:tcPr>
                </a:tc>
                <a:tc>
                  <a:txBody>
                    <a:bodyPr wrap="square"/>
                    <a:lstStyle/>
                    <a:p>
                      <a:pPr algn="r"/>
                      <a:r>
                        <a:rPr sz="1600" b="0">
                          <a:solidFill>
                            <a:srgbClr val="1E232B"/>
                          </a:solidFill>
                          <a:latin typeface="Consolas"/>
                        </a:rPr>
                        <a:t>11.0</a:t>
                      </a:r>
                    </a:p>
                  </a:txBody>
                  <a:tcPr marL="91440" marR="91440" marT="45720" marB="45720" anchor="ctr">
                    <a:solidFill>
                      <a:srgbClr val="FCFBF8"/>
                    </a:solidFill>
                  </a:tcPr>
                </a:tc>
              </a:tr>
              <a:tr h="373380">
                <a:tc>
                  <a:txBody>
                    <a:bodyPr wrap="square"/>
                    <a:lstStyle/>
                    <a:p>
                      <a:r>
                        <a:rPr sz="1600" b="0">
                          <a:solidFill>
                            <a:srgbClr val="1E232B"/>
                          </a:solidFill>
                          <a:latin typeface="Calibri"/>
                        </a:rPr>
                        <a:t>Edad (años)</a:t>
                      </a:r>
                    </a:p>
                  </a:txBody>
                  <a:tcPr marL="91440" marR="91440" marT="45720" marB="45720" anchor="ctr">
                    <a:solidFill>
                      <a:srgbClr val="FCFBF8"/>
                    </a:solidFill>
                  </a:tcPr>
                </a:tc>
                <a:tc>
                  <a:txBody>
                    <a:bodyPr wrap="square"/>
                    <a:lstStyle/>
                    <a:p>
                      <a:pPr algn="r"/>
                      <a:r>
                        <a:rPr sz="1600" b="0">
                          <a:solidFill>
                            <a:srgbClr val="1E232B"/>
                          </a:solidFill>
                          <a:latin typeface="Consolas"/>
                        </a:rPr>
                        <a:t>14 – 80</a:t>
                      </a:r>
                    </a:p>
                  </a:txBody>
                  <a:tcPr marL="91440" marR="91440" marT="45720" marB="45720" anchor="ctr">
                    <a:solidFill>
                      <a:srgbClr val="FCFBF8"/>
                    </a:solidFill>
                  </a:tcPr>
                </a:tc>
                <a:tc>
                  <a:txBody>
                    <a:bodyPr wrap="square"/>
                    <a:lstStyle/>
                    <a:p>
                      <a:pPr algn="r"/>
                      <a:r>
                        <a:rPr sz="1600" b="0">
                          <a:solidFill>
                            <a:srgbClr val="1E232B"/>
                          </a:solidFill>
                          <a:latin typeface="Consolas"/>
                        </a:rPr>
                        <a:t>44.0</a:t>
                      </a:r>
                    </a:p>
                  </a:txBody>
                  <a:tcPr marL="91440" marR="91440" marT="45720" marB="45720" anchor="ctr">
                    <a:solidFill>
                      <a:srgbClr val="FCFBF8"/>
                    </a:solidFill>
                  </a:tcPr>
                </a:tc>
              </a:tr>
              <a:tr h="373380">
                <a:tc>
                  <a:txBody>
                    <a:bodyPr wrap="square"/>
                    <a:lstStyle/>
                    <a:p>
                      <a:r>
                        <a:rPr sz="1600" b="0">
                          <a:solidFill>
                            <a:srgbClr val="1E232B"/>
                          </a:solidFill>
                          <a:latin typeface="Calibri"/>
                        </a:rPr>
                        <a:t>Experiencia potencial (años)</a:t>
                      </a:r>
                    </a:p>
                  </a:txBody>
                  <a:tcPr marL="91440" marR="91440" marT="45720" marB="45720" anchor="ctr">
                    <a:solidFill>
                      <a:srgbClr val="FCFBF8"/>
                    </a:solidFill>
                  </a:tcPr>
                </a:tc>
                <a:tc>
                  <a:txBody>
                    <a:bodyPr wrap="square"/>
                    <a:lstStyle/>
                    <a:p>
                      <a:pPr algn="r"/>
                      <a:r>
                        <a:rPr sz="1600" b="0">
                          <a:solidFill>
                            <a:srgbClr val="1E232B"/>
                          </a:solidFill>
                          <a:latin typeface="Consolas"/>
                        </a:rPr>
                        <a:t>0 – 89</a:t>
                      </a:r>
                    </a:p>
                  </a:txBody>
                  <a:tcPr marL="91440" marR="91440" marT="45720" marB="45720" anchor="ctr">
                    <a:solidFill>
                      <a:srgbClr val="FCFBF8"/>
                    </a:solidFill>
                  </a:tcPr>
                </a:tc>
                <a:tc>
                  <a:txBody>
                    <a:bodyPr wrap="square"/>
                    <a:lstStyle/>
                    <a:p>
                      <a:pPr algn="r"/>
                      <a:r>
                        <a:rPr sz="1600" b="0">
                          <a:solidFill>
                            <a:srgbClr val="1E232B"/>
                          </a:solidFill>
                          <a:latin typeface="Consolas"/>
                        </a:rPr>
                        <a:t>27.0</a:t>
                      </a:r>
                    </a:p>
                  </a:txBody>
                  <a:tcPr marL="91440" marR="91440" marT="45720" marB="45720" anchor="ctr">
                    <a:solidFill>
                      <a:srgbClr val="FCFBF8"/>
                    </a:solidFill>
                  </a:tcPr>
                </a:tc>
              </a:tr>
              <a:tr h="373380">
                <a:tc>
                  <a:txBody>
                    <a:bodyPr wrap="square"/>
                    <a:lstStyle/>
                    <a:p>
                      <a:r>
                        <a:rPr sz="1600" b="0">
                          <a:solidFill>
                            <a:srgbClr val="1E232B"/>
                          </a:solidFill>
                          <a:latin typeface="Calibri"/>
                        </a:rPr>
                        <a:t>Experiencia² (cuadrado)</a:t>
                      </a:r>
                    </a:p>
                  </a:txBody>
                  <a:tcPr marL="91440" marR="91440" marT="45720" marB="45720" anchor="ctr">
                    <a:solidFill>
                      <a:srgbClr val="FCFBF8"/>
                    </a:solidFill>
                  </a:tcPr>
                </a:tc>
                <a:tc>
                  <a:txBody>
                    <a:bodyPr wrap="square"/>
                    <a:lstStyle/>
                    <a:p>
                      <a:pPr algn="r"/>
                      <a:r>
                        <a:rPr sz="1600" b="0">
                          <a:solidFill>
                            <a:srgbClr val="1E232B"/>
                          </a:solidFill>
                          <a:latin typeface="Consolas"/>
                        </a:rPr>
                        <a:t>0 – 7921</a:t>
                      </a:r>
                    </a:p>
                  </a:txBody>
                  <a:tcPr marL="91440" marR="91440" marT="45720" marB="45720" anchor="ctr">
                    <a:solidFill>
                      <a:srgbClr val="FCFBF8"/>
                    </a:solidFill>
                  </a:tcPr>
                </a:tc>
                <a:tc>
                  <a:txBody>
                    <a:bodyPr wrap="square"/>
                    <a:lstStyle/>
                    <a:p>
                      <a:pPr algn="r"/>
                      <a:r>
                        <a:rPr sz="1600" b="0">
                          <a:solidFill>
                            <a:srgbClr val="1E232B"/>
                          </a:solidFill>
                          <a:latin typeface="Consolas"/>
                        </a:rPr>
                        <a:t>729.0</a:t>
                      </a:r>
                    </a:p>
                  </a:txBody>
                  <a:tcPr marL="91440" marR="91440" marT="45720" marB="45720" anchor="ctr">
                    <a:solidFill>
                      <a:srgbClr val="FCFBF8"/>
                    </a:solidFill>
                  </a:tcPr>
                </a:tc>
              </a:tr>
              <a:tr h="373380">
                <a:tc>
                  <a:txBody>
                    <a:bodyPr wrap="square"/>
                    <a:lstStyle/>
                    <a:p>
                      <a:r>
                        <a:rPr sz="1600" b="0">
                          <a:solidFill>
                            <a:srgbClr val="1E232B"/>
                          </a:solidFill>
                          <a:latin typeface="Calibri"/>
                        </a:rPr>
                        <a:t>Horas trabajadas por semana</a:t>
                      </a:r>
                    </a:p>
                  </a:txBody>
                  <a:tcPr marL="91440" marR="91440" marT="45720" marB="45720" anchor="ctr">
                    <a:solidFill>
                      <a:srgbClr val="FCFBF8"/>
                    </a:solidFill>
                  </a:tcPr>
                </a:tc>
                <a:tc>
                  <a:txBody>
                    <a:bodyPr wrap="square"/>
                    <a:lstStyle/>
                    <a:p>
                      <a:pPr algn="r"/>
                      <a:r>
                        <a:rPr sz="1600" b="0">
                          <a:solidFill>
                            <a:srgbClr val="1E232B"/>
                          </a:solidFill>
                          <a:latin typeface="Consolas"/>
                        </a:rPr>
                        <a:t>4 – 84</a:t>
                      </a:r>
                    </a:p>
                  </a:txBody>
                  <a:tcPr marL="91440" marR="91440" marT="45720" marB="45720" anchor="ctr">
                    <a:solidFill>
                      <a:srgbClr val="FCFBF8"/>
                    </a:solidFill>
                  </a:tcPr>
                </a:tc>
                <a:tc>
                  <a:txBody>
                    <a:bodyPr wrap="square"/>
                    <a:lstStyle/>
                    <a:p>
                      <a:pPr algn="r"/>
                      <a:r>
                        <a:rPr sz="1600" b="0">
                          <a:solidFill>
                            <a:srgbClr val="1E232B"/>
                          </a:solidFill>
                          <a:latin typeface="Consolas"/>
                        </a:rPr>
                        <a:t>45.0</a:t>
                      </a:r>
                    </a:p>
                  </a:txBody>
                  <a:tcPr marL="91440" marR="91440" marT="45720" marB="45720" anchor="ctr">
                    <a:solidFill>
                      <a:srgbClr val="FCFBF8"/>
                    </a:solidFill>
                  </a:tcPr>
                </a:tc>
              </a:tr>
            </a:tbl>
          </a:graphicData>
        </a:graphic>
      </p:graphicFrame>
      <p:graphicFrame>
        <p:nvGraphicFramePr>
          <p:cNvPr id="6" name="Table 5"/>
          <p:cNvGraphicFramePr>
            <a:graphicFrameLocks noGrp="1"/>
          </p:cNvGraphicFramePr>
          <p:nvPr/>
        </p:nvGraphicFramePr>
        <p:xfrm>
          <a:off x="6263640" y="2066543"/>
          <a:ext cx="5358382" cy="2606040"/>
        </p:xfrm>
        <a:graphic>
          <a:graphicData uri="http://schemas.openxmlformats.org/drawingml/2006/table">
            <a:tbl>
              <a:tblPr firstRow="1" bandRow="1">
                <a:tableStyleId>{5C22544A-7EE6-4342-B048-85BDC9FD1C3A}</a:tableStyleId>
              </a:tblPr>
              <a:tblGrid>
                <a:gridCol w="2464856"/>
                <a:gridCol w="1071676"/>
                <a:gridCol w="1821850"/>
              </a:tblGrid>
              <a:tr h="372291">
                <a:tc>
                  <a:txBody>
                    <a:bodyPr wrap="square"/>
                    <a:lstStyle/>
                    <a:p>
                      <a:r>
                        <a:rPr sz="1600" b="1">
                          <a:solidFill>
                            <a:srgbClr val="5F6875"/>
                          </a:solidFill>
                          <a:latin typeface="Calibri"/>
                        </a:rPr>
                        <a:t>Categórica (6)</a:t>
                      </a:r>
                    </a:p>
                  </a:txBody>
                  <a:tcPr marL="91440" marR="91440" marT="45720" marB="45720" anchor="ctr">
                    <a:solidFill>
                      <a:srgbClr val="F1EFE8"/>
                    </a:solidFill>
                  </a:tcPr>
                </a:tc>
                <a:tc>
                  <a:txBody>
                    <a:bodyPr wrap="square"/>
                    <a:lstStyle/>
                    <a:p>
                      <a:r>
                        <a:rPr sz="1600" b="1">
                          <a:solidFill>
                            <a:srgbClr val="5F6875"/>
                          </a:solidFill>
                          <a:latin typeface="Calibri"/>
                        </a:rPr>
                        <a:t>Niveles</a:t>
                      </a:r>
                    </a:p>
                  </a:txBody>
                  <a:tcPr marL="91440" marR="91440" marT="45720" marB="45720" anchor="ctr">
                    <a:solidFill>
                      <a:srgbClr val="F1EFE8"/>
                    </a:solidFill>
                  </a:tcPr>
                </a:tc>
                <a:tc>
                  <a:txBody>
                    <a:bodyPr wrap="square"/>
                    <a:lstStyle/>
                    <a:p>
                      <a:r>
                        <a:rPr sz="1600" b="1">
                          <a:solidFill>
                            <a:srgbClr val="5F6875"/>
                          </a:solidFill>
                          <a:latin typeface="Calibri"/>
                        </a:rPr>
                        <a:t>Perfil de ejemplo</a:t>
                      </a:r>
                    </a:p>
                  </a:txBody>
                  <a:tcPr marL="91440" marR="91440" marT="45720" marB="45720" anchor="ctr">
                    <a:solidFill>
                      <a:srgbClr val="F1EFE8"/>
                    </a:solidFill>
                  </a:tcPr>
                </a:tc>
              </a:tr>
              <a:tr h="372291">
                <a:tc>
                  <a:txBody>
                    <a:bodyPr wrap="square"/>
                    <a:lstStyle/>
                    <a:p>
                      <a:r>
                        <a:rPr sz="1600" b="0">
                          <a:solidFill>
                            <a:srgbClr val="1E232B"/>
                          </a:solidFill>
                          <a:latin typeface="Calibri"/>
                        </a:rPr>
                        <a:t>Sexo</a:t>
                      </a:r>
                    </a:p>
                  </a:txBody>
                  <a:tcPr marL="91440" marR="91440" marT="45720" marB="45720" anchor="ctr">
                    <a:solidFill>
                      <a:srgbClr val="FCFBF8"/>
                    </a:solidFill>
                  </a:tcPr>
                </a:tc>
                <a:tc>
                  <a:txBody>
                    <a:bodyPr wrap="square"/>
                    <a:lstStyle/>
                    <a:p>
                      <a:pPr algn="r"/>
                      <a:r>
                        <a:rPr sz="1600" b="0">
                          <a:solidFill>
                            <a:srgbClr val="1E232B"/>
                          </a:solidFill>
                          <a:latin typeface="Consolas"/>
                        </a:rPr>
                        <a:t>2</a:t>
                      </a:r>
                    </a:p>
                  </a:txBody>
                  <a:tcPr marL="91440" marR="91440" marT="45720" marB="45720" anchor="ctr">
                    <a:solidFill>
                      <a:srgbClr val="FCFBF8"/>
                    </a:solidFill>
                  </a:tcPr>
                </a:tc>
                <a:tc>
                  <a:txBody>
                    <a:bodyPr wrap="square"/>
                    <a:lstStyle/>
                    <a:p>
                      <a:pPr algn="r"/>
                      <a:r>
                        <a:rPr sz="1600" b="0">
                          <a:solidFill>
                            <a:srgbClr val="1E232B"/>
                          </a:solidFill>
                          <a:latin typeface="Consolas"/>
                        </a:rPr>
                        <a:t>Hombre</a:t>
                      </a:r>
                    </a:p>
                  </a:txBody>
                  <a:tcPr marL="91440" marR="91440" marT="45720" marB="45720" anchor="ctr">
                    <a:solidFill>
                      <a:srgbClr val="FCFBF8"/>
                    </a:solidFill>
                  </a:tcPr>
                </a:tc>
              </a:tr>
              <a:tr h="372291">
                <a:tc>
                  <a:txBody>
                    <a:bodyPr wrap="square"/>
                    <a:lstStyle/>
                    <a:p>
                      <a:r>
                        <a:rPr sz="1600" b="0">
                          <a:solidFill>
                            <a:srgbClr val="1E232B"/>
                          </a:solidFill>
                          <a:latin typeface="Calibri"/>
                        </a:rPr>
                        <a:t>Área de residencia</a:t>
                      </a:r>
                    </a:p>
                  </a:txBody>
                  <a:tcPr marL="91440" marR="91440" marT="45720" marB="45720" anchor="ctr">
                    <a:solidFill>
                      <a:srgbClr val="FCFBF8"/>
                    </a:solidFill>
                  </a:tcPr>
                </a:tc>
                <a:tc>
                  <a:txBody>
                    <a:bodyPr wrap="square"/>
                    <a:lstStyle/>
                    <a:p>
                      <a:pPr algn="r"/>
                      <a:r>
                        <a:rPr sz="1600" b="0">
                          <a:solidFill>
                            <a:srgbClr val="1E232B"/>
                          </a:solidFill>
                          <a:latin typeface="Consolas"/>
                        </a:rPr>
                        <a:t>2</a:t>
                      </a:r>
                    </a:p>
                  </a:txBody>
                  <a:tcPr marL="91440" marR="91440" marT="45720" marB="45720" anchor="ctr">
                    <a:solidFill>
                      <a:srgbClr val="FCFBF8"/>
                    </a:solidFill>
                  </a:tcPr>
                </a:tc>
                <a:tc>
                  <a:txBody>
                    <a:bodyPr wrap="square"/>
                    <a:lstStyle/>
                    <a:p>
                      <a:pPr algn="r"/>
                      <a:r>
                        <a:rPr sz="1600" b="0">
                          <a:solidFill>
                            <a:srgbClr val="1E232B"/>
                          </a:solidFill>
                          <a:latin typeface="Consolas"/>
                        </a:rPr>
                        <a:t>Urbana</a:t>
                      </a:r>
                    </a:p>
                  </a:txBody>
                  <a:tcPr marL="91440" marR="91440" marT="45720" marB="45720" anchor="ctr">
                    <a:solidFill>
                      <a:srgbClr val="FCFBF8"/>
                    </a:solidFill>
                  </a:tcPr>
                </a:tc>
              </a:tr>
              <a:tr h="372291">
                <a:tc>
                  <a:txBody>
                    <a:bodyPr wrap="square"/>
                    <a:lstStyle/>
                    <a:p>
                      <a:r>
                        <a:rPr sz="1600" b="0">
                          <a:solidFill>
                            <a:srgbClr val="1E232B"/>
                          </a:solidFill>
                          <a:latin typeface="Calibri"/>
                        </a:rPr>
                        <a:t>Dominio geográfico</a:t>
                      </a:r>
                    </a:p>
                  </a:txBody>
                  <a:tcPr marL="91440" marR="91440" marT="45720" marB="45720" anchor="ctr">
                    <a:solidFill>
                      <a:srgbClr val="FCFBF8"/>
                    </a:solidFill>
                  </a:tcPr>
                </a:tc>
                <a:tc>
                  <a:txBody>
                    <a:bodyPr wrap="square"/>
                    <a:lstStyle/>
                    <a:p>
                      <a:pPr algn="r"/>
                      <a:r>
                        <a:rPr sz="1600" b="0">
                          <a:solidFill>
                            <a:srgbClr val="1E232B"/>
                          </a:solidFill>
                          <a:latin typeface="Consolas"/>
                        </a:rPr>
                        <a:t>8</a:t>
                      </a:r>
                    </a:p>
                  </a:txBody>
                  <a:tcPr marL="91440" marR="91440" marT="45720" marB="45720" anchor="ctr">
                    <a:solidFill>
                      <a:srgbClr val="FCFBF8"/>
                    </a:solidFill>
                  </a:tcPr>
                </a:tc>
                <a:tc>
                  <a:txBody>
                    <a:bodyPr wrap="square"/>
                    <a:lstStyle/>
                    <a:p>
                      <a:pPr algn="r"/>
                      <a:r>
                        <a:rPr sz="1600" b="0">
                          <a:solidFill>
                            <a:srgbClr val="1E232B"/>
                          </a:solidFill>
                          <a:latin typeface="Consolas"/>
                        </a:rPr>
                        <a:t>Selva</a:t>
                      </a:r>
                    </a:p>
                  </a:txBody>
                  <a:tcPr marL="91440" marR="91440" marT="45720" marB="45720" anchor="ctr">
                    <a:solidFill>
                      <a:srgbClr val="FCFBF8"/>
                    </a:solidFill>
                  </a:tcPr>
                </a:tc>
              </a:tr>
              <a:tr h="372291">
                <a:tc>
                  <a:txBody>
                    <a:bodyPr wrap="square"/>
                    <a:lstStyle/>
                    <a:p>
                      <a:r>
                        <a:rPr sz="1600" b="0">
                          <a:solidFill>
                            <a:srgbClr val="1E232B"/>
                          </a:solidFill>
                          <a:latin typeface="Calibri"/>
                        </a:rPr>
                        <a:t>Rama de actividad (agrupada)</a:t>
                      </a:r>
                    </a:p>
                  </a:txBody>
                  <a:tcPr marL="91440" marR="91440" marT="45720" marB="45720" anchor="ctr">
                    <a:solidFill>
                      <a:srgbClr val="FCFBF8"/>
                    </a:solidFill>
                  </a:tcPr>
                </a:tc>
                <a:tc>
                  <a:txBody>
                    <a:bodyPr wrap="square"/>
                    <a:lstStyle/>
                    <a:p>
                      <a:pPr algn="r"/>
                      <a:r>
                        <a:rPr sz="1600" b="0">
                          <a:solidFill>
                            <a:srgbClr val="1E232B"/>
                          </a:solidFill>
                          <a:latin typeface="Consolas"/>
                        </a:rPr>
                        <a:t>13</a:t>
                      </a:r>
                    </a:p>
                  </a:txBody>
                  <a:tcPr marL="91440" marR="91440" marT="45720" marB="45720" anchor="ctr">
                    <a:solidFill>
                      <a:srgbClr val="FCFBF8"/>
                    </a:solidFill>
                  </a:tcPr>
                </a:tc>
                <a:tc>
                  <a:txBody>
                    <a:bodyPr wrap="square"/>
                    <a:lstStyle/>
                    <a:p>
                      <a:pPr algn="r"/>
                      <a:r>
                        <a:rPr sz="1600" b="0">
                          <a:solidFill>
                            <a:srgbClr val="1E232B"/>
                          </a:solidFill>
                          <a:latin typeface="Consolas"/>
                        </a:rPr>
                        <a:t>Agropecuario y pesca</a:t>
                      </a:r>
                    </a:p>
                  </a:txBody>
                  <a:tcPr marL="91440" marR="91440" marT="45720" marB="45720" anchor="ctr">
                    <a:solidFill>
                      <a:srgbClr val="FCFBF8"/>
                    </a:solidFill>
                  </a:tcPr>
                </a:tc>
              </a:tr>
              <a:tr h="372291">
                <a:tc>
                  <a:txBody>
                    <a:bodyPr wrap="square"/>
                    <a:lstStyle/>
                    <a:p>
                      <a:r>
                        <a:rPr sz="1600" b="0">
                          <a:solidFill>
                            <a:srgbClr val="1E232B"/>
                          </a:solidFill>
                          <a:latin typeface="Calibri"/>
                        </a:rPr>
                        <a:t>Tamaño de la empresa (personas)</a:t>
                      </a:r>
                    </a:p>
                  </a:txBody>
                  <a:tcPr marL="91440" marR="91440" marT="45720" marB="45720" anchor="ctr">
                    <a:solidFill>
                      <a:srgbClr val="FCFBF8"/>
                    </a:solidFill>
                  </a:tcPr>
                </a:tc>
                <a:tc>
                  <a:txBody>
                    <a:bodyPr wrap="square"/>
                    <a:lstStyle/>
                    <a:p>
                      <a:pPr algn="r"/>
                      <a:r>
                        <a:rPr sz="1600" b="0">
                          <a:solidFill>
                            <a:srgbClr val="1E232B"/>
                          </a:solidFill>
                          <a:latin typeface="Consolas"/>
                        </a:rPr>
                        <a:t>5</a:t>
                      </a:r>
                    </a:p>
                  </a:txBody>
                  <a:tcPr marL="91440" marR="91440" marT="45720" marB="45720" anchor="ctr">
                    <a:solidFill>
                      <a:srgbClr val="FCFBF8"/>
                    </a:solidFill>
                  </a:tcPr>
                </a:tc>
                <a:tc>
                  <a:txBody>
                    <a:bodyPr wrap="square"/>
                    <a:lstStyle/>
                    <a:p>
                      <a:pPr algn="r"/>
                      <a:r>
                        <a:rPr sz="1600" b="0">
                          <a:solidFill>
                            <a:srgbClr val="1E232B"/>
                          </a:solidFill>
                          <a:latin typeface="Consolas"/>
                        </a:rPr>
                        <a:t>Hasta 20</a:t>
                      </a:r>
                    </a:p>
                  </a:txBody>
                  <a:tcPr marL="91440" marR="91440" marT="45720" marB="45720" anchor="ctr">
                    <a:solidFill>
                      <a:srgbClr val="FCFBF8"/>
                    </a:solidFill>
                  </a:tcPr>
                </a:tc>
              </a:tr>
              <a:tr h="372294">
                <a:tc>
                  <a:txBody>
                    <a:bodyPr wrap="square"/>
                    <a:lstStyle/>
                    <a:p>
                      <a:r>
                        <a:rPr sz="1600" b="0">
                          <a:solidFill>
                            <a:srgbClr val="1E232B"/>
                          </a:solidFill>
                          <a:latin typeface="Calibri"/>
                        </a:rPr>
                        <a:t>Categoría ocupacional</a:t>
                      </a:r>
                    </a:p>
                  </a:txBody>
                  <a:tcPr marL="91440" marR="91440" marT="45720" marB="45720" anchor="ctr">
                    <a:solidFill>
                      <a:srgbClr val="FCFBF8"/>
                    </a:solidFill>
                  </a:tcPr>
                </a:tc>
                <a:tc>
                  <a:txBody>
                    <a:bodyPr wrap="square"/>
                    <a:lstStyle/>
                    <a:p>
                      <a:pPr algn="r"/>
                      <a:r>
                        <a:rPr sz="1600" b="0">
                          <a:solidFill>
                            <a:srgbClr val="1E232B"/>
                          </a:solidFill>
                          <a:latin typeface="Consolas"/>
                        </a:rPr>
                        <a:t>5</a:t>
                      </a:r>
                    </a:p>
                  </a:txBody>
                  <a:tcPr marL="91440" marR="91440" marT="45720" marB="45720" anchor="ctr">
                    <a:solidFill>
                      <a:srgbClr val="FCFBF8"/>
                    </a:solidFill>
                  </a:tcPr>
                </a:tc>
                <a:tc>
                  <a:txBody>
                    <a:bodyPr wrap="square"/>
                    <a:lstStyle/>
                    <a:p>
                      <a:pPr algn="r"/>
                      <a:r>
                        <a:rPr sz="1600" b="0">
                          <a:solidFill>
                            <a:srgbClr val="1E232B"/>
                          </a:solidFill>
                          <a:latin typeface="Consolas"/>
                        </a:rPr>
                        <a:t>Independiente</a:t>
                      </a:r>
                    </a:p>
                  </a:txBody>
                  <a:tcPr marL="91440" marR="91440" marT="45720" marB="45720" anchor="ctr">
                    <a:solidFill>
                      <a:srgbClr val="FCFBF8"/>
                    </a:solidFill>
                  </a:tcPr>
                </a:tc>
              </a:tr>
            </a:tbl>
          </a:graphicData>
        </a:graphic>
      </p:graphicFrame>
      <p:sp>
        <p:nvSpPr>
          <p:cNvPr id="7" name="Rounded Rectangle 6"/>
          <p:cNvSpPr/>
          <p:nvPr/>
        </p:nvSpPr>
        <p:spPr>
          <a:xfrm>
            <a:off x="566928" y="5157216"/>
            <a:ext cx="11055096" cy="109728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lnSpc>
                <a:spcPct val="106000"/>
              </a:lnSpc>
              <a:spcAft>
                <a:spcPts val="0"/>
              </a:spcAft>
            </a:pPr>
            <a:r>
              <a:rPr sz="1800" b="0">
                <a:solidFill>
                  <a:srgbClr val="1E232B"/>
                </a:solidFill>
                <a:latin typeface="Calibri"/>
              </a:rPr>
              <a:t>Las 6 categóricas aportan 35 niveles, que el pipeline convierte en columnas indicadoras (one-hot) dentro del propio modelo. Las 5 numéricas entran tal cual: experiencia² es la única derivada, y la calcula la app, no el usuario.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models/feature_schema.json (features, tipo, rango y opciones) · docs/presentacion/salida_consola_verificacion.txt (perfil)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B · LOS MODELOS    ·    LÁMINA 5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Random Forest y Gradient Boosting empatan en el error del regresor</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Los dos algoritmos de ensamble del curso, sobre los mismos datos, los mismos 5 pliegues y la misma semilla.</a:t>
            </a:r>
          </a:p>
        </p:txBody>
      </p:sp>
      <p:pic>
        <p:nvPicPr>
          <p:cNvPr id="5" name="Picture 4" descr="fig_reg_rf_gb.png"/>
          <p:cNvPicPr>
            <a:picLocks noChangeAspect="1"/>
          </p:cNvPicPr>
          <p:nvPr/>
        </p:nvPicPr>
        <p:blipFill>
          <a:blip r:embed="rId2"/>
          <a:stretch>
            <a:fillRect/>
          </a:stretch>
        </p:blipFill>
        <p:spPr>
          <a:xfrm>
            <a:off x="566928" y="2457382"/>
            <a:ext cx="7187184" cy="3131954"/>
          </a:xfrm>
          <a:prstGeom prst="rect">
            <a:avLst/>
          </a:prstGeom>
        </p:spPr>
      </p:pic>
      <p:sp>
        <p:nvSpPr>
          <p:cNvPr id="6" name="Rounded Rectangle 5"/>
          <p:cNvSpPr/>
          <p:nvPr/>
        </p:nvSpPr>
        <p:spPr>
          <a:xfrm>
            <a:off x="7973568" y="2157984"/>
            <a:ext cx="3648456" cy="1874519"/>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GRADIENT BOOSTING · E9</a:t>
            </a:r>
          </a:p>
          <a:p>
            <a:pPr>
              <a:lnSpc>
                <a:spcPct val="95000"/>
              </a:lnSpc>
              <a:spcAft>
                <a:spcPts val="600"/>
              </a:spcAft>
            </a:pPr>
            <a:r>
              <a:rPr sz="3400" b="1">
                <a:solidFill>
                  <a:srgbClr val="4353CC"/>
                </a:solidFill>
                <a:latin typeface="Consolas"/>
              </a:rPr>
              <a:t>S/ 610,9</a:t>
            </a:r>
          </a:p>
          <a:p>
            <a:pPr>
              <a:lnSpc>
                <a:spcPct val="105000"/>
              </a:lnSpc>
              <a:spcAft>
                <a:spcPts val="0"/>
              </a:spcAft>
            </a:pPr>
            <a:r>
              <a:rPr sz="1800" b="0">
                <a:solidFill>
                  <a:srgbClr val="49525F"/>
                </a:solidFill>
                <a:latin typeface="Calibri"/>
              </a:rPr>
              <a:t>Error absoluto medio en validación cruzada. Es el que se desplegó.</a:t>
            </a:r>
          </a:p>
        </p:txBody>
      </p:sp>
      <p:sp>
        <p:nvSpPr>
          <p:cNvPr id="7" name="Rounded Rectangle 6"/>
          <p:cNvSpPr/>
          <p:nvPr/>
        </p:nvSpPr>
        <p:spPr>
          <a:xfrm>
            <a:off x="7973568" y="4169663"/>
            <a:ext cx="3648456" cy="1874519"/>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RANDOM FOREST · E8</a:t>
            </a:r>
          </a:p>
          <a:p>
            <a:pPr>
              <a:lnSpc>
                <a:spcPct val="95000"/>
              </a:lnSpc>
              <a:spcAft>
                <a:spcPts val="600"/>
              </a:spcAft>
            </a:pPr>
            <a:r>
              <a:rPr sz="3400" b="1">
                <a:solidFill>
                  <a:srgbClr val="49525F"/>
                </a:solidFill>
                <a:latin typeface="Consolas"/>
              </a:rPr>
              <a:t>S/ 613,0</a:t>
            </a:r>
          </a:p>
          <a:p>
            <a:pPr>
              <a:lnSpc>
                <a:spcPct val="105000"/>
              </a:lnSpc>
              <a:spcAft>
                <a:spcPts val="0"/>
              </a:spcAft>
            </a:pPr>
            <a:r>
              <a:rPr sz="1800" b="0">
                <a:solidFill>
                  <a:srgbClr val="49525F"/>
                </a:solidFill>
                <a:latin typeface="Calibri"/>
              </a:rPr>
              <a:t>El mismo error, a dos soles. Elegir uno u otro no cambia lo que ve el usuario.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models/ui_artifacts.json (torneo.tabla) · src/04_torneo_regresion.py · artefactos del commit ffaed0b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B · LOS MODELOS    ·    LÁMINA 6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En clasificación gana Gradient Boosting, también por poco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Los tres algoritmos con las mismas cuatro métricas: dos ensambles y un modelo lineal.</a:t>
            </a:r>
          </a:p>
        </p:txBody>
      </p:sp>
      <p:graphicFrame>
        <p:nvGraphicFramePr>
          <p:cNvPr id="5" name="Table 4"/>
          <p:cNvGraphicFramePr>
            <a:graphicFrameLocks noGrp="1"/>
          </p:cNvGraphicFramePr>
          <p:nvPr/>
        </p:nvGraphicFramePr>
        <p:xfrm>
          <a:off x="566928" y="2066543"/>
          <a:ext cx="11055094" cy="1874519"/>
        </p:xfrm>
        <a:graphic>
          <a:graphicData uri="http://schemas.openxmlformats.org/drawingml/2006/table">
            <a:tbl>
              <a:tblPr firstRow="1" bandRow="1">
                <a:tableStyleId>{5C22544A-7EE6-4342-B048-85BDC9FD1C3A}</a:tableStyleId>
              </a:tblPr>
              <a:tblGrid>
                <a:gridCol w="3758732"/>
                <a:gridCol w="1768815"/>
                <a:gridCol w="1879366"/>
                <a:gridCol w="1879366"/>
                <a:gridCol w="1768815"/>
              </a:tblGrid>
              <a:tr h="468629">
                <a:tc>
                  <a:txBody>
                    <a:bodyPr wrap="square"/>
                    <a:lstStyle/>
                    <a:p>
                      <a:r>
                        <a:rPr sz="1600" b="1">
                          <a:solidFill>
                            <a:srgbClr val="5F6875"/>
                          </a:solidFill>
                          <a:latin typeface="Calibri"/>
                        </a:rPr>
                        <a:t>Algoritmo</a:t>
                      </a:r>
                    </a:p>
                  </a:txBody>
                  <a:tcPr marL="91440" marR="91440" marT="45720" marB="45720" anchor="ctr">
                    <a:solidFill>
                      <a:srgbClr val="F1EFE8"/>
                    </a:solidFill>
                  </a:tcPr>
                </a:tc>
                <a:tc>
                  <a:txBody>
                    <a:bodyPr wrap="square"/>
                    <a:lstStyle/>
                    <a:p>
                      <a:r>
                        <a:rPr sz="1600" b="1">
                          <a:solidFill>
                            <a:srgbClr val="5F6875"/>
                          </a:solidFill>
                          <a:latin typeface="Calibri"/>
                        </a:rPr>
                        <a:t>PR-AUC cv</a:t>
                      </a:r>
                    </a:p>
                  </a:txBody>
                  <a:tcPr marL="91440" marR="91440" marT="45720" marB="45720" anchor="ctr">
                    <a:solidFill>
                      <a:srgbClr val="F1EFE8"/>
                    </a:solidFill>
                  </a:tcPr>
                </a:tc>
                <a:tc>
                  <a:txBody>
                    <a:bodyPr wrap="square"/>
                    <a:lstStyle/>
                    <a:p>
                      <a:r>
                        <a:rPr sz="1600" b="1">
                          <a:solidFill>
                            <a:srgbClr val="5F6875"/>
                          </a:solidFill>
                          <a:latin typeface="Calibri"/>
                        </a:rPr>
                        <a:t>PR-AUC test</a:t>
                      </a:r>
                    </a:p>
                  </a:txBody>
                  <a:tcPr marL="91440" marR="91440" marT="45720" marB="45720" anchor="ctr">
                    <a:solidFill>
                      <a:srgbClr val="F1EFE8"/>
                    </a:solidFill>
                  </a:tcPr>
                </a:tc>
                <a:tc>
                  <a:txBody>
                    <a:bodyPr wrap="square"/>
                    <a:lstStyle/>
                    <a:p>
                      <a:r>
                        <a:rPr sz="1600" b="1">
                          <a:solidFill>
                            <a:srgbClr val="5F6875"/>
                          </a:solidFill>
                          <a:latin typeface="Calibri"/>
                        </a:rPr>
                        <a:t>ROC-AUC test</a:t>
                      </a:r>
                    </a:p>
                  </a:txBody>
                  <a:tcPr marL="91440" marR="91440" marT="45720" marB="45720" anchor="ctr">
                    <a:solidFill>
                      <a:srgbClr val="F1EFE8"/>
                    </a:solidFill>
                  </a:tcPr>
                </a:tc>
                <a:tc>
                  <a:txBody>
                    <a:bodyPr wrap="square"/>
                    <a:lstStyle/>
                    <a:p>
                      <a:r>
                        <a:rPr sz="1600" b="1">
                          <a:solidFill>
                            <a:srgbClr val="5F6875"/>
                          </a:solidFill>
                          <a:latin typeface="Calibri"/>
                        </a:rPr>
                        <a:t>Brier test</a:t>
                      </a:r>
                    </a:p>
                  </a:txBody>
                  <a:tcPr marL="91440" marR="91440" marT="45720" marB="45720" anchor="ctr">
                    <a:solidFill>
                      <a:srgbClr val="F1EFE8"/>
                    </a:solidFill>
                  </a:tcPr>
                </a:tc>
              </a:tr>
              <a:tr h="468629">
                <a:tc>
                  <a:txBody>
                    <a:bodyPr wrap="square"/>
                    <a:lstStyle/>
                    <a:p>
                      <a:r>
                        <a:rPr sz="1800" b="1">
                          <a:solidFill>
                            <a:srgbClr val="1E232B"/>
                          </a:solidFill>
                          <a:latin typeface="Calibri"/>
                        </a:rPr>
                        <a:t>Gradient Boosting  ·  desplegado</a:t>
                      </a:r>
                    </a:p>
                  </a:txBody>
                  <a:tcPr marL="91440" marR="91440" marT="45720" marB="45720" anchor="ctr">
                    <a:solidFill>
                      <a:srgbClr val="E6E8FA"/>
                    </a:solidFill>
                  </a:tcPr>
                </a:tc>
                <a:tc>
                  <a:txBody>
                    <a:bodyPr wrap="square"/>
                    <a:lstStyle/>
                    <a:p>
                      <a:pPr algn="r"/>
                      <a:r>
                        <a:rPr sz="1800" b="1">
                          <a:solidFill>
                            <a:srgbClr val="1E232B"/>
                          </a:solidFill>
                          <a:latin typeface="Consolas"/>
                        </a:rPr>
                        <a:t>0,9626</a:t>
                      </a:r>
                    </a:p>
                  </a:txBody>
                  <a:tcPr marL="91440" marR="91440" marT="45720" marB="45720" anchor="ctr">
                    <a:solidFill>
                      <a:srgbClr val="E6E8FA"/>
                    </a:solidFill>
                  </a:tcPr>
                </a:tc>
                <a:tc>
                  <a:txBody>
                    <a:bodyPr wrap="square"/>
                    <a:lstStyle/>
                    <a:p>
                      <a:pPr algn="r"/>
                      <a:r>
                        <a:rPr sz="1800" b="1">
                          <a:solidFill>
                            <a:srgbClr val="1E232B"/>
                          </a:solidFill>
                          <a:latin typeface="Consolas"/>
                        </a:rPr>
                        <a:t>0,9605</a:t>
                      </a:r>
                    </a:p>
                  </a:txBody>
                  <a:tcPr marL="91440" marR="91440" marT="45720" marB="45720" anchor="ctr">
                    <a:solidFill>
                      <a:srgbClr val="E6E8FA"/>
                    </a:solidFill>
                  </a:tcPr>
                </a:tc>
                <a:tc>
                  <a:txBody>
                    <a:bodyPr wrap="square"/>
                    <a:lstStyle/>
                    <a:p>
                      <a:pPr algn="r"/>
                      <a:r>
                        <a:rPr sz="1800" b="1">
                          <a:solidFill>
                            <a:srgbClr val="1E232B"/>
                          </a:solidFill>
                          <a:latin typeface="Consolas"/>
                        </a:rPr>
                        <a:t>0,9274</a:t>
                      </a:r>
                    </a:p>
                  </a:txBody>
                  <a:tcPr marL="91440" marR="91440" marT="45720" marB="45720" anchor="ctr">
                    <a:solidFill>
                      <a:srgbClr val="E6E8FA"/>
                    </a:solidFill>
                  </a:tcPr>
                </a:tc>
                <a:tc>
                  <a:txBody>
                    <a:bodyPr wrap="square"/>
                    <a:lstStyle/>
                    <a:p>
                      <a:pPr algn="r"/>
                      <a:r>
                        <a:rPr sz="1800" b="1">
                          <a:solidFill>
                            <a:srgbClr val="1E232B"/>
                          </a:solidFill>
                          <a:latin typeface="Consolas"/>
                        </a:rPr>
                        <a:t>0,0974</a:t>
                      </a:r>
                    </a:p>
                  </a:txBody>
                  <a:tcPr marL="91440" marR="91440" marT="45720" marB="45720" anchor="ctr">
                    <a:solidFill>
                      <a:srgbClr val="E6E8FA"/>
                    </a:solidFill>
                  </a:tcPr>
                </a:tc>
              </a:tr>
              <a:tr h="468629">
                <a:tc>
                  <a:txBody>
                    <a:bodyPr wrap="square"/>
                    <a:lstStyle/>
                    <a:p>
                      <a:r>
                        <a:rPr sz="1800" b="0">
                          <a:solidFill>
                            <a:srgbClr val="1E232B"/>
                          </a:solidFill>
                          <a:latin typeface="Calibri"/>
                        </a:rPr>
                        <a:t>Random Forest</a:t>
                      </a:r>
                    </a:p>
                  </a:txBody>
                  <a:tcPr marL="91440" marR="91440" marT="45720" marB="45720" anchor="ctr">
                    <a:solidFill>
                      <a:srgbClr val="FCFBF8"/>
                    </a:solidFill>
                  </a:tcPr>
                </a:tc>
                <a:tc>
                  <a:txBody>
                    <a:bodyPr wrap="square"/>
                    <a:lstStyle/>
                    <a:p>
                      <a:pPr algn="r"/>
                      <a:r>
                        <a:rPr sz="1800" b="0">
                          <a:solidFill>
                            <a:srgbClr val="1E232B"/>
                          </a:solidFill>
                          <a:latin typeface="Consolas"/>
                        </a:rPr>
                        <a:t>0,9619</a:t>
                      </a:r>
                    </a:p>
                  </a:txBody>
                  <a:tcPr marL="91440" marR="91440" marT="45720" marB="45720" anchor="ctr">
                    <a:solidFill>
                      <a:srgbClr val="FCFBF8"/>
                    </a:solidFill>
                  </a:tcPr>
                </a:tc>
                <a:tc>
                  <a:txBody>
                    <a:bodyPr wrap="square"/>
                    <a:lstStyle/>
                    <a:p>
                      <a:pPr algn="r"/>
                      <a:r>
                        <a:rPr sz="1800" b="0">
                          <a:solidFill>
                            <a:srgbClr val="1E232B"/>
                          </a:solidFill>
                          <a:latin typeface="Consolas"/>
                        </a:rPr>
                        <a:t>0,9589</a:t>
                      </a:r>
                    </a:p>
                  </a:txBody>
                  <a:tcPr marL="91440" marR="91440" marT="45720" marB="45720" anchor="ctr">
                    <a:solidFill>
                      <a:srgbClr val="FCFBF8"/>
                    </a:solidFill>
                  </a:tcPr>
                </a:tc>
                <a:tc>
                  <a:txBody>
                    <a:bodyPr wrap="square"/>
                    <a:lstStyle/>
                    <a:p>
                      <a:pPr algn="r"/>
                      <a:r>
                        <a:rPr sz="1800" b="0">
                          <a:solidFill>
                            <a:srgbClr val="1E232B"/>
                          </a:solidFill>
                          <a:latin typeface="Consolas"/>
                        </a:rPr>
                        <a:t>0,9260</a:t>
                      </a:r>
                    </a:p>
                  </a:txBody>
                  <a:tcPr marL="91440" marR="91440" marT="45720" marB="45720" anchor="ctr">
                    <a:solidFill>
                      <a:srgbClr val="FCFBF8"/>
                    </a:solidFill>
                  </a:tcPr>
                </a:tc>
                <a:tc>
                  <a:txBody>
                    <a:bodyPr wrap="square"/>
                    <a:lstStyle/>
                    <a:p>
                      <a:pPr algn="r"/>
                      <a:r>
                        <a:rPr sz="1800" b="0">
                          <a:solidFill>
                            <a:srgbClr val="1E232B"/>
                          </a:solidFill>
                          <a:latin typeface="Consolas"/>
                        </a:rPr>
                        <a:t>0,0981</a:t>
                      </a:r>
                    </a:p>
                  </a:txBody>
                  <a:tcPr marL="91440" marR="91440" marT="45720" marB="45720" anchor="ctr">
                    <a:solidFill>
                      <a:srgbClr val="FCFBF8"/>
                    </a:solidFill>
                  </a:tcPr>
                </a:tc>
              </a:tr>
              <a:tr h="468632">
                <a:tc>
                  <a:txBody>
                    <a:bodyPr wrap="square"/>
                    <a:lstStyle/>
                    <a:p>
                      <a:r>
                        <a:rPr sz="1800" b="0">
                          <a:solidFill>
                            <a:srgbClr val="1E232B"/>
                          </a:solidFill>
                          <a:latin typeface="Calibri"/>
                        </a:rPr>
                        <a:t>Regresión logística</a:t>
                      </a:r>
                    </a:p>
                  </a:txBody>
                  <a:tcPr marL="91440" marR="91440" marT="45720" marB="45720" anchor="ctr">
                    <a:solidFill>
                      <a:srgbClr val="FCFBF8"/>
                    </a:solidFill>
                  </a:tcPr>
                </a:tc>
                <a:tc>
                  <a:txBody>
                    <a:bodyPr wrap="square"/>
                    <a:lstStyle/>
                    <a:p>
                      <a:pPr algn="r"/>
                      <a:r>
                        <a:rPr sz="1800" b="0">
                          <a:solidFill>
                            <a:srgbClr val="1E232B"/>
                          </a:solidFill>
                          <a:latin typeface="Consolas"/>
                        </a:rPr>
                        <a:t>0,9553</a:t>
                      </a:r>
                    </a:p>
                  </a:txBody>
                  <a:tcPr marL="91440" marR="91440" marT="45720" marB="45720" anchor="ctr">
                    <a:solidFill>
                      <a:srgbClr val="FCFBF8"/>
                    </a:solidFill>
                  </a:tcPr>
                </a:tc>
                <a:tc>
                  <a:txBody>
                    <a:bodyPr wrap="square"/>
                    <a:lstStyle/>
                    <a:p>
                      <a:pPr algn="r"/>
                      <a:r>
                        <a:rPr sz="1800" b="0">
                          <a:solidFill>
                            <a:srgbClr val="1E232B"/>
                          </a:solidFill>
                          <a:latin typeface="Consolas"/>
                        </a:rPr>
                        <a:t>0,9526</a:t>
                      </a:r>
                    </a:p>
                  </a:txBody>
                  <a:tcPr marL="91440" marR="91440" marT="45720" marB="45720" anchor="ctr">
                    <a:solidFill>
                      <a:srgbClr val="FCFBF8"/>
                    </a:solidFill>
                  </a:tcPr>
                </a:tc>
                <a:tc>
                  <a:txBody>
                    <a:bodyPr wrap="square"/>
                    <a:lstStyle/>
                    <a:p>
                      <a:pPr algn="r"/>
                      <a:r>
                        <a:rPr sz="1800" b="0">
                          <a:solidFill>
                            <a:srgbClr val="1E232B"/>
                          </a:solidFill>
                          <a:latin typeface="Consolas"/>
                        </a:rPr>
                        <a:t>0,9140</a:t>
                      </a:r>
                    </a:p>
                  </a:txBody>
                  <a:tcPr marL="91440" marR="91440" marT="45720" marB="45720" anchor="ctr">
                    <a:solidFill>
                      <a:srgbClr val="FCFBF8"/>
                    </a:solidFill>
                  </a:tcPr>
                </a:tc>
                <a:tc>
                  <a:txBody>
                    <a:bodyPr wrap="square"/>
                    <a:lstStyle/>
                    <a:p>
                      <a:pPr algn="r"/>
                      <a:r>
                        <a:rPr sz="1800" b="0">
                          <a:solidFill>
                            <a:srgbClr val="1E232B"/>
                          </a:solidFill>
                          <a:latin typeface="Consolas"/>
                        </a:rPr>
                        <a:t>0,1053</a:t>
                      </a:r>
                    </a:p>
                  </a:txBody>
                  <a:tcPr marL="91440" marR="91440" marT="45720" marB="45720" anchor="ctr">
                    <a:solidFill>
                      <a:srgbClr val="FCFBF8"/>
                    </a:solidFill>
                  </a:tcPr>
                </a:tc>
              </a:tr>
            </a:tbl>
          </a:graphicData>
        </a:graphic>
      </p:graphicFrame>
      <p:pic>
        <p:nvPicPr>
          <p:cNvPr id="6" name="Picture 5" descr="fig_clf_tres.png"/>
          <p:cNvPicPr>
            <a:picLocks noChangeAspect="1"/>
          </p:cNvPicPr>
          <p:nvPr/>
        </p:nvPicPr>
        <p:blipFill>
          <a:blip r:embed="rId2"/>
          <a:stretch>
            <a:fillRect/>
          </a:stretch>
        </p:blipFill>
        <p:spPr>
          <a:xfrm>
            <a:off x="3491434" y="4078224"/>
            <a:ext cx="5206083" cy="2103120"/>
          </a:xfrm>
          <a:prstGeom prst="rect">
            <a:avLst/>
          </a:prstGeom>
        </p:spPr>
      </p:pic>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models/ui_artifacts.json (clasificador.comparacion) · src/06_entrenar_clasificador.py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B · LOS MODELOS    ·    LÁMINA 7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umbral 0,6054 se fijó para que 9 de cada 10 señalados sean informales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Elegir modelo y elegir umbral son dos decisiones distintas: la primera es técnica, la segunda es de costos.</a:t>
            </a:r>
          </a:p>
        </p:txBody>
      </p:sp>
      <p:pic>
        <p:nvPicPr>
          <p:cNvPr id="5" name="Picture 4" descr="fig_umbral.png"/>
          <p:cNvPicPr>
            <a:picLocks noChangeAspect="1"/>
          </p:cNvPicPr>
          <p:nvPr/>
        </p:nvPicPr>
        <p:blipFill>
          <a:blip r:embed="rId2"/>
          <a:stretch>
            <a:fillRect/>
          </a:stretch>
        </p:blipFill>
        <p:spPr>
          <a:xfrm>
            <a:off x="566928" y="2287953"/>
            <a:ext cx="7187184" cy="3470812"/>
          </a:xfrm>
          <a:prstGeom prst="rect">
            <a:avLst/>
          </a:prstGeom>
        </p:spPr>
      </p:pic>
      <p:sp>
        <p:nvSpPr>
          <p:cNvPr id="6" name="Rounded Rectangle 5"/>
          <p:cNvSpPr/>
          <p:nvPr/>
        </p:nvSpPr>
        <p:spPr>
          <a:xfrm>
            <a:off x="7973568" y="2112263"/>
            <a:ext cx="3648456" cy="1856231"/>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UMBRAL OPERATIVO</a:t>
            </a:r>
          </a:p>
          <a:p>
            <a:pPr>
              <a:lnSpc>
                <a:spcPct val="95000"/>
              </a:lnSpc>
              <a:spcAft>
                <a:spcPts val="600"/>
              </a:spcAft>
            </a:pPr>
            <a:r>
              <a:rPr sz="3400" b="1">
                <a:solidFill>
                  <a:srgbClr val="4353CC"/>
                </a:solidFill>
                <a:latin typeface="Consolas"/>
              </a:rPr>
              <a:t>0,6054</a:t>
            </a:r>
          </a:p>
          <a:p>
            <a:pPr>
              <a:lnSpc>
                <a:spcPct val="105000"/>
              </a:lnSpc>
              <a:spcAft>
                <a:spcPts val="0"/>
              </a:spcAft>
            </a:pPr>
            <a:r>
              <a:rPr sz="1800" b="0">
                <a:solidFill>
                  <a:srgbClr val="49525F"/>
                </a:solidFill>
                <a:latin typeface="Calibri"/>
              </a:rPr>
              <a:t>Probabilidad mínima para señalar. Con este umbral se señala al 67 % de los trabajadores.</a:t>
            </a:r>
          </a:p>
        </p:txBody>
      </p:sp>
      <p:sp>
        <p:nvSpPr>
          <p:cNvPr id="7" name="Rounded Rectangle 6"/>
          <p:cNvSpPr/>
          <p:nvPr/>
        </p:nvSpPr>
        <p:spPr>
          <a:xfrm>
            <a:off x="7973568" y="4123944"/>
            <a:ext cx="3648456" cy="1856231"/>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PRECISIÓN EXIGIDA</a:t>
            </a:r>
          </a:p>
          <a:p>
            <a:pPr>
              <a:lnSpc>
                <a:spcPct val="95000"/>
              </a:lnSpc>
              <a:spcAft>
                <a:spcPts val="600"/>
              </a:spcAft>
            </a:pPr>
            <a:r>
              <a:rPr sz="3400" b="1">
                <a:solidFill>
                  <a:srgbClr val="177A4C"/>
                </a:solidFill>
                <a:latin typeface="Consolas"/>
              </a:rPr>
              <a:t>0,90</a:t>
            </a:r>
          </a:p>
          <a:p>
            <a:pPr>
              <a:lnSpc>
                <a:spcPct val="105000"/>
              </a:lnSpc>
              <a:spcAft>
                <a:spcPts val="0"/>
              </a:spcAft>
            </a:pPr>
            <a:r>
              <a:rPr sz="1800" b="0">
                <a:solidFill>
                  <a:srgbClr val="49525F"/>
                </a:solidFill>
                <a:latin typeface="Calibri"/>
              </a:rPr>
              <a:t>De cada 100 señalados, 90 son informales de verdad. Ese fue el criterio.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models/feature_schema.json (clasificador.punto_operativo) · models/ui_artifacts.json (clasificador.curva_umbral, curva OOF sobre train)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B · LOS MODELOS    ·    LÁMINA 8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categoría ocupacional es lo que más error añade si se baraja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Cuántos soles más se equivoca el modelo cuando esa variable deja de significar nada.</a:t>
            </a:r>
          </a:p>
        </p:txBody>
      </p:sp>
      <p:pic>
        <p:nvPicPr>
          <p:cNvPr id="5" name="Picture 4" descr="fig_importancia.png"/>
          <p:cNvPicPr>
            <a:picLocks noChangeAspect="1"/>
          </p:cNvPicPr>
          <p:nvPr/>
        </p:nvPicPr>
        <p:blipFill>
          <a:blip r:embed="rId2"/>
          <a:stretch>
            <a:fillRect/>
          </a:stretch>
        </p:blipFill>
        <p:spPr>
          <a:xfrm>
            <a:off x="566928" y="2240966"/>
            <a:ext cx="7315200" cy="3811674"/>
          </a:xfrm>
          <a:prstGeom prst="rect">
            <a:avLst/>
          </a:prstGeom>
        </p:spPr>
      </p:pic>
      <p:sp>
        <p:nvSpPr>
          <p:cNvPr id="6" name="Rounded Rectangle 5"/>
          <p:cNvSpPr/>
          <p:nvPr/>
        </p:nvSpPr>
        <p:spPr>
          <a:xfrm>
            <a:off x="8101583" y="2249424"/>
            <a:ext cx="3520440" cy="164592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CATEGORÍA OCUPACIONAL</a:t>
            </a:r>
          </a:p>
          <a:p>
            <a:pPr>
              <a:lnSpc>
                <a:spcPct val="95000"/>
              </a:lnSpc>
              <a:spcAft>
                <a:spcPts val="600"/>
              </a:spcAft>
            </a:pPr>
            <a:r>
              <a:rPr sz="3400" b="1">
                <a:solidFill>
                  <a:srgbClr val="4353CC"/>
                </a:solidFill>
                <a:latin typeface="Consolas"/>
              </a:rPr>
              <a:t>S/ 139</a:t>
            </a:r>
          </a:p>
          <a:p>
            <a:pPr>
              <a:lnSpc>
                <a:spcPct val="105000"/>
              </a:lnSpc>
              <a:spcAft>
                <a:spcPts val="0"/>
              </a:spcAft>
            </a:pPr>
            <a:r>
              <a:rPr sz="1800" b="0">
                <a:solidFill>
                  <a:srgbClr val="49525F"/>
                </a:solidFill>
                <a:latin typeface="Calibri"/>
              </a:rPr>
              <a:t>Lo que sube el error medio al desordenar esta columna al azar.</a:t>
            </a:r>
          </a:p>
        </p:txBody>
      </p:sp>
      <p:sp>
        <p:nvSpPr>
          <p:cNvPr id="7" name="Rounded Rectangle 6"/>
          <p:cNvSpPr/>
          <p:nvPr/>
        </p:nvSpPr>
        <p:spPr>
          <a:xfrm>
            <a:off x="8101583" y="4078224"/>
            <a:ext cx="3520440" cy="164592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AÑOS DE EDUCACIÓN</a:t>
            </a:r>
          </a:p>
          <a:p>
            <a:pPr>
              <a:lnSpc>
                <a:spcPct val="95000"/>
              </a:lnSpc>
              <a:spcAft>
                <a:spcPts val="600"/>
              </a:spcAft>
            </a:pPr>
            <a:r>
              <a:rPr sz="3400" b="1">
                <a:solidFill>
                  <a:srgbClr val="4353CC"/>
                </a:solidFill>
                <a:latin typeface="Consolas"/>
              </a:rPr>
              <a:t>S/ 128</a:t>
            </a:r>
          </a:p>
          <a:p>
            <a:pPr>
              <a:lnSpc>
                <a:spcPct val="105000"/>
              </a:lnSpc>
              <a:spcAft>
                <a:spcPts val="0"/>
              </a:spcAft>
            </a:pPr>
            <a:r>
              <a:rPr sz="1800" b="0">
                <a:solidFill>
                  <a:srgbClr val="49525F"/>
                </a:solidFill>
                <a:latin typeface="Calibri"/>
              </a:rPr>
              <a:t>La segunda que más pesa. Las dos juntas explican la mitad del efecto medido.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models/ui_artifacts.json (regresor.importancia_permutacion): 5 repeticiones sobre 9.000 filas de test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C · EL DESPLIEGUE    ·    LÁMINA 9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Al repositorio viajan el código y los artefactos, nunca los datos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Los microdatos del INEI se quedan en la máquina; lo que sale es código y un puñado de archivos pequeños.</a:t>
            </a:r>
          </a:p>
        </p:txBody>
      </p:sp>
      <p:pic>
        <p:nvPicPr>
          <p:cNvPr id="5" name="Picture 4" descr="fig_arquitectura.png"/>
          <p:cNvPicPr>
            <a:picLocks noChangeAspect="1"/>
          </p:cNvPicPr>
          <p:nvPr/>
        </p:nvPicPr>
        <p:blipFill>
          <a:blip r:embed="rId2"/>
          <a:stretch>
            <a:fillRect/>
          </a:stretch>
        </p:blipFill>
        <p:spPr>
          <a:xfrm>
            <a:off x="2675644" y="2066543"/>
            <a:ext cx="6837663" cy="3364992"/>
          </a:xfrm>
          <a:prstGeom prst="rect">
            <a:avLst/>
          </a:prstGeom>
        </p:spPr>
      </p:pic>
      <p:sp>
        <p:nvSpPr>
          <p:cNvPr id="6" name="Rounded Rectangle 5"/>
          <p:cNvSpPr/>
          <p:nvPr/>
        </p:nvSpPr>
        <p:spPr>
          <a:xfrm>
            <a:off x="566928" y="5541264"/>
            <a:ext cx="11055096" cy="73152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0"/>
              </a:spcAft>
            </a:pPr>
            <a:r>
              <a:rPr sz="1800" b="0">
                <a:solidFill>
                  <a:srgbClr val="1E232B"/>
                </a:solidFill>
                <a:latin typeface="Calibri"/>
              </a:rPr>
              <a:t>Cada «git push» a la rama main dispara un redespliegue automático en Streamlit Community Cloud: no hay ningún paso manual entre el editor y el navegador.</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docs/arquitectura.md · .gitignore · repositorio en la rama main, commit 0c7a001 · tamaños medidos del disco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C · EL DESPLIEGUE    ·    LÁMINA 10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repositorio separa entrenamiento, artefactos, app y evidencia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Cada carpeta tiene un rol fijo. Los microdatos no tienen carpeta propia porque no están aquí.</a:t>
            </a:r>
          </a:p>
        </p:txBody>
      </p:sp>
      <p:pic>
        <p:nvPicPr>
          <p:cNvPr id="5" name="Picture 4" descr="gh_arbol.png"/>
          <p:cNvPicPr>
            <a:picLocks noChangeAspect="1"/>
          </p:cNvPicPr>
          <p:nvPr/>
        </p:nvPicPr>
        <p:blipFill>
          <a:blip r:embed="rId2"/>
          <a:stretch>
            <a:fillRect/>
          </a:stretch>
        </p:blipFill>
        <p:spPr>
          <a:xfrm>
            <a:off x="571018" y="2066543"/>
            <a:ext cx="5066738" cy="4096512"/>
          </a:xfrm>
          <a:prstGeom prst="rect">
            <a:avLst/>
          </a:prstGeom>
        </p:spPr>
      </p:pic>
      <p:graphicFrame>
        <p:nvGraphicFramePr>
          <p:cNvPr id="6" name="Table 5"/>
          <p:cNvGraphicFramePr>
            <a:graphicFrameLocks noGrp="1"/>
          </p:cNvGraphicFramePr>
          <p:nvPr/>
        </p:nvGraphicFramePr>
        <p:xfrm>
          <a:off x="5897880" y="2267712"/>
          <a:ext cx="5724143" cy="2606040"/>
        </p:xfrm>
        <a:graphic>
          <a:graphicData uri="http://schemas.openxmlformats.org/drawingml/2006/table">
            <a:tbl>
              <a:tblPr firstRow="1" bandRow="1">
                <a:tableStyleId>{5C22544A-7EE6-4342-B048-85BDC9FD1C3A}</a:tableStyleId>
              </a:tblPr>
              <a:tblGrid>
                <a:gridCol w="1488277"/>
                <a:gridCol w="973104"/>
                <a:gridCol w="3262762"/>
              </a:tblGrid>
              <a:tr h="434340">
                <a:tc>
                  <a:txBody>
                    <a:bodyPr wrap="square"/>
                    <a:lstStyle/>
                    <a:p>
                      <a:r>
                        <a:rPr sz="1600" b="1">
                          <a:solidFill>
                            <a:srgbClr val="5F6875"/>
                          </a:solidFill>
                          <a:latin typeface="Calibri"/>
                        </a:rPr>
                        <a:t>Carpeta</a:t>
                      </a:r>
                    </a:p>
                  </a:txBody>
                  <a:tcPr marL="91440" marR="91440" marT="45720" marB="45720" anchor="ctr">
                    <a:solidFill>
                      <a:srgbClr val="F1EFE8"/>
                    </a:solidFill>
                  </a:tcPr>
                </a:tc>
                <a:tc>
                  <a:txBody>
                    <a:bodyPr wrap="square"/>
                    <a:lstStyle/>
                    <a:p>
                      <a:r>
                        <a:rPr sz="1600" b="1">
                          <a:solidFill>
                            <a:srgbClr val="5F6875"/>
                          </a:solidFill>
                          <a:latin typeface="Calibri"/>
                        </a:rPr>
                        <a:t>Archivos</a:t>
                      </a:r>
                    </a:p>
                  </a:txBody>
                  <a:tcPr marL="91440" marR="91440" marT="45720" marB="45720" anchor="ctr">
                    <a:solidFill>
                      <a:srgbClr val="F1EFE8"/>
                    </a:solidFill>
                  </a:tcPr>
                </a:tc>
                <a:tc>
                  <a:txBody>
                    <a:bodyPr wrap="square"/>
                    <a:lstStyle/>
                    <a:p>
                      <a:r>
                        <a:rPr sz="1600" b="1">
                          <a:solidFill>
                            <a:srgbClr val="5F6875"/>
                          </a:solidFill>
                          <a:latin typeface="Calibri"/>
                        </a:rPr>
                        <a:t>Para qué</a:t>
                      </a:r>
                    </a:p>
                  </a:txBody>
                  <a:tcPr marL="91440" marR="91440" marT="45720" marB="45720" anchor="ctr">
                    <a:solidFill>
                      <a:srgbClr val="F1EFE8"/>
                    </a:solidFill>
                  </a:tcPr>
                </a:tc>
              </a:tr>
              <a:tr h="434340">
                <a:tc>
                  <a:txBody>
                    <a:bodyPr wrap="square"/>
                    <a:lstStyle/>
                    <a:p>
                      <a:r>
                        <a:rPr sz="1600" b="0">
                          <a:solidFill>
                            <a:srgbClr val="1E232B"/>
                          </a:solidFill>
                          <a:latin typeface="Calibri"/>
                        </a:rPr>
                        <a:t>src/</a:t>
                      </a:r>
                    </a:p>
                  </a:txBody>
                  <a:tcPr marL="91440" marR="91440" marT="45720" marB="45720" anchor="ctr">
                    <a:solidFill>
                      <a:srgbClr val="FCFBF8"/>
                    </a:solidFill>
                  </a:tcPr>
                </a:tc>
                <a:tc>
                  <a:txBody>
                    <a:bodyPr wrap="square"/>
                    <a:lstStyle/>
                    <a:p>
                      <a:pPr algn="r"/>
                      <a:r>
                        <a:rPr sz="1600" b="0">
                          <a:solidFill>
                            <a:srgbClr val="1E232B"/>
                          </a:solidFill>
                          <a:latin typeface="Consolas"/>
                        </a:rPr>
                        <a:t>12</a:t>
                      </a:r>
                    </a:p>
                  </a:txBody>
                  <a:tcPr marL="91440" marR="91440" marT="45720" marB="45720" anchor="ctr">
                    <a:solidFill>
                      <a:srgbClr val="FCFBF8"/>
                    </a:solidFill>
                  </a:tcPr>
                </a:tc>
                <a:tc>
                  <a:txBody>
                    <a:bodyPr wrap="square"/>
                    <a:lstStyle/>
                    <a:p>
                      <a:r>
                        <a:rPr sz="1600" b="0">
                          <a:solidFill>
                            <a:srgbClr val="1E232B"/>
                          </a:solidFill>
                          <a:latin typeface="Calibri"/>
                        </a:rPr>
                        <a:t>scripts 00 → 09, en ese orden</a:t>
                      </a:r>
                    </a:p>
                  </a:txBody>
                  <a:tcPr marL="91440" marR="91440" marT="45720" marB="45720" anchor="ctr">
                    <a:solidFill>
                      <a:srgbClr val="FCFBF8"/>
                    </a:solidFill>
                  </a:tcPr>
                </a:tc>
              </a:tr>
              <a:tr h="434340">
                <a:tc>
                  <a:txBody>
                    <a:bodyPr wrap="square"/>
                    <a:lstStyle/>
                    <a:p>
                      <a:r>
                        <a:rPr sz="1600" b="0">
                          <a:solidFill>
                            <a:srgbClr val="1E232B"/>
                          </a:solidFill>
                          <a:latin typeface="Calibri"/>
                        </a:rPr>
                        <a:t>models/</a:t>
                      </a:r>
                    </a:p>
                  </a:txBody>
                  <a:tcPr marL="91440" marR="91440" marT="45720" marB="45720" anchor="ctr">
                    <a:solidFill>
                      <a:srgbClr val="FCFBF8"/>
                    </a:solidFill>
                  </a:tcPr>
                </a:tc>
                <a:tc>
                  <a:txBody>
                    <a:bodyPr wrap="square"/>
                    <a:lstStyle/>
                    <a:p>
                      <a:pPr algn="r"/>
                      <a:r>
                        <a:rPr sz="1600" b="0">
                          <a:solidFill>
                            <a:srgbClr val="1E232B"/>
                          </a:solidFill>
                          <a:latin typeface="Consolas"/>
                        </a:rPr>
                        <a:t>6</a:t>
                      </a:r>
                    </a:p>
                  </a:txBody>
                  <a:tcPr marL="91440" marR="91440" marT="45720" marB="45720" anchor="ctr">
                    <a:solidFill>
                      <a:srgbClr val="FCFBF8"/>
                    </a:solidFill>
                  </a:tcPr>
                </a:tc>
                <a:tc>
                  <a:txBody>
                    <a:bodyPr wrap="square"/>
                    <a:lstStyle/>
                    <a:p>
                      <a:r>
                        <a:rPr sz="1600" b="0">
                          <a:solidFill>
                            <a:srgbClr val="1E232B"/>
                          </a:solidFill>
                          <a:latin typeface="Calibri"/>
                        </a:rPr>
                        <a:t>artefactos: .joblib y JSON de contrato</a:t>
                      </a:r>
                    </a:p>
                  </a:txBody>
                  <a:tcPr marL="91440" marR="91440" marT="45720" marB="45720" anchor="ctr">
                    <a:solidFill>
                      <a:srgbClr val="FCFBF8"/>
                    </a:solidFill>
                  </a:tcPr>
                </a:tc>
              </a:tr>
              <a:tr h="434340">
                <a:tc>
                  <a:txBody>
                    <a:bodyPr wrap="square"/>
                    <a:lstStyle/>
                    <a:p>
                      <a:r>
                        <a:rPr sz="1600" b="0">
                          <a:solidFill>
                            <a:srgbClr val="1E232B"/>
                          </a:solidFill>
                          <a:latin typeface="Calibri"/>
                        </a:rPr>
                        <a:t>app/</a:t>
                      </a:r>
                    </a:p>
                  </a:txBody>
                  <a:tcPr marL="91440" marR="91440" marT="45720" marB="45720" anchor="ctr">
                    <a:solidFill>
                      <a:srgbClr val="FCFBF8"/>
                    </a:solidFill>
                  </a:tcPr>
                </a:tc>
                <a:tc>
                  <a:txBody>
                    <a:bodyPr wrap="square"/>
                    <a:lstStyle/>
                    <a:p>
                      <a:pPr algn="r"/>
                      <a:r>
                        <a:rPr sz="1600" b="0">
                          <a:solidFill>
                            <a:srgbClr val="1E232B"/>
                          </a:solidFill>
                          <a:latin typeface="Consolas"/>
                        </a:rPr>
                        <a:t>4</a:t>
                      </a:r>
                    </a:p>
                  </a:txBody>
                  <a:tcPr marL="91440" marR="91440" marT="45720" marB="45720" anchor="ctr">
                    <a:solidFill>
                      <a:srgbClr val="FCFBF8"/>
                    </a:solidFill>
                  </a:tcPr>
                </a:tc>
                <a:tc>
                  <a:txBody>
                    <a:bodyPr wrap="square"/>
                    <a:lstStyle/>
                    <a:p>
                      <a:r>
                        <a:rPr sz="1600" b="0">
                          <a:solidFill>
                            <a:srgbClr val="1E232B"/>
                          </a:solidFill>
                          <a:latin typeface="Calibri"/>
                        </a:rPr>
                        <a:t>la aplicación desplegada</a:t>
                      </a:r>
                    </a:p>
                  </a:txBody>
                  <a:tcPr marL="91440" marR="91440" marT="45720" marB="45720" anchor="ctr">
                    <a:solidFill>
                      <a:srgbClr val="FCFBF8"/>
                    </a:solidFill>
                  </a:tcPr>
                </a:tc>
              </a:tr>
              <a:tr h="434340">
                <a:tc>
                  <a:txBody>
                    <a:bodyPr wrap="square"/>
                    <a:lstStyle/>
                    <a:p>
                      <a:r>
                        <a:rPr sz="1600" b="0">
                          <a:solidFill>
                            <a:srgbClr val="1E232B"/>
                          </a:solidFill>
                          <a:latin typeface="Calibri"/>
                        </a:rPr>
                        <a:t>docs/ · reports/</a:t>
                      </a:r>
                    </a:p>
                  </a:txBody>
                  <a:tcPr marL="91440" marR="91440" marT="45720" marB="45720" anchor="ctr">
                    <a:solidFill>
                      <a:srgbClr val="FCFBF8"/>
                    </a:solidFill>
                  </a:tcPr>
                </a:tc>
                <a:tc>
                  <a:txBody>
                    <a:bodyPr wrap="square"/>
                    <a:lstStyle/>
                    <a:p>
                      <a:pPr algn="r"/>
                      <a:r>
                        <a:rPr sz="1600" b="0">
                          <a:solidFill>
                            <a:srgbClr val="1E232B"/>
                          </a:solidFill>
                          <a:latin typeface="Consolas"/>
                        </a:rPr>
                        <a:t>34 · 45</a:t>
                      </a:r>
                    </a:p>
                  </a:txBody>
                  <a:tcPr marL="91440" marR="91440" marT="45720" marB="45720" anchor="ctr">
                    <a:solidFill>
                      <a:srgbClr val="FCFBF8"/>
                    </a:solidFill>
                  </a:tcPr>
                </a:tc>
                <a:tc>
                  <a:txBody>
                    <a:bodyPr wrap="square"/>
                    <a:lstStyle/>
                    <a:p>
                      <a:r>
                        <a:rPr sz="1600" b="0">
                          <a:solidFill>
                            <a:srgbClr val="1E232B"/>
                          </a:solidFill>
                          <a:latin typeface="Calibri"/>
                        </a:rPr>
                        <a:t>documentación y evidencia</a:t>
                      </a:r>
                    </a:p>
                  </a:txBody>
                  <a:tcPr marL="91440" marR="91440" marT="45720" marB="45720" anchor="ctr">
                    <a:solidFill>
                      <a:srgbClr val="FCFBF8"/>
                    </a:solidFill>
                  </a:tcPr>
                </a:tc>
              </a:tr>
              <a:tr h="434340">
                <a:tc>
                  <a:txBody>
                    <a:bodyPr wrap="square"/>
                    <a:lstStyle/>
                    <a:p>
                      <a:r>
                        <a:rPr sz="1600" b="0">
                          <a:solidFill>
                            <a:srgbClr val="1E232B"/>
                          </a:solidFill>
                          <a:latin typeface="Calibri"/>
                        </a:rPr>
                        <a:t>data/</a:t>
                      </a:r>
                    </a:p>
                  </a:txBody>
                  <a:tcPr marL="91440" marR="91440" marT="45720" marB="45720" anchor="ctr">
                    <a:solidFill>
                      <a:srgbClr val="FCFBF8"/>
                    </a:solidFill>
                  </a:tcPr>
                </a:tc>
                <a:tc>
                  <a:txBody>
                    <a:bodyPr wrap="square"/>
                    <a:lstStyle/>
                    <a:p>
                      <a:pPr algn="r"/>
                      <a:r>
                        <a:rPr sz="1600" b="0">
                          <a:solidFill>
                            <a:srgbClr val="1E232B"/>
                          </a:solidFill>
                          <a:latin typeface="Consolas"/>
                        </a:rPr>
                        <a:t>fuera</a:t>
                      </a:r>
                    </a:p>
                  </a:txBody>
                  <a:tcPr marL="91440" marR="91440" marT="45720" marB="45720" anchor="ctr">
                    <a:solidFill>
                      <a:srgbClr val="FCFBF8"/>
                    </a:solidFill>
                  </a:tcPr>
                </a:tc>
                <a:tc>
                  <a:txBody>
                    <a:bodyPr wrap="square"/>
                    <a:lstStyle/>
                    <a:p>
                      <a:r>
                        <a:rPr sz="1600" b="0">
                          <a:solidFill>
                            <a:srgbClr val="1E232B"/>
                          </a:solidFill>
                          <a:latin typeface="Calibri"/>
                        </a:rPr>
                        <a:t>microdatos del INEI: no se redistribuyen</a:t>
                      </a:r>
                    </a:p>
                  </a:txBody>
                  <a:tcPr marL="91440" marR="91440" marT="45720" marB="45720" anchor="ctr">
                    <a:solidFill>
                      <a:srgbClr val="FCFBF8"/>
                    </a:solidFill>
                  </a:tcPr>
                </a:tc>
              </a:tr>
            </a:tbl>
          </a:graphicData>
        </a:graphic>
      </p:graphicFrame>
      <p:sp>
        <p:nvSpPr>
          <p:cNvPr id="7" name="Rounded Rectangle 6"/>
          <p:cNvSpPr/>
          <p:nvPr/>
        </p:nvSpPr>
        <p:spPr>
          <a:xfrm>
            <a:off x="5897880" y="5376672"/>
            <a:ext cx="5724144" cy="786384"/>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0"/>
              </a:spcAft>
            </a:pPr>
            <a:r>
              <a:rPr sz="1800" b="0">
                <a:solidFill>
                  <a:srgbClr val="3542B8"/>
                </a:solidFill>
                <a:latin typeface="Consolas"/>
              </a:rPr>
              <a:t>112 archivos versionados · 26 commits · 9,19 MB</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git ls-files sobre el repositorio · captura de github.com/IchiSieben/enaho-ingresos-informalidad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C · EL DESPLIEGUE    ·    LÁMINA 11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Las versiones quedan fijadas: con otro scikit-learn el modelo no carga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requirements.txt fija cada versión a la que generó los artefactos, y Streamlit Cloud reconstruye ese mismo entorno.</a:t>
            </a:r>
          </a:p>
        </p:txBody>
      </p:sp>
      <p:pic>
        <p:nvPicPr>
          <p:cNvPr id="5" name="Picture 4" descr="fig_requisitos.png"/>
          <p:cNvPicPr>
            <a:picLocks noChangeAspect="1"/>
          </p:cNvPicPr>
          <p:nvPr/>
        </p:nvPicPr>
        <p:blipFill>
          <a:blip r:embed="rId2"/>
          <a:stretch>
            <a:fillRect/>
          </a:stretch>
        </p:blipFill>
        <p:spPr>
          <a:xfrm>
            <a:off x="566928" y="2424282"/>
            <a:ext cx="7589520" cy="3262162"/>
          </a:xfrm>
          <a:prstGeom prst="rect">
            <a:avLst/>
          </a:prstGeom>
        </p:spPr>
      </p:pic>
      <p:sp>
        <p:nvSpPr>
          <p:cNvPr id="6" name="Rounded Rectangle 5"/>
          <p:cNvSpPr/>
          <p:nvPr/>
        </p:nvSpPr>
        <p:spPr>
          <a:xfrm>
            <a:off x="8366760" y="2139696"/>
            <a:ext cx="3255264" cy="190195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SCIKIT-LEARN FIJADO</a:t>
            </a:r>
          </a:p>
          <a:p>
            <a:pPr>
              <a:lnSpc>
                <a:spcPct val="95000"/>
              </a:lnSpc>
              <a:spcAft>
                <a:spcPts val="600"/>
              </a:spcAft>
            </a:pPr>
            <a:r>
              <a:rPr sz="3400" b="1">
                <a:solidFill>
                  <a:srgbClr val="4353CC"/>
                </a:solidFill>
                <a:latin typeface="Consolas"/>
              </a:rPr>
              <a:t>1.9.0</a:t>
            </a:r>
          </a:p>
          <a:p>
            <a:pPr>
              <a:lnSpc>
                <a:spcPct val="105000"/>
              </a:lnSpc>
              <a:spcAft>
                <a:spcPts val="0"/>
              </a:spcAft>
            </a:pPr>
            <a:r>
              <a:rPr sz="1800" b="0">
                <a:solidFill>
                  <a:srgbClr val="49525F"/>
                </a:solidFill>
                <a:latin typeface="Calibri"/>
              </a:rPr>
              <a:t>La misma que entrenó los .joblib. Si dejan de coincidir, este generador aborta.</a:t>
            </a:r>
          </a:p>
        </p:txBody>
      </p:sp>
      <p:sp>
        <p:nvSpPr>
          <p:cNvPr id="7" name="Rounded Rectangle 6"/>
          <p:cNvSpPr/>
          <p:nvPr/>
        </p:nvSpPr>
        <p:spPr>
          <a:xfrm>
            <a:off x="8366760" y="4133087"/>
            <a:ext cx="3255264" cy="190195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LA NUBE APUNTA A</a:t>
            </a:r>
          </a:p>
          <a:p>
            <a:pPr>
              <a:lnSpc>
                <a:spcPct val="95000"/>
              </a:lnSpc>
              <a:spcAft>
                <a:spcPts val="600"/>
              </a:spcAft>
            </a:pPr>
            <a:r>
              <a:rPr sz="3000" b="1">
                <a:solidFill>
                  <a:srgbClr val="177A4C"/>
                </a:solidFill>
                <a:latin typeface="Consolas"/>
              </a:rPr>
              <a:t>main</a:t>
            </a:r>
          </a:p>
          <a:p>
            <a:pPr>
              <a:lnSpc>
                <a:spcPct val="105000"/>
              </a:lnSpc>
              <a:spcAft>
                <a:spcPts val="0"/>
              </a:spcAft>
            </a:pPr>
            <a:r>
              <a:rPr sz="1800" b="0">
                <a:solidFill>
                  <a:srgbClr val="49525F"/>
                </a:solidFill>
                <a:latin typeface="Calibri"/>
              </a:rPr>
              <a:t>Streamlit Cloud sigue app/streamlit_app.py en esa rama y reconstruye el entorno en cada push.</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requirements.txt · models/ui_artifacts.json (meta) · panel de Streamlit Community Cloud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C · EL DESPLIEGUE    ·    LÁMINA 12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Cada componente de Streamlit del formulario resuelve un problema concreto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 formulario no declara ni un campo a mano: los recorre desde feature_schema.json.</a:t>
            </a:r>
          </a:p>
        </p:txBody>
      </p:sp>
      <p:pic>
        <p:nvPicPr>
          <p:cNvPr id="5" name="Picture 4" descr="cloud_form.png"/>
          <p:cNvPicPr>
            <a:picLocks noChangeAspect="1"/>
          </p:cNvPicPr>
          <p:nvPr/>
        </p:nvPicPr>
        <p:blipFill>
          <a:blip r:embed="rId2"/>
          <a:stretch>
            <a:fillRect/>
          </a:stretch>
        </p:blipFill>
        <p:spPr>
          <a:xfrm>
            <a:off x="566928" y="2066543"/>
            <a:ext cx="6309360" cy="4206240"/>
          </a:xfrm>
          <a:prstGeom prst="rect">
            <a:avLst/>
          </a:prstGeom>
        </p:spPr>
      </p:pic>
      <p:sp>
        <p:nvSpPr>
          <p:cNvPr id="6" name="Rounded Rectangle 5"/>
          <p:cNvSpPr/>
          <p:nvPr/>
        </p:nvSpPr>
        <p:spPr>
          <a:xfrm>
            <a:off x="1197864" y="4169664"/>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1</a:t>
            </a:r>
          </a:p>
        </p:txBody>
      </p:sp>
      <p:sp>
        <p:nvSpPr>
          <p:cNvPr id="7" name="Rounded Rectangle 6"/>
          <p:cNvSpPr/>
          <p:nvPr/>
        </p:nvSpPr>
        <p:spPr>
          <a:xfrm>
            <a:off x="2459736" y="3833164"/>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2</a:t>
            </a:r>
          </a:p>
        </p:txBody>
      </p:sp>
      <p:sp>
        <p:nvSpPr>
          <p:cNvPr id="8" name="Rounded Rectangle 7"/>
          <p:cNvSpPr/>
          <p:nvPr/>
        </p:nvSpPr>
        <p:spPr>
          <a:xfrm>
            <a:off x="2459736" y="5095036"/>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3</a:t>
            </a:r>
          </a:p>
        </p:txBody>
      </p:sp>
      <p:sp>
        <p:nvSpPr>
          <p:cNvPr id="9" name="Rounded Rectangle 8"/>
          <p:cNvSpPr/>
          <p:nvPr/>
        </p:nvSpPr>
        <p:spPr>
          <a:xfrm>
            <a:off x="4478731" y="3328415"/>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4</a:t>
            </a:r>
          </a:p>
        </p:txBody>
      </p:sp>
      <p:sp>
        <p:nvSpPr>
          <p:cNvPr id="10" name="TextBox 9"/>
          <p:cNvSpPr txBox="1"/>
          <p:nvPr/>
        </p:nvSpPr>
        <p:spPr>
          <a:xfrm>
            <a:off x="7086600" y="2103120"/>
            <a:ext cx="4535424" cy="2724912"/>
          </a:xfrm>
          <a:prstGeom prst="rect">
            <a:avLst/>
          </a:prstGeom>
          <a:noFill/>
        </p:spPr>
        <p:txBody>
          <a:bodyPr wrap="square" lIns="0" rIns="0" tIns="0" bIns="0">
            <a:spAutoFit/>
          </a:bodyPr>
          <a:lstStyle/>
          <a:p>
            <a:pPr>
              <a:spcAft>
                <a:spcPts val="100"/>
              </a:spcAft>
            </a:pPr>
            <a:r>
              <a:rPr sz="1800" b="1">
                <a:solidFill>
                  <a:srgbClr val="3542B8"/>
                </a:solidFill>
                <a:latin typeface="Consolas"/>
              </a:rPr>
              <a:t>1 · st.radio</a:t>
            </a:r>
          </a:p>
          <a:p>
            <a:pPr>
              <a:lnSpc>
                <a:spcPct val="102000"/>
              </a:lnSpc>
              <a:spcAft>
                <a:spcPts val="1300"/>
              </a:spcAft>
            </a:pPr>
            <a:r>
              <a:rPr sz="1800" b="0">
                <a:solidFill>
                  <a:srgbClr val="49525F"/>
                </a:solidFill>
                <a:latin typeface="Calibri"/>
              </a:rPr>
              <a:t>cambia de tema desde PALETAS</a:t>
            </a:r>
          </a:p>
          <a:p>
            <a:pPr>
              <a:spcAft>
                <a:spcPts val="100"/>
              </a:spcAft>
            </a:pPr>
            <a:r>
              <a:rPr sz="1800" b="1">
                <a:solidFill>
                  <a:srgbClr val="3542B8"/>
                </a:solidFill>
                <a:latin typeface="Consolas"/>
              </a:rPr>
              <a:t>2 · st.number_input</a:t>
            </a:r>
          </a:p>
          <a:p>
            <a:pPr>
              <a:lnSpc>
                <a:spcPct val="102000"/>
              </a:lnSpc>
              <a:spcAft>
                <a:spcPts val="1300"/>
              </a:spcAft>
            </a:pPr>
            <a:r>
              <a:rPr sz="1800" b="0">
                <a:solidFill>
                  <a:srgbClr val="49525F"/>
                </a:solidFill>
                <a:latin typeface="Calibri"/>
              </a:rPr>
              <a:t>una por variable numérica</a:t>
            </a:r>
          </a:p>
          <a:p>
            <a:pPr>
              <a:spcAft>
                <a:spcPts val="100"/>
              </a:spcAft>
            </a:pPr>
            <a:r>
              <a:rPr sz="1800" b="1">
                <a:solidFill>
                  <a:srgbClr val="3542B8"/>
                </a:solidFill>
                <a:latin typeface="Consolas"/>
              </a:rPr>
              <a:t>3 · st.selectbox</a:t>
            </a:r>
          </a:p>
          <a:p>
            <a:pPr>
              <a:lnSpc>
                <a:spcPct val="102000"/>
              </a:lnSpc>
              <a:spcAft>
                <a:spcPts val="1300"/>
              </a:spcAft>
            </a:pPr>
            <a:r>
              <a:rPr sz="1800" b="0">
                <a:solidFill>
                  <a:srgbClr val="49525F"/>
                </a:solidFill>
                <a:latin typeface="Calibri"/>
              </a:rPr>
              <a:t>una por variable categórica</a:t>
            </a:r>
          </a:p>
          <a:p>
            <a:pPr>
              <a:spcAft>
                <a:spcPts val="100"/>
              </a:spcAft>
            </a:pPr>
            <a:r>
              <a:rPr sz="1800" b="1">
                <a:solidFill>
                  <a:srgbClr val="3542B8"/>
                </a:solidFill>
                <a:latin typeface="Consolas"/>
              </a:rPr>
              <a:t>4 · st.expander · st.popover</a:t>
            </a:r>
          </a:p>
          <a:p>
            <a:pPr>
              <a:lnSpc>
                <a:spcPct val="102000"/>
              </a:lnSpc>
              <a:spcAft>
                <a:spcPts val="1300"/>
              </a:spcAft>
            </a:pPr>
            <a:r>
              <a:rPr sz="1800" b="0">
                <a:solidFill>
                  <a:srgbClr val="49525F"/>
                </a:solidFill>
                <a:latin typeface="Calibri"/>
              </a:rPr>
              <a:t>lectura llana y lectura técnica</a:t>
            </a:r>
          </a:p>
        </p:txBody>
      </p:sp>
      <p:sp>
        <p:nvSpPr>
          <p:cNvPr id="11" name="Rounded Rectangle 10"/>
          <p:cNvSpPr/>
          <p:nvPr/>
        </p:nvSpPr>
        <p:spPr>
          <a:xfrm>
            <a:off x="7086600" y="4864608"/>
            <a:ext cx="4535424" cy="141732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200"/>
              </a:spcAft>
            </a:pPr>
            <a:r>
              <a:rPr sz="1800" b="1">
                <a:solidFill>
                  <a:srgbClr val="3542B8"/>
                </a:solidFill>
                <a:latin typeface="Consolas"/>
              </a:rPr>
              <a:t>st.fragment</a:t>
            </a:r>
          </a:p>
          <a:p>
            <a:pPr>
              <a:lnSpc>
                <a:spcPct val="102000"/>
              </a:lnSpc>
              <a:spcAft>
                <a:spcPts val="0"/>
              </a:spcAft>
            </a:pPr>
            <a:r>
              <a:rPr sz="1800" b="0">
                <a:solidFill>
                  <a:srgbClr val="1E232B"/>
                </a:solidFill>
                <a:latin typeface="Calibri"/>
              </a:rPr>
              <a:t>El umbral vive dentro de un fragmento: moverlo reejecuta solo ese bloque, no la página entera.</a:t>
            </a:r>
          </a:p>
        </p:txBody>
      </p:sp>
      <p:sp>
        <p:nvSpPr>
          <p:cNvPr id="12" name="TextBox 11"/>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captura de la app desplegada · app/streamlit_app.py (componentes realmente usados) · models/feature_schema.json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C · EL DESPLIEGUE    ·    LÁMINA 13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En producción solo se predice el perfil; lo demás ya está calculado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Curvas, histogramas y tablas se calcularon una sola vez, al entrenar. La app solo las lee y las dibuja.</a:t>
            </a:r>
          </a:p>
        </p:txBody>
      </p:sp>
      <p:pic>
        <p:nvPicPr>
          <p:cNvPr id="5" name="Picture 4" descr="fig_precomputo.png"/>
          <p:cNvPicPr>
            <a:picLocks noChangeAspect="1"/>
          </p:cNvPicPr>
          <p:nvPr/>
        </p:nvPicPr>
        <p:blipFill>
          <a:blip r:embed="rId2"/>
          <a:stretch>
            <a:fillRect/>
          </a:stretch>
        </p:blipFill>
        <p:spPr>
          <a:xfrm>
            <a:off x="2929914" y="2066543"/>
            <a:ext cx="6329123" cy="2670048"/>
          </a:xfrm>
          <a:prstGeom prst="rect">
            <a:avLst/>
          </a:prstGeom>
        </p:spPr>
      </p:pic>
      <p:sp>
        <p:nvSpPr>
          <p:cNvPr id="6" name="Rounded Rectangle 5"/>
          <p:cNvSpPr/>
          <p:nvPr/>
        </p:nvSpPr>
        <p:spPr>
          <a:xfrm>
            <a:off x="566928" y="4828031"/>
            <a:ext cx="5358384" cy="146304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UI_ARTIFACTS.JSON</a:t>
            </a:r>
          </a:p>
          <a:p>
            <a:pPr>
              <a:lnSpc>
                <a:spcPct val="95000"/>
              </a:lnSpc>
              <a:spcAft>
                <a:spcPts val="600"/>
              </a:spcAft>
            </a:pPr>
            <a:r>
              <a:rPr sz="3000" b="1">
                <a:solidFill>
                  <a:srgbClr val="4353CC"/>
                </a:solidFill>
                <a:latin typeface="Consolas"/>
              </a:rPr>
              <a:t>44,7 KB</a:t>
            </a:r>
          </a:p>
          <a:p>
            <a:pPr>
              <a:lnSpc>
                <a:spcPct val="105000"/>
              </a:lnSpc>
              <a:spcAft>
                <a:spcPts val="0"/>
              </a:spcAft>
            </a:pPr>
            <a:r>
              <a:rPr sz="1800" b="0">
                <a:solidFill>
                  <a:srgbClr val="49525F"/>
                </a:solidFill>
                <a:latin typeface="Calibri"/>
              </a:rPr>
              <a:t>Todo lo que la app dibuja en cada visita. No recalcula nada.</a:t>
            </a:r>
          </a:p>
        </p:txBody>
      </p:sp>
      <p:sp>
        <p:nvSpPr>
          <p:cNvPr id="7" name="Rounded Rectangle 6"/>
          <p:cNvSpPr/>
          <p:nvPr/>
        </p:nvSpPr>
        <p:spPr>
          <a:xfrm>
            <a:off x="6263640" y="4828031"/>
            <a:ext cx="5358384" cy="146304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LOS DOS MODELOS .JOBLIB</a:t>
            </a:r>
          </a:p>
          <a:p>
            <a:pPr>
              <a:lnSpc>
                <a:spcPct val="95000"/>
              </a:lnSpc>
              <a:spcAft>
                <a:spcPts val="600"/>
              </a:spcAft>
            </a:pPr>
            <a:r>
              <a:rPr sz="3000" b="1">
                <a:solidFill>
                  <a:srgbClr val="177A4C"/>
                </a:solidFill>
                <a:latin typeface="Consolas"/>
              </a:rPr>
              <a:t>880 KB</a:t>
            </a:r>
          </a:p>
          <a:p>
            <a:pPr>
              <a:lnSpc>
                <a:spcPct val="105000"/>
              </a:lnSpc>
              <a:spcAft>
                <a:spcPts val="0"/>
              </a:spcAft>
            </a:pPr>
            <a:r>
              <a:rPr sz="1800" b="0">
                <a:solidFill>
                  <a:srgbClr val="49525F"/>
                </a:solidFill>
                <a:latin typeface="Calibri"/>
              </a:rPr>
              <a:t>Solo entran a trabajar cuando hay que predecir el perfil del formulario.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src/09_precomputar_ui.py · models/ui_artifacts.json · models/*.joblib · tamaños medidos del disco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C · EL DESPLIEGUE    ·    LÁMINA 14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app se explica sola: dos capas de lectura y gráficos etiquetados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Nadie debería tener que abrir el código para entender qué está viendo.</a:t>
            </a:r>
          </a:p>
        </p:txBody>
      </p:sp>
      <p:sp>
        <p:nvSpPr>
          <p:cNvPr id="5" name="TextBox 4"/>
          <p:cNvSpPr txBox="1"/>
          <p:nvPr/>
        </p:nvSpPr>
        <p:spPr>
          <a:xfrm>
            <a:off x="566928" y="2066543"/>
            <a:ext cx="3931920" cy="256032"/>
          </a:xfrm>
          <a:prstGeom prst="rect">
            <a:avLst/>
          </a:prstGeom>
          <a:noFill/>
        </p:spPr>
        <p:txBody>
          <a:bodyPr wrap="square" lIns="0" rIns="0" tIns="0" bIns="0">
            <a:spAutoFit/>
          </a:bodyPr>
          <a:lstStyle/>
          <a:p>
            <a:pPr>
              <a:spcAft>
                <a:spcPts val="0"/>
              </a:spcAft>
            </a:pPr>
            <a:r>
              <a:rPr sz="1400" b="0">
                <a:solidFill>
                  <a:srgbClr val="5F6875"/>
                </a:solidFill>
                <a:latin typeface="Consolas"/>
              </a:rPr>
              <a:t>DOS CAPAS: LLANO Y «DETALLE TÉCNICO»</a:t>
            </a:r>
          </a:p>
        </p:txBody>
      </p:sp>
      <p:pic>
        <p:nvPicPr>
          <p:cNvPr id="6" name="Picture 5" descr="cloud_edu_expander.png"/>
          <p:cNvPicPr>
            <a:picLocks noChangeAspect="1"/>
          </p:cNvPicPr>
          <p:nvPr/>
        </p:nvPicPr>
        <p:blipFill>
          <a:blip r:embed="rId2"/>
          <a:stretch>
            <a:fillRect/>
          </a:stretch>
        </p:blipFill>
        <p:spPr>
          <a:xfrm>
            <a:off x="566928" y="2340863"/>
            <a:ext cx="3931920" cy="819768"/>
          </a:xfrm>
          <a:prstGeom prst="rect">
            <a:avLst/>
          </a:prstGeom>
        </p:spPr>
      </p:pic>
      <p:sp>
        <p:nvSpPr>
          <p:cNvPr id="7" name="TextBox 6"/>
          <p:cNvSpPr txBox="1"/>
          <p:nvPr/>
        </p:nvSpPr>
        <p:spPr>
          <a:xfrm>
            <a:off x="4727448" y="2066543"/>
            <a:ext cx="3931920" cy="256032"/>
          </a:xfrm>
          <a:prstGeom prst="rect">
            <a:avLst/>
          </a:prstGeom>
          <a:noFill/>
        </p:spPr>
        <p:txBody>
          <a:bodyPr wrap="square" lIns="0" rIns="0" tIns="0" bIns="0">
            <a:spAutoFit/>
          </a:bodyPr>
          <a:lstStyle/>
          <a:p>
            <a:pPr>
              <a:spcAft>
                <a:spcPts val="0"/>
              </a:spcAft>
            </a:pPr>
            <a:r>
              <a:rPr sz="1400" b="0">
                <a:solidFill>
                  <a:srgbClr val="5F6875"/>
                </a:solidFill>
                <a:latin typeface="Consolas"/>
              </a:rPr>
              <a:t>LA MATRIZ NOMBRADA EN CASTELLANO</a:t>
            </a:r>
          </a:p>
        </p:txBody>
      </p:sp>
      <p:pic>
        <p:nvPicPr>
          <p:cNvPr id="8" name="Picture 7" descr="cloud_edu_matriz.png"/>
          <p:cNvPicPr>
            <a:picLocks noChangeAspect="1"/>
          </p:cNvPicPr>
          <p:nvPr/>
        </p:nvPicPr>
        <p:blipFill>
          <a:blip r:embed="rId3"/>
          <a:stretch>
            <a:fillRect/>
          </a:stretch>
        </p:blipFill>
        <p:spPr>
          <a:xfrm>
            <a:off x="4727448" y="2340863"/>
            <a:ext cx="3033591" cy="1554480"/>
          </a:xfrm>
          <a:prstGeom prst="rect">
            <a:avLst/>
          </a:prstGeom>
        </p:spPr>
      </p:pic>
      <p:sp>
        <p:nvSpPr>
          <p:cNvPr id="9" name="TextBox 8"/>
          <p:cNvSpPr txBox="1"/>
          <p:nvPr/>
        </p:nvSpPr>
        <p:spPr>
          <a:xfrm>
            <a:off x="566928" y="4133087"/>
            <a:ext cx="3931920" cy="256032"/>
          </a:xfrm>
          <a:prstGeom prst="rect">
            <a:avLst/>
          </a:prstGeom>
          <a:noFill/>
        </p:spPr>
        <p:txBody>
          <a:bodyPr wrap="square" lIns="0" rIns="0" tIns="0" bIns="0">
            <a:spAutoFit/>
          </a:bodyPr>
          <a:lstStyle/>
          <a:p>
            <a:pPr>
              <a:spcAft>
                <a:spcPts val="0"/>
              </a:spcAft>
            </a:pPr>
            <a:r>
              <a:rPr sz="1400" b="0">
                <a:solidFill>
                  <a:srgbClr val="5F6875"/>
                </a:solidFill>
                <a:latin typeface="Consolas"/>
              </a:rPr>
              <a:t>CADA CIFRA CON SU FRASE LLANA</a:t>
            </a:r>
          </a:p>
        </p:txBody>
      </p:sp>
      <p:pic>
        <p:nvPicPr>
          <p:cNvPr id="10" name="Picture 9" descr="cloud_edu_tarjetas.png"/>
          <p:cNvPicPr>
            <a:picLocks noChangeAspect="1"/>
          </p:cNvPicPr>
          <p:nvPr/>
        </p:nvPicPr>
        <p:blipFill>
          <a:blip r:embed="rId4"/>
          <a:stretch>
            <a:fillRect/>
          </a:stretch>
        </p:blipFill>
        <p:spPr>
          <a:xfrm>
            <a:off x="566928" y="4407407"/>
            <a:ext cx="1617828" cy="1554480"/>
          </a:xfrm>
          <a:prstGeom prst="rect">
            <a:avLst/>
          </a:prstGeom>
        </p:spPr>
      </p:pic>
      <p:sp>
        <p:nvSpPr>
          <p:cNvPr id="11" name="TextBox 10"/>
          <p:cNvSpPr txBox="1"/>
          <p:nvPr/>
        </p:nvSpPr>
        <p:spPr>
          <a:xfrm>
            <a:off x="4727448" y="4133087"/>
            <a:ext cx="3931920" cy="256032"/>
          </a:xfrm>
          <a:prstGeom prst="rect">
            <a:avLst/>
          </a:prstGeom>
          <a:noFill/>
        </p:spPr>
        <p:txBody>
          <a:bodyPr wrap="square" lIns="0" rIns="0" tIns="0" bIns="0">
            <a:spAutoFit/>
          </a:bodyPr>
          <a:lstStyle/>
          <a:p>
            <a:pPr>
              <a:spcAft>
                <a:spcPts val="0"/>
              </a:spcAft>
            </a:pPr>
            <a:r>
              <a:rPr sz="1400" b="0">
                <a:solidFill>
                  <a:srgbClr val="5F6875"/>
                </a:solidFill>
                <a:latin typeface="Consolas"/>
              </a:rPr>
              <a:t>15 REFERENCIAS CON ENLACE VERIFICADO</a:t>
            </a:r>
          </a:p>
        </p:txBody>
      </p:sp>
      <p:pic>
        <p:nvPicPr>
          <p:cNvPr id="12" name="Picture 11" descr="cloud_edu_referencias.png"/>
          <p:cNvPicPr>
            <a:picLocks noChangeAspect="1"/>
          </p:cNvPicPr>
          <p:nvPr/>
        </p:nvPicPr>
        <p:blipFill>
          <a:blip r:embed="rId5"/>
          <a:stretch>
            <a:fillRect/>
          </a:stretch>
        </p:blipFill>
        <p:spPr>
          <a:xfrm>
            <a:off x="4727448" y="4407407"/>
            <a:ext cx="1647748" cy="1554480"/>
          </a:xfrm>
          <a:prstGeom prst="rect">
            <a:avLst/>
          </a:prstGeom>
        </p:spPr>
      </p:pic>
      <p:sp>
        <p:nvSpPr>
          <p:cNvPr id="13" name="Rounded Rectangle 12"/>
          <p:cNvSpPr/>
          <p:nvPr/>
        </p:nvSpPr>
        <p:spPr>
          <a:xfrm>
            <a:off x="8796528" y="2139696"/>
            <a:ext cx="2825496" cy="190195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REFERENCIAS</a:t>
            </a:r>
          </a:p>
          <a:p>
            <a:pPr>
              <a:lnSpc>
                <a:spcPct val="95000"/>
              </a:lnSpc>
              <a:spcAft>
                <a:spcPts val="600"/>
              </a:spcAft>
            </a:pPr>
            <a:r>
              <a:rPr sz="3400" b="1">
                <a:solidFill>
                  <a:srgbClr val="4353CC"/>
                </a:solidFill>
                <a:latin typeface="Consolas"/>
              </a:rPr>
              <a:t>15</a:t>
            </a:r>
          </a:p>
          <a:p>
            <a:pPr>
              <a:lnSpc>
                <a:spcPct val="105000"/>
              </a:lnSpc>
              <a:spcAft>
                <a:spcPts val="0"/>
              </a:spcAft>
            </a:pPr>
            <a:r>
              <a:rPr sz="1800" b="0">
                <a:solidFill>
                  <a:srgbClr val="49525F"/>
                </a:solidFill>
                <a:latin typeface="Calibri"/>
              </a:rPr>
              <a:t>Con DOI y URL comprobadas una a una.</a:t>
            </a:r>
          </a:p>
        </p:txBody>
      </p:sp>
      <p:sp>
        <p:nvSpPr>
          <p:cNvPr id="14" name="Rounded Rectangle 13"/>
          <p:cNvSpPr/>
          <p:nvPr/>
        </p:nvSpPr>
        <p:spPr>
          <a:xfrm>
            <a:off x="8796528" y="4133087"/>
            <a:ext cx="2825496" cy="2121408"/>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5F6875"/>
                </a:solidFill>
                <a:latin typeface="Consolas"/>
              </a:rPr>
              <a:t>TAMBIÉN</a:t>
            </a:r>
          </a:p>
          <a:p>
            <a:pPr>
              <a:lnSpc>
                <a:spcPct val="105000"/>
              </a:lnSpc>
              <a:spcAft>
                <a:spcPts val="0"/>
              </a:spcAft>
            </a:pPr>
            <a:r>
              <a:rPr sz="1800" b="0">
                <a:solidFill>
                  <a:srgbClr val="1E232B"/>
                </a:solidFill>
                <a:latin typeface="Calibri"/>
              </a:rPr>
              <a:t>Ayuda en cada campo · etiquetas DATO / MECÁNICA / HIPÓTESIS en los gráficos · tres temas, con contraste AA.</a:t>
            </a:r>
          </a:p>
        </p:txBody>
      </p:sp>
      <p:sp>
        <p:nvSpPr>
          <p:cNvPr id="15" name="TextBox 14"/>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capturas de la app desplegada · app/referencias.py · app/graficos.py · docs/manual_usuario.md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D · QUE FUNCIONA    ·    LÁMINA 15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consola local y la app pública dan el mismo número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Mismo perfil, mismo artefacto: se corrió en VS Code y se comparó con la app ya desplegada.</a:t>
            </a:r>
          </a:p>
        </p:txBody>
      </p:sp>
      <p:pic>
        <p:nvPicPr>
          <p:cNvPr id="5" name="Picture 4" descr="fig_consola_regresor.png"/>
          <p:cNvPicPr>
            <a:picLocks noChangeAspect="1"/>
          </p:cNvPicPr>
          <p:nvPr/>
        </p:nvPicPr>
        <p:blipFill>
          <a:blip r:embed="rId2"/>
          <a:stretch>
            <a:fillRect/>
          </a:stretch>
        </p:blipFill>
        <p:spPr>
          <a:xfrm>
            <a:off x="1501386" y="2066543"/>
            <a:ext cx="2977403" cy="2743200"/>
          </a:xfrm>
          <a:prstGeom prst="rect">
            <a:avLst/>
          </a:prstGeom>
        </p:spPr>
      </p:pic>
      <p:sp>
        <p:nvSpPr>
          <p:cNvPr id="6" name="TextBox 5"/>
          <p:cNvSpPr txBox="1"/>
          <p:nvPr/>
        </p:nvSpPr>
        <p:spPr>
          <a:xfrm>
            <a:off x="5468112" y="3236976"/>
            <a:ext cx="548640" cy="457200"/>
          </a:xfrm>
          <a:prstGeom prst="rect">
            <a:avLst/>
          </a:prstGeom>
          <a:noFill/>
        </p:spPr>
        <p:txBody>
          <a:bodyPr wrap="square" lIns="0" rIns="0" tIns="0" bIns="0">
            <a:spAutoFit/>
          </a:bodyPr>
          <a:lstStyle/>
          <a:p>
            <a:pPr algn="ctr">
              <a:spcAft>
                <a:spcPts val="0"/>
              </a:spcAft>
            </a:pPr>
            <a:r>
              <a:rPr sz="4000" b="1">
                <a:solidFill>
                  <a:srgbClr val="177A4C"/>
                </a:solidFill>
                <a:latin typeface="Calibri"/>
              </a:rPr>
              <a:t>=</a:t>
            </a:r>
          </a:p>
        </p:txBody>
      </p:sp>
      <p:pic>
        <p:nvPicPr>
          <p:cNvPr id="7" name="Picture 6" descr="cloud_reg_tarjetas.png"/>
          <p:cNvPicPr>
            <a:picLocks noChangeAspect="1"/>
          </p:cNvPicPr>
          <p:nvPr/>
        </p:nvPicPr>
        <p:blipFill>
          <a:blip r:embed="rId3"/>
          <a:stretch>
            <a:fillRect/>
          </a:stretch>
        </p:blipFill>
        <p:spPr>
          <a:xfrm>
            <a:off x="6398085" y="2066543"/>
            <a:ext cx="4879181" cy="2743200"/>
          </a:xfrm>
          <a:prstGeom prst="rect">
            <a:avLst/>
          </a:prstGeom>
        </p:spPr>
      </p:pic>
      <p:sp>
        <p:nvSpPr>
          <p:cNvPr id="8" name="TextBox 7"/>
          <p:cNvSpPr txBox="1"/>
          <p:nvPr/>
        </p:nvSpPr>
        <p:spPr>
          <a:xfrm>
            <a:off x="566928" y="4864608"/>
            <a:ext cx="4846320" cy="274320"/>
          </a:xfrm>
          <a:prstGeom prst="rect">
            <a:avLst/>
          </a:prstGeom>
          <a:noFill/>
        </p:spPr>
        <p:txBody>
          <a:bodyPr wrap="square" lIns="0" rIns="0" tIns="0" bIns="0">
            <a:spAutoFit/>
          </a:bodyPr>
          <a:lstStyle/>
          <a:p>
            <a:pPr algn="ctr">
              <a:spcAft>
                <a:spcPts val="0"/>
              </a:spcAft>
            </a:pPr>
            <a:r>
              <a:rPr sz="1400" b="0">
                <a:solidFill>
                  <a:srgbClr val="5F6875"/>
                </a:solidFill>
                <a:latin typeface="Consolas"/>
              </a:rPr>
              <a:t>VS CODE · CONSOLA LOCAL</a:t>
            </a:r>
          </a:p>
        </p:txBody>
      </p:sp>
      <p:sp>
        <p:nvSpPr>
          <p:cNvPr id="9" name="TextBox 8"/>
          <p:cNvSpPr txBox="1"/>
          <p:nvPr/>
        </p:nvSpPr>
        <p:spPr>
          <a:xfrm>
            <a:off x="6053328" y="4864608"/>
            <a:ext cx="5568696" cy="274320"/>
          </a:xfrm>
          <a:prstGeom prst="rect">
            <a:avLst/>
          </a:prstGeom>
          <a:noFill/>
        </p:spPr>
        <p:txBody>
          <a:bodyPr wrap="square" lIns="0" rIns="0" tIns="0" bIns="0">
            <a:spAutoFit/>
          </a:bodyPr>
          <a:lstStyle/>
          <a:p>
            <a:pPr algn="ctr">
              <a:spcAft>
                <a:spcPts val="0"/>
              </a:spcAft>
            </a:pPr>
            <a:r>
              <a:rPr sz="1400" b="0">
                <a:solidFill>
                  <a:srgbClr val="5F6875"/>
                </a:solidFill>
                <a:latin typeface="Consolas"/>
              </a:rPr>
              <a:t>STREAMLIT COMMUNITY CLOUD · APP PÚBLICA</a:t>
            </a:r>
          </a:p>
        </p:txBody>
      </p:sp>
      <p:sp>
        <p:nvSpPr>
          <p:cNvPr id="10" name="Rounded Rectangle 9"/>
          <p:cNvSpPr/>
          <p:nvPr/>
        </p:nvSpPr>
        <p:spPr>
          <a:xfrm>
            <a:off x="566928" y="5212079"/>
            <a:ext cx="5367528" cy="118872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INGRESO TÍPICO (MEDIANA)</a:t>
            </a:r>
          </a:p>
          <a:p>
            <a:pPr>
              <a:lnSpc>
                <a:spcPct val="95000"/>
              </a:lnSpc>
              <a:spcAft>
                <a:spcPts val="600"/>
              </a:spcAft>
            </a:pPr>
            <a:r>
              <a:rPr sz="2600" b="1">
                <a:solidFill>
                  <a:srgbClr val="4353CC"/>
                </a:solidFill>
                <a:latin typeface="Consolas"/>
              </a:rPr>
              <a:t>S/ 849</a:t>
            </a:r>
          </a:p>
          <a:p>
            <a:pPr>
              <a:lnSpc>
                <a:spcPct val="105000"/>
              </a:lnSpc>
              <a:spcAft>
                <a:spcPts val="0"/>
              </a:spcAft>
            </a:pPr>
            <a:r>
              <a:rPr sz="1800" b="0">
                <a:solidFill>
                  <a:srgbClr val="49525F"/>
                </a:solidFill>
                <a:latin typeface="Calibri"/>
              </a:rPr>
              <a:t>El mismo valor en los dos entornos.</a:t>
            </a:r>
          </a:p>
        </p:txBody>
      </p:sp>
      <p:sp>
        <p:nvSpPr>
          <p:cNvPr id="11" name="Rounded Rectangle 10"/>
          <p:cNvSpPr/>
          <p:nvPr/>
        </p:nvSpPr>
        <p:spPr>
          <a:xfrm>
            <a:off x="6254496" y="5212079"/>
            <a:ext cx="5367528" cy="118872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INGRESO ESPERADO (MEDIA)</a:t>
            </a:r>
          </a:p>
          <a:p>
            <a:pPr>
              <a:lnSpc>
                <a:spcPct val="95000"/>
              </a:lnSpc>
              <a:spcAft>
                <a:spcPts val="600"/>
              </a:spcAft>
            </a:pPr>
            <a:r>
              <a:rPr sz="2600" b="1">
                <a:solidFill>
                  <a:srgbClr val="4353CC"/>
                </a:solidFill>
                <a:latin typeface="Consolas"/>
              </a:rPr>
              <a:t>S/ 1.189</a:t>
            </a:r>
          </a:p>
          <a:p>
            <a:pPr>
              <a:lnSpc>
                <a:spcPct val="105000"/>
              </a:lnSpc>
              <a:spcAft>
                <a:spcPts val="0"/>
              </a:spcAft>
            </a:pPr>
            <a:r>
              <a:rPr sz="1800" b="0">
                <a:solidFill>
                  <a:srgbClr val="49525F"/>
                </a:solidFill>
                <a:latin typeface="Calibri"/>
              </a:rPr>
              <a:t>Aplica el factor de Duan 1,4009 sobre la mediana.</a:t>
            </a:r>
          </a:p>
        </p:txBody>
      </p:sp>
      <p:sp>
        <p:nvSpPr>
          <p:cNvPr id="12" name="TextBox 11"/>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docs/presentacion/verificacion_local.py · captura de la app desplegada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D · QUE FUNCIONA    ·    LÁMINA 16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clasificador también coincide: 97,5 % en los dos entornos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La misma comprobación con el segundo modelo, y una diferencia de perfil que conviene declarar.</a:t>
            </a:r>
          </a:p>
        </p:txBody>
      </p:sp>
      <p:pic>
        <p:nvPicPr>
          <p:cNvPr id="5" name="Picture 4" descr="fig_consola_clasificador.png"/>
          <p:cNvPicPr>
            <a:picLocks noChangeAspect="1"/>
          </p:cNvPicPr>
          <p:nvPr/>
        </p:nvPicPr>
        <p:blipFill>
          <a:blip r:embed="rId2"/>
          <a:stretch>
            <a:fillRect/>
          </a:stretch>
        </p:blipFill>
        <p:spPr>
          <a:xfrm>
            <a:off x="1703126" y="2066543"/>
            <a:ext cx="2573923" cy="2743200"/>
          </a:xfrm>
          <a:prstGeom prst="rect">
            <a:avLst/>
          </a:prstGeom>
        </p:spPr>
      </p:pic>
      <p:sp>
        <p:nvSpPr>
          <p:cNvPr id="6" name="TextBox 5"/>
          <p:cNvSpPr txBox="1"/>
          <p:nvPr/>
        </p:nvSpPr>
        <p:spPr>
          <a:xfrm>
            <a:off x="5468112" y="3236976"/>
            <a:ext cx="548640" cy="457200"/>
          </a:xfrm>
          <a:prstGeom prst="rect">
            <a:avLst/>
          </a:prstGeom>
          <a:noFill/>
        </p:spPr>
        <p:txBody>
          <a:bodyPr wrap="square" lIns="0" rIns="0" tIns="0" bIns="0">
            <a:spAutoFit/>
          </a:bodyPr>
          <a:lstStyle/>
          <a:p>
            <a:pPr algn="ctr">
              <a:spcAft>
                <a:spcPts val="0"/>
              </a:spcAft>
            </a:pPr>
            <a:r>
              <a:rPr sz="4000" b="1">
                <a:solidFill>
                  <a:srgbClr val="177A4C"/>
                </a:solidFill>
                <a:latin typeface="Calibri"/>
              </a:rPr>
              <a:t>=</a:t>
            </a:r>
          </a:p>
        </p:txBody>
      </p:sp>
      <p:pic>
        <p:nvPicPr>
          <p:cNvPr id="7" name="Picture 6" descr="cloud_clf_resultado.png"/>
          <p:cNvPicPr>
            <a:picLocks noChangeAspect="1"/>
          </p:cNvPicPr>
          <p:nvPr/>
        </p:nvPicPr>
        <p:blipFill>
          <a:blip r:embed="rId3"/>
          <a:stretch>
            <a:fillRect/>
          </a:stretch>
        </p:blipFill>
        <p:spPr>
          <a:xfrm>
            <a:off x="6398085" y="2066543"/>
            <a:ext cx="4879181" cy="2743200"/>
          </a:xfrm>
          <a:prstGeom prst="rect">
            <a:avLst/>
          </a:prstGeom>
        </p:spPr>
      </p:pic>
      <p:sp>
        <p:nvSpPr>
          <p:cNvPr id="8" name="TextBox 7"/>
          <p:cNvSpPr txBox="1"/>
          <p:nvPr/>
        </p:nvSpPr>
        <p:spPr>
          <a:xfrm>
            <a:off x="566928" y="4864608"/>
            <a:ext cx="4846320" cy="274320"/>
          </a:xfrm>
          <a:prstGeom prst="rect">
            <a:avLst/>
          </a:prstGeom>
          <a:noFill/>
        </p:spPr>
        <p:txBody>
          <a:bodyPr wrap="square" lIns="0" rIns="0" tIns="0" bIns="0">
            <a:spAutoFit/>
          </a:bodyPr>
          <a:lstStyle/>
          <a:p>
            <a:pPr algn="ctr">
              <a:spcAft>
                <a:spcPts val="0"/>
              </a:spcAft>
            </a:pPr>
            <a:r>
              <a:rPr sz="1400" b="0">
                <a:solidFill>
                  <a:srgbClr val="5F6875"/>
                </a:solidFill>
                <a:latin typeface="Consolas"/>
              </a:rPr>
              <a:t>VS CODE · CONSOLA LOCAL</a:t>
            </a:r>
          </a:p>
        </p:txBody>
      </p:sp>
      <p:sp>
        <p:nvSpPr>
          <p:cNvPr id="9" name="TextBox 8"/>
          <p:cNvSpPr txBox="1"/>
          <p:nvPr/>
        </p:nvSpPr>
        <p:spPr>
          <a:xfrm>
            <a:off x="6053328" y="4864608"/>
            <a:ext cx="5568696" cy="274320"/>
          </a:xfrm>
          <a:prstGeom prst="rect">
            <a:avLst/>
          </a:prstGeom>
          <a:noFill/>
        </p:spPr>
        <p:txBody>
          <a:bodyPr wrap="square" lIns="0" rIns="0" tIns="0" bIns="0">
            <a:spAutoFit/>
          </a:bodyPr>
          <a:lstStyle/>
          <a:p>
            <a:pPr algn="ctr">
              <a:spcAft>
                <a:spcPts val="0"/>
              </a:spcAft>
            </a:pPr>
            <a:r>
              <a:rPr sz="1400" b="0">
                <a:solidFill>
                  <a:srgbClr val="5F6875"/>
                </a:solidFill>
                <a:latin typeface="Consolas"/>
              </a:rPr>
              <a:t>STREAMLIT COMMUNITY CLOUD · APP PÚBLICA</a:t>
            </a:r>
          </a:p>
        </p:txBody>
      </p:sp>
      <p:sp>
        <p:nvSpPr>
          <p:cNvPr id="10" name="Rounded Rectangle 9"/>
          <p:cNvSpPr/>
          <p:nvPr/>
        </p:nvSpPr>
        <p:spPr>
          <a:xfrm>
            <a:off x="566928" y="5212079"/>
            <a:ext cx="5367528" cy="118872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PROBABILIDAD DE INFORMALIDAD</a:t>
            </a:r>
          </a:p>
          <a:p>
            <a:pPr>
              <a:lnSpc>
                <a:spcPct val="95000"/>
              </a:lnSpc>
              <a:spcAft>
                <a:spcPts val="600"/>
              </a:spcAft>
            </a:pPr>
            <a:r>
              <a:rPr sz="2600" b="1">
                <a:solidFill>
                  <a:srgbClr val="4353CC"/>
                </a:solidFill>
                <a:latin typeface="Consolas"/>
              </a:rPr>
              <a:t>97,5 %</a:t>
            </a:r>
          </a:p>
          <a:p>
            <a:pPr>
              <a:lnSpc>
                <a:spcPct val="105000"/>
              </a:lnSpc>
              <a:spcAft>
                <a:spcPts val="0"/>
              </a:spcAft>
            </a:pPr>
            <a:r>
              <a:rPr sz="1800" b="0">
                <a:solidFill>
                  <a:srgbClr val="49525F"/>
                </a:solidFill>
                <a:latin typeface="Calibri"/>
              </a:rPr>
              <a:t>Mismo número en la consola y en la app.</a:t>
            </a:r>
          </a:p>
        </p:txBody>
      </p:sp>
      <p:sp>
        <p:nvSpPr>
          <p:cNvPr id="11" name="Rounded Rectangle 10"/>
          <p:cNvSpPr/>
          <p:nvPr/>
        </p:nvSpPr>
        <p:spPr>
          <a:xfrm>
            <a:off x="6254496" y="5212079"/>
            <a:ext cx="5367528" cy="118872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VEREDICTO</a:t>
            </a:r>
          </a:p>
          <a:p>
            <a:pPr>
              <a:lnSpc>
                <a:spcPct val="95000"/>
              </a:lnSpc>
              <a:spcAft>
                <a:spcPts val="600"/>
              </a:spcAft>
            </a:pPr>
            <a:r>
              <a:rPr sz="2600" b="1">
                <a:solidFill>
                  <a:srgbClr val="8A5D0B"/>
                </a:solidFill>
                <a:latin typeface="Consolas"/>
              </a:rPr>
              <a:t>señalado</a:t>
            </a:r>
          </a:p>
          <a:p>
            <a:pPr>
              <a:lnSpc>
                <a:spcPct val="105000"/>
              </a:lnSpc>
              <a:spcAft>
                <a:spcPts val="0"/>
              </a:spcAft>
            </a:pPr>
            <a:r>
              <a:rPr sz="1800" b="0">
                <a:solidFill>
                  <a:srgbClr val="49525F"/>
                </a:solidFill>
                <a:latin typeface="Calibri"/>
              </a:rPr>
              <a:t>Con el umbral operativo 0,6054 de la lámina 7.</a:t>
            </a:r>
          </a:p>
        </p:txBody>
      </p:sp>
      <p:sp>
        <p:nvSpPr>
          <p:cNvPr id="12" name="TextBox 11"/>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docs/presentacion/verificacion_local.py · models/feature_schema.json (punto_operativo) · captura de la app desplegada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D · QUE FUNCIONA    ·    LÁMINA 17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auditoría encontró cuatro problemas y publicó los cuatro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Una revisión de consistencia antes de publicar: cada cifra contra el archivo que la genera, cada cita contra su fuente.</a:t>
            </a:r>
          </a:p>
        </p:txBody>
      </p:sp>
      <p:graphicFrame>
        <p:nvGraphicFramePr>
          <p:cNvPr id="5" name="Table 4"/>
          <p:cNvGraphicFramePr>
            <a:graphicFrameLocks noGrp="1"/>
          </p:cNvGraphicFramePr>
          <p:nvPr/>
        </p:nvGraphicFramePr>
        <p:xfrm>
          <a:off x="566928" y="2066543"/>
          <a:ext cx="11055095" cy="2423160"/>
        </p:xfrm>
        <a:graphic>
          <a:graphicData uri="http://schemas.openxmlformats.org/drawingml/2006/table">
            <a:tbl>
              <a:tblPr firstRow="1" bandRow="1">
                <a:tableStyleId>{5C22544A-7EE6-4342-B048-85BDC9FD1C3A}</a:tableStyleId>
              </a:tblPr>
              <a:tblGrid>
                <a:gridCol w="3537630"/>
                <a:gridCol w="2653223"/>
                <a:gridCol w="4864242"/>
              </a:tblGrid>
              <a:tr h="484632">
                <a:tc>
                  <a:txBody>
                    <a:bodyPr wrap="square"/>
                    <a:lstStyle/>
                    <a:p>
                      <a:r>
                        <a:rPr sz="1600" b="1">
                          <a:solidFill>
                            <a:srgbClr val="5F6875"/>
                          </a:solidFill>
                          <a:latin typeface="Calibri"/>
                        </a:rPr>
                        <a:t>Hallazgo</a:t>
                      </a:r>
                    </a:p>
                  </a:txBody>
                  <a:tcPr marL="91440" marR="91440" marT="45720" marB="45720" anchor="ctr">
                    <a:solidFill>
                      <a:srgbClr val="F1EFE8"/>
                    </a:solidFill>
                  </a:tcPr>
                </a:tc>
                <a:tc>
                  <a:txBody>
                    <a:bodyPr wrap="square"/>
                    <a:lstStyle/>
                    <a:p>
                      <a:r>
                        <a:rPr sz="1600" b="1">
                          <a:solidFill>
                            <a:srgbClr val="5F6875"/>
                          </a:solidFill>
                          <a:latin typeface="Calibri"/>
                        </a:rPr>
                        <a:t>Dónde nació</a:t>
                      </a:r>
                    </a:p>
                  </a:txBody>
                  <a:tcPr marL="91440" marR="91440" marT="45720" marB="45720" anchor="ctr">
                    <a:solidFill>
                      <a:srgbClr val="F1EFE8"/>
                    </a:solidFill>
                  </a:tcPr>
                </a:tc>
                <a:tc>
                  <a:txBody>
                    <a:bodyPr wrap="square"/>
                    <a:lstStyle/>
                    <a:p>
                      <a:r>
                        <a:rPr sz="1600" b="1">
                          <a:solidFill>
                            <a:srgbClr val="5F6875"/>
                          </a:solidFill>
                          <a:latin typeface="Calibri"/>
                        </a:rPr>
                        <a:t>Qué pasó</a:t>
                      </a:r>
                    </a:p>
                  </a:txBody>
                  <a:tcPr marL="91440" marR="91440" marT="45720" marB="45720" anchor="ctr">
                    <a:solidFill>
                      <a:srgbClr val="F1EFE8"/>
                    </a:solidFill>
                  </a:tcPr>
                </a:tc>
              </a:tr>
              <a:tr h="484632">
                <a:tc>
                  <a:txBody>
                    <a:bodyPr wrap="square"/>
                    <a:lstStyle/>
                    <a:p>
                      <a:r>
                        <a:rPr sz="1600" b="0">
                          <a:solidFill>
                            <a:srgbClr val="1E232B"/>
                          </a:solidFill>
                          <a:latin typeface="Calibri"/>
                        </a:rPr>
                        <a:t>El centinela 999999 leído como un ingreso</a:t>
                      </a:r>
                    </a:p>
                  </a:txBody>
                  <a:tcPr marL="91440" marR="91440" marT="45720" marB="45720" anchor="ctr">
                    <a:solidFill>
                      <a:srgbClr val="FCFBF8"/>
                    </a:solidFill>
                  </a:tcPr>
                </a:tc>
                <a:tc>
                  <a:txBody>
                    <a:bodyPr wrap="square"/>
                    <a:lstStyle/>
                    <a:p>
                      <a:r>
                        <a:rPr sz="1600" b="0">
                          <a:solidFill>
                            <a:srgbClr val="1E232B"/>
                          </a:solidFill>
                          <a:latin typeface="Calibri"/>
                        </a:rPr>
                        <a:t>DATOS DE ORIGEN</a:t>
                      </a:r>
                    </a:p>
                  </a:txBody>
                  <a:tcPr marL="91440" marR="91440" marT="45720" marB="45720" anchor="ctr">
                    <a:solidFill>
                      <a:srgbClr val="FCFBF8"/>
                    </a:solidFill>
                  </a:tcPr>
                </a:tc>
                <a:tc>
                  <a:txBody>
                    <a:bodyPr wrap="square"/>
                    <a:lstStyle/>
                    <a:p>
                      <a:r>
                        <a:rPr sz="1600" b="0">
                          <a:solidFill>
                            <a:srgbClr val="1E232B"/>
                          </a:solidFill>
                          <a:latin typeface="Calibri"/>
                        </a:rPr>
                        <a:t>El R² pasa de 0,023 a 0,248 al tratarlo como faltante</a:t>
                      </a:r>
                    </a:p>
                  </a:txBody>
                  <a:tcPr marL="91440" marR="91440" marT="45720" marB="45720" anchor="ctr">
                    <a:solidFill>
                      <a:srgbClr val="FCFBF8"/>
                    </a:solidFill>
                  </a:tcPr>
                </a:tc>
              </a:tr>
              <a:tr h="484632">
                <a:tc>
                  <a:txBody>
                    <a:bodyPr wrap="square"/>
                    <a:lstStyle/>
                    <a:p>
                      <a:r>
                        <a:rPr sz="1600" b="0">
                          <a:solidFill>
                            <a:srgbClr val="1E232B"/>
                          </a:solidFill>
                          <a:latin typeface="Calibri"/>
                        </a:rPr>
                        <a:t>La rejilla de hiperparámetros estaba acotada</a:t>
                      </a:r>
                    </a:p>
                  </a:txBody>
                  <a:tcPr marL="91440" marR="91440" marT="45720" marB="45720" anchor="ctr">
                    <a:solidFill>
                      <a:srgbClr val="FCFBF8"/>
                    </a:solidFill>
                  </a:tcPr>
                </a:tc>
                <a:tc>
                  <a:txBody>
                    <a:bodyPr wrap="square"/>
                    <a:lstStyle/>
                    <a:p>
                      <a:r>
                        <a:rPr sz="1600" b="0">
                          <a:solidFill>
                            <a:srgbClr val="1E232B"/>
                          </a:solidFill>
                          <a:latin typeface="Calibri"/>
                        </a:rPr>
                        <a:t>DECISIÓN PROPIA</a:t>
                      </a:r>
                    </a:p>
                  </a:txBody>
                  <a:tcPr marL="91440" marR="91440" marT="45720" marB="45720" anchor="ctr">
                    <a:solidFill>
                      <a:srgbClr val="FCFBF8"/>
                    </a:solidFill>
                  </a:tcPr>
                </a:tc>
                <a:tc>
                  <a:txBody>
                    <a:bodyPr wrap="square"/>
                    <a:lstStyle/>
                    <a:p>
                      <a:r>
                        <a:rPr sz="1600" b="0">
                          <a:solidFill>
                            <a:srgbClr val="1E232B"/>
                          </a:solidFill>
                          <a:latin typeface="Calibri"/>
                        </a:rPr>
                        <a:t>El error baja de S/ 610,90 a S/ 607,31: 0,59 %. No se promovió</a:t>
                      </a:r>
                    </a:p>
                  </a:txBody>
                  <a:tcPr marL="91440" marR="91440" marT="45720" marB="45720" anchor="ctr">
                    <a:solidFill>
                      <a:srgbClr val="FCFBF8"/>
                    </a:solidFill>
                  </a:tcPr>
                </a:tc>
              </a:tr>
              <a:tr h="484632">
                <a:tc>
                  <a:txBody>
                    <a:bodyPr wrap="square"/>
                    <a:lstStyle/>
                    <a:p>
                      <a:r>
                        <a:rPr sz="1600" b="0">
                          <a:solidFill>
                            <a:srgbClr val="1E232B"/>
                          </a:solidFill>
                          <a:latin typeface="Calibri"/>
                        </a:rPr>
                        <a:t>Una cifra del INEI con la etiqueta equivocada</a:t>
                      </a:r>
                    </a:p>
                  </a:txBody>
                  <a:tcPr marL="91440" marR="91440" marT="45720" marB="45720" anchor="ctr">
                    <a:solidFill>
                      <a:srgbClr val="FCFBF8"/>
                    </a:solidFill>
                  </a:tcPr>
                </a:tc>
                <a:tc>
                  <a:txBody>
                    <a:bodyPr wrap="square"/>
                    <a:lstStyle/>
                    <a:p>
                      <a:r>
                        <a:rPr sz="1600" b="0">
                          <a:solidFill>
                            <a:srgbClr val="1E232B"/>
                          </a:solidFill>
                          <a:latin typeface="Calibri"/>
                        </a:rPr>
                        <a:t>DECISIÓN PROPIA</a:t>
                      </a:r>
                    </a:p>
                  </a:txBody>
                  <a:tcPr marL="91440" marR="91440" marT="45720" marB="45720" anchor="ctr">
                    <a:solidFill>
                      <a:srgbClr val="FCFBF8"/>
                    </a:solidFill>
                  </a:tcPr>
                </a:tc>
                <a:tc>
                  <a:txBody>
                    <a:bodyPr wrap="square"/>
                    <a:lstStyle/>
                    <a:p>
                      <a:r>
                        <a:rPr sz="1600" b="0">
                          <a:solidFill>
                            <a:srgbClr val="1E232B"/>
                          </a:solidFill>
                          <a:latin typeface="Calibri"/>
                        </a:rPr>
                        <a:t>El 88,6 % es del tramo 1-10, no de «Hasta 20»</a:t>
                      </a:r>
                    </a:p>
                  </a:txBody>
                  <a:tcPr marL="91440" marR="91440" marT="45720" marB="45720" anchor="ctr">
                    <a:solidFill>
                      <a:srgbClr val="FCFBF8"/>
                    </a:solidFill>
                  </a:tcPr>
                </a:tc>
              </a:tr>
              <a:tr h="484632">
                <a:tc>
                  <a:txBody>
                    <a:bodyPr wrap="square"/>
                    <a:lstStyle/>
                    <a:p>
                      <a:r>
                        <a:rPr sz="1600" b="0">
                          <a:solidFill>
                            <a:srgbClr val="1E232B"/>
                          </a:solidFill>
                          <a:latin typeface="Calibri"/>
                        </a:rPr>
                        <a:t>Tres afirmaciones distintas sobre el mismo R²</a:t>
                      </a:r>
                    </a:p>
                  </a:txBody>
                  <a:tcPr marL="91440" marR="91440" marT="45720" marB="45720" anchor="ctr">
                    <a:solidFill>
                      <a:srgbClr val="FCFBF8"/>
                    </a:solidFill>
                  </a:tcPr>
                </a:tc>
                <a:tc>
                  <a:txBody>
                    <a:bodyPr wrap="square"/>
                    <a:lstStyle/>
                    <a:p>
                      <a:r>
                        <a:rPr sz="1600" b="0">
                          <a:solidFill>
                            <a:srgbClr val="1E232B"/>
                          </a:solidFill>
                          <a:latin typeface="Calibri"/>
                        </a:rPr>
                        <a:t>DECISIÓN PROPIA · DOCUMENTACIÓN</a:t>
                      </a:r>
                    </a:p>
                  </a:txBody>
                  <a:tcPr marL="91440" marR="91440" marT="45720" marB="45720" anchor="ctr">
                    <a:solidFill>
                      <a:srgbClr val="FCFBF8"/>
                    </a:solidFill>
                  </a:tcPr>
                </a:tc>
                <a:tc>
                  <a:txBody>
                    <a:bodyPr wrap="square"/>
                    <a:lstStyle/>
                    <a:p>
                      <a:r>
                        <a:rPr sz="1600" b="0">
                          <a:solidFill>
                            <a:srgbClr val="1E232B"/>
                          </a:solidFill>
                          <a:latin typeface="Calibri"/>
                        </a:rPr>
                        <a:t>Ni Lemieux ni Heckman reportan ese R²</a:t>
                      </a:r>
                    </a:p>
                  </a:txBody>
                  <a:tcPr marL="91440" marR="91440" marT="45720" marB="45720" anchor="ctr">
                    <a:solidFill>
                      <a:srgbClr val="FCFBF8"/>
                    </a:solidFill>
                  </a:tcPr>
                </a:tc>
              </a:tr>
            </a:tbl>
          </a:graphicData>
        </a:graphic>
      </p:graphicFrame>
      <p:sp>
        <p:nvSpPr>
          <p:cNvPr id="6" name="Rounded Rectangle 5"/>
          <p:cNvSpPr/>
          <p:nvPr/>
        </p:nvSpPr>
        <p:spPr>
          <a:xfrm>
            <a:off x="566928" y="4855464"/>
            <a:ext cx="11055096" cy="1353312"/>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3542B8"/>
                </a:solidFill>
                <a:latin typeface="Consolas"/>
              </a:rPr>
              <a:t>LA LÍNEA DE MÉTODO</a:t>
            </a:r>
          </a:p>
          <a:p>
            <a:pPr>
              <a:lnSpc>
                <a:spcPct val="106000"/>
              </a:lnSpc>
              <a:spcAft>
                <a:spcPts val="0"/>
              </a:spcAft>
            </a:pPr>
            <a:r>
              <a:rPr sz="1800" b="0">
                <a:solidFill>
                  <a:srgbClr val="1E232B"/>
                </a:solidFill>
                <a:latin typeface="Calibri"/>
              </a:rPr>
              <a:t>Los problemas de origen se corrigen y se documentan; los propios se corrigen y se aprende de ellos; los de cita se verifican yendo al texto completo. Ninguno se borra: un hallazgo corregido en silencio es un hallazgo desperdiciado.</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INFORME_AUDITORIA.md · models/ui_artifacts.json (torneo.autopsia) · la sección «Qué encontró la auditoría» de la propia app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D · QUE FUNCIONA    ·    LÁMINA 18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regresor compara perfiles; el clasificador señala, no predice destinos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Qué se puede afirmar con cada modelo, qué no, y qué dejó el despliegue.</a:t>
            </a:r>
          </a:p>
        </p:txBody>
      </p:sp>
      <p:graphicFrame>
        <p:nvGraphicFramePr>
          <p:cNvPr id="5" name="Table 4"/>
          <p:cNvGraphicFramePr>
            <a:graphicFrameLocks noGrp="1"/>
          </p:cNvGraphicFramePr>
          <p:nvPr/>
        </p:nvGraphicFramePr>
        <p:xfrm>
          <a:off x="566928" y="2066543"/>
          <a:ext cx="11055095" cy="1920240"/>
        </p:xfrm>
        <a:graphic>
          <a:graphicData uri="http://schemas.openxmlformats.org/drawingml/2006/table">
            <a:tbl>
              <a:tblPr firstRow="1" bandRow="1">
                <a:tableStyleId>{5C22544A-7EE6-4342-B048-85BDC9FD1C3A}</a:tableStyleId>
              </a:tblPr>
              <a:tblGrid>
                <a:gridCol w="2211019"/>
                <a:gridCol w="4422038"/>
                <a:gridCol w="4422038"/>
              </a:tblGrid>
              <a:tr h="640080">
                <a:tc>
                  <a:txBody>
                    <a:bodyPr wrap="square"/>
                    <a:lstStyle/>
                    <a:p>
                      <a:r>
                        <a:rPr sz="1600" b="1">
                          <a:solidFill>
                            <a:srgbClr val="5F6875"/>
                          </a:solidFill>
                          <a:latin typeface="Calibri"/>
                        </a:rPr>
                        <a:t/>
                      </a:r>
                    </a:p>
                  </a:txBody>
                  <a:tcPr marL="91440" marR="91440" marT="45720" marB="45720" anchor="ctr">
                    <a:solidFill>
                      <a:srgbClr val="F1EFE8"/>
                    </a:solidFill>
                  </a:tcPr>
                </a:tc>
                <a:tc>
                  <a:txBody>
                    <a:bodyPr wrap="square"/>
                    <a:lstStyle/>
                    <a:p>
                      <a:r>
                        <a:rPr sz="1600" b="1">
                          <a:solidFill>
                            <a:srgbClr val="5F6875"/>
                          </a:solidFill>
                          <a:latin typeface="Calibri"/>
                        </a:rPr>
                        <a:t>Regresor de ingreso</a:t>
                      </a:r>
                    </a:p>
                  </a:txBody>
                  <a:tcPr marL="91440" marR="91440" marT="45720" marB="45720" anchor="ctr">
                    <a:solidFill>
                      <a:srgbClr val="F1EFE8"/>
                    </a:solidFill>
                  </a:tcPr>
                </a:tc>
                <a:tc>
                  <a:txBody>
                    <a:bodyPr wrap="square"/>
                    <a:lstStyle/>
                    <a:p>
                      <a:r>
                        <a:rPr sz="1600" b="1">
                          <a:solidFill>
                            <a:srgbClr val="5F6875"/>
                          </a:solidFill>
                          <a:latin typeface="Calibri"/>
                        </a:rPr>
                        <a:t>Clasificador de informalidad</a:t>
                      </a:r>
                    </a:p>
                  </a:txBody>
                  <a:tcPr marL="91440" marR="91440" marT="45720" marB="45720" anchor="ctr">
                    <a:solidFill>
                      <a:srgbClr val="F1EFE8"/>
                    </a:solidFill>
                  </a:tcPr>
                </a:tc>
              </a:tr>
              <a:tr h="640080">
                <a:tc>
                  <a:txBody>
                    <a:bodyPr wrap="square"/>
                    <a:lstStyle/>
                    <a:p>
                      <a:r>
                        <a:rPr sz="1600" b="0">
                          <a:solidFill>
                            <a:srgbClr val="1E232B"/>
                          </a:solidFill>
                          <a:latin typeface="Calibri"/>
                        </a:rPr>
                        <a:t>Sí se puede afirmar</a:t>
                      </a:r>
                    </a:p>
                  </a:txBody>
                  <a:tcPr marL="91440" marR="91440" marT="45720" marB="45720" anchor="ctr">
                    <a:solidFill>
                      <a:srgbClr val="FCFBF8"/>
                    </a:solidFill>
                  </a:tcPr>
                </a:tc>
                <a:tc>
                  <a:txBody>
                    <a:bodyPr wrap="square"/>
                    <a:lstStyle/>
                    <a:p>
                      <a:r>
                        <a:rPr sz="1600" b="0">
                          <a:solidFill>
                            <a:srgbClr val="1E232B"/>
                          </a:solidFill>
                          <a:latin typeface="Calibri"/>
                        </a:rPr>
                        <a:t>Un ingreso típico para un perfil, con un error medio de S/ 611 al mes.</a:t>
                      </a:r>
                    </a:p>
                  </a:txBody>
                  <a:tcPr marL="91440" marR="91440" marT="45720" marB="45720" anchor="ctr">
                    <a:solidFill>
                      <a:srgbClr val="FCFBF8"/>
                    </a:solidFill>
                  </a:tcPr>
                </a:tc>
                <a:tc>
                  <a:txBody>
                    <a:bodyPr wrap="square"/>
                    <a:lstStyle/>
                    <a:p>
                      <a:r>
                        <a:rPr sz="1600" b="0">
                          <a:solidFill>
                            <a:srgbClr val="1E232B"/>
                          </a:solidFill>
                          <a:latin typeface="Calibri"/>
                        </a:rPr>
                        <a:t>Que una configuración laboral observable se asocia a informalidad (PR-AUC de test 0,9605).</a:t>
                      </a:r>
                    </a:p>
                  </a:txBody>
                  <a:tcPr marL="91440" marR="91440" marT="45720" marB="45720" anchor="ctr">
                    <a:solidFill>
                      <a:srgbClr val="FCFBF8"/>
                    </a:solidFill>
                  </a:tcPr>
                </a:tc>
              </a:tr>
              <a:tr h="640080">
                <a:tc>
                  <a:txBody>
                    <a:bodyPr wrap="square"/>
                    <a:lstStyle/>
                    <a:p>
                      <a:r>
                        <a:rPr sz="1600" b="0">
                          <a:solidFill>
                            <a:srgbClr val="1E232B"/>
                          </a:solidFill>
                          <a:latin typeface="Calibri"/>
                        </a:rPr>
                        <a:t>No se puede afirmar</a:t>
                      </a:r>
                    </a:p>
                  </a:txBody>
                  <a:tcPr marL="91440" marR="91440" marT="45720" marB="45720" anchor="ctr">
                    <a:solidFill>
                      <a:srgbClr val="FCFBF8"/>
                    </a:solidFill>
                  </a:tcPr>
                </a:tc>
                <a:tc>
                  <a:txBody>
                    <a:bodyPr wrap="square"/>
                    <a:lstStyle/>
                    <a:p>
                      <a:r>
                        <a:rPr sz="1600" b="0">
                          <a:solidFill>
                            <a:srgbClr val="1E232B"/>
                          </a:solidFill>
                          <a:latin typeface="Calibri"/>
                        </a:rPr>
                        <a:t>Cuánto va a cobrar una persona concreta. Sirve para comparar perfiles, no para fijar sueldos.</a:t>
                      </a:r>
                    </a:p>
                  </a:txBody>
                  <a:tcPr marL="91440" marR="91440" marT="45720" marB="45720" anchor="ctr">
                    <a:solidFill>
                      <a:srgbClr val="FCFBF8"/>
                    </a:solidFill>
                  </a:tcPr>
                </a:tc>
                <a:tc>
                  <a:txBody>
                    <a:bodyPr wrap="square"/>
                    <a:lstStyle/>
                    <a:p>
                      <a:r>
                        <a:rPr sz="1600" b="0">
                          <a:solidFill>
                            <a:srgbClr val="1E232B"/>
                          </a:solidFill>
                          <a:latin typeface="Calibri"/>
                        </a:rPr>
                        <a:t>Que alguien vaya a ser informal. No predice el futuro ni juzga a ninguna persona.</a:t>
                      </a:r>
                    </a:p>
                  </a:txBody>
                  <a:tcPr marL="91440" marR="91440" marT="45720" marB="45720" anchor="ctr">
                    <a:solidFill>
                      <a:srgbClr val="FCFBF8"/>
                    </a:solidFill>
                  </a:tcPr>
                </a:tc>
              </a:tr>
            </a:tbl>
          </a:graphicData>
        </a:graphic>
      </p:graphicFrame>
      <p:sp>
        <p:nvSpPr>
          <p:cNvPr id="6" name="Rounded Rectangle 5"/>
          <p:cNvSpPr/>
          <p:nvPr/>
        </p:nvSpPr>
        <p:spPr>
          <a:xfrm>
            <a:off x="566928" y="4297679"/>
            <a:ext cx="5358384" cy="1956816"/>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5F6875"/>
                </a:solidFill>
                <a:latin typeface="Consolas"/>
              </a:rPr>
              <a:t>QUÉ DEJÓ EL DESPLIEGUE</a:t>
            </a:r>
          </a:p>
          <a:p>
            <a:pPr>
              <a:lnSpc>
                <a:spcPct val="106000"/>
              </a:lnSpc>
              <a:spcAft>
                <a:spcPts val="0"/>
              </a:spcAft>
            </a:pPr>
            <a:r>
              <a:rPr sz="1800" b="0">
                <a:solidFill>
                  <a:srgbClr val="1E232B"/>
                </a:solidFill>
                <a:latin typeface="Calibri"/>
              </a:rPr>
              <a:t>Fijar las versiones exactas (scikit-learn 1.9.0, pandas 3.0.5) y precomputar todo lo pesado en un JSON de 44,7 KB es lo que hace que la app cargue rápido y no se quede sin memoria.</a:t>
            </a:r>
          </a:p>
        </p:txBody>
      </p:sp>
      <p:sp>
        <p:nvSpPr>
          <p:cNvPr id="7" name="Rounded Rectangle 6"/>
          <p:cNvSpPr/>
          <p:nvPr/>
        </p:nvSpPr>
        <p:spPr>
          <a:xfrm>
            <a:off x="6263640" y="4297679"/>
            <a:ext cx="5358384" cy="1956816"/>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3542B8"/>
                </a:solidFill>
                <a:latin typeface="Consolas"/>
              </a:rPr>
              <a:t>CRÉDITOS</a:t>
            </a:r>
          </a:p>
          <a:p>
            <a:pPr>
              <a:lnSpc>
                <a:spcPct val="106000"/>
              </a:lnSpc>
              <a:spcAft>
                <a:spcPts val="0"/>
              </a:spcAft>
            </a:pPr>
            <a:r>
              <a:rPr sz="1800" b="0">
                <a:solidFill>
                  <a:srgbClr val="1E232B"/>
                </a:solidFill>
                <a:latin typeface="Calibri"/>
              </a:rPr>
              <a:t>Software y análisis (CRediT): Yoichi Palacios Tanaka. Exposición y trabajo de curso: Alan Nestor Cañazaca Mamani, Magdalena Quico de la Cruz y Edgar Delgado Ortega. Docente: Orlando Advíncula Zeballos.</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models/feature_schema.json (métricas de test) · AUTHORS.md · CITATION.cff · LICENSE (Apache-2.0) y docs/LICENSE-DOCS.md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