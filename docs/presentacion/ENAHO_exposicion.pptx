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4" r:id="rId15"/>
    <p:sldId id="265" r:id="rId16"/>
    <p:sldId id="259" r:id="rId10"/>
    <p:sldId id="260" r:id="rId11"/>
    <p:sldId id="261" r:id="rId12"/>
    <p:sldId id="262" r:id="rId13"/>
    <p:sldId id="263" r:id="rId14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AUTHORS.md · CITATION.cff · enlaces verificados en pantalla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INFORME_AUDITORIA.md §4 (embudo) · models/feature_schema.json (variables) · capturas de la app desplegada (enaho-ingresos-informalidad.streamlit.app).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models/feature_schema.json (nombre, tipo, rango y niveles de cada variable) · models/ui_artifacts.json (torneo.tabla) · docs/METODOLOGIA_TORNEO.md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docs/arquitectura.md · .gitignore · git ls-files · tamaños medidos del disco al generar esta lámina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src/09_precomputar_ui.py · models/ui_artifacts.json · models/*.joblib · docs/presentacion/verificacion_local.py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requirements.txt · models/ui_artifacts.json (meta) · panel de Streamlit Community Cloud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captura de la app desplegada · app/streamlit_app.py (componentes realmente usados) · models/feature_schema.json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tests/test_contratos.py · docs/presentacion/verificar_ppt.py · docs/POST_ENTREGA.md (estándares de la corrida de entrega)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models/ui_artifacts.json (torneo.tabla, clasificador.comparacion) · models/feature_schema.json · src/04, src/06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models/ui_artifacts.json (importancia_permutacion del regresor y del clasificador): 5 repeticiones sobre 9.000 filas de test en ambos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docs/presentacion/verificacion_local.py · salida_consola_verificacion.txt · capturas de la app desplegada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INFORME_AUDITORIA.md · models/ui_artifacts.json (torneo.autopsia) · la sección «Qué encontró la auditoría» de la propia 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models/feature_schema.json (métricas de test) · AUTHORS.md · CITATION.cff · LICENSE (Apache-2.0) y docs/LICENSE-DOCS.md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hyperlink" Target="https://enaho-ingresos-informalidad.streamlit.app" TargetMode="External"/><Relationship Id="rId5" Type="http://schemas.openxmlformats.org/officeDocument/2006/relationships/hyperlink" Target="https://github.com/IchiSieben/enaho-ingresos-informalidad" TargetMode="External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nei_microdatos_cabece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4023360" cy="751301"/>
          </a:xfrm>
          <a:prstGeom prst="rect">
            <a:avLst/>
          </a:prstGeom>
        </p:spPr>
      </p:pic>
      <p:pic>
        <p:nvPicPr>
          <p:cNvPr id="4" name="Picture 3" descr="en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10896"/>
            <a:ext cx="1536192" cy="11236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755648"/>
            <a:ext cx="11055096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4000"/>
              </a:lnSpc>
              <a:spcAft>
                <a:spcPts val="600"/>
              </a:spcAft>
            </a:pPr>
            <a:r>
              <a:rPr sz="4400" b="1">
                <a:solidFill>
                  <a:srgbClr val="1E232B"/>
                </a:solidFill>
                <a:latin typeface="Calibri"/>
              </a:rPr>
              <a:t>Ingreso laboral e informalidad en el Perú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Dos modelos sobre los microdatos de la ENAHO 2025 (INEI), desplegados en una app pública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310128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Curso de Machine Learning · ENEI — Escuela Nacional de Estadística e Informática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Docente: Orlando Advíncula Zeballos · 25 de agosto de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096512"/>
            <a:ext cx="11055096" cy="1060704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INTEGRANTES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E232B"/>
                </a:solidFill>
                <a:latin typeface="Calibri"/>
              </a:rPr>
              <a:t>Alan Nestor Cañazaca Mamani  ·  Magdalena Quico de la Cruz  ·  Yoichi Palacios Tanaka  ·  Edgar Delgado Ortega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58384"/>
            <a:ext cx="11055096" cy="1133856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App:  </a:t>
            </a:r>
            <a:r>
              <a:rPr sz="1800" b="1">
                <a:solidFill>
                  <a:srgbClr val="3542B8"/>
                </a:solidFill>
                <a:latin typeface="Consolas"/>
              </a:rPr>
              <a:t>enaho-ingresos-informalidad.streamlit.app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Repositorio:  </a:t>
            </a:r>
            <a:r>
              <a:rPr sz="1800" b="1">
                <a:solidFill>
                  <a:srgbClr val="3542B8"/>
                </a:solidFill>
                <a:latin typeface="Consolas"/>
              </a:rPr>
              <a:t>github.com/IchiSieben/enaho-ingresos-informalidad</a:t>
            </a:r>
          </a:p>
        </p:txBody>
      </p:sp>
      <p:sp>
        <p:nvSpPr>
          <p:cNvPr id="9" name="Rectangle 8">
            <a:hlinkClick r:id="rId4"/>
          </p:cNvPr>
          <p:cNvSpPr/>
          <p:nvPr/>
        </p:nvSpPr>
        <p:spPr>
          <a:xfrm>
            <a:off x="1024128" y="5468112"/>
            <a:ext cx="548640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5"/>
          </p:cNvPr>
          <p:cNvSpPr/>
          <p:nvPr/>
        </p:nvSpPr>
        <p:spPr>
          <a:xfrm>
            <a:off x="1719072" y="5870448"/>
            <a:ext cx="57607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Una app pública, dos modelos: cuánto gana un perfil y si su empleo es informal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El mismo formulario alimenta dos modelos independientes; cada pestaña corre el suyo.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066543"/>
            <a:ext cx="3383280" cy="841248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100"/>
              </a:spcAft>
            </a:pPr>
            <a:r>
              <a:rPr sz="2000" b="1">
                <a:solidFill>
                  <a:srgbClr val="3542B8"/>
                </a:solidFill>
                <a:latin typeface="Calibri"/>
              </a:rPr>
              <a:t>ENAHO 2025 · INEI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módulos </a:t>
            </a:r>
            <a:r>
              <a:rPr sz="1800" b="1">
                <a:solidFill>
                  <a:srgbClr val="1E232B"/>
                </a:solidFill>
                <a:latin typeface="Consolas"/>
              </a:rPr>
              <a:t>02 · 03 ·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2066543"/>
            <a:ext cx="3739896" cy="841248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100"/>
              </a:spcAft>
            </a:pPr>
            <a:r>
              <a:rPr sz="2000" b="1">
                <a:solidFill>
                  <a:srgbClr val="3542B8"/>
                </a:solidFill>
                <a:latin typeface="Consolas"/>
              </a:rPr>
              <a:t>47.632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trabajadores con ingreso laboral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38744" y="2066543"/>
            <a:ext cx="3383280" cy="841248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100"/>
              </a:spcAft>
            </a:pPr>
            <a:r>
              <a:rPr sz="2000" b="1">
                <a:solidFill>
                  <a:srgbClr val="3542B8"/>
                </a:solidFill>
                <a:latin typeface="Consolas"/>
              </a:rPr>
              <a:t>11</a:t>
            </a:r>
            <a:r>
              <a:rPr sz="2000" b="1">
                <a:solidFill>
                  <a:srgbClr val="3542B8"/>
                </a:solidFill>
                <a:latin typeface="Calibri"/>
              </a:rPr>
              <a:t> variables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5 numéricas · 6 categóricas</a:t>
            </a:r>
          </a:p>
        </p:txBody>
      </p:sp>
      <p:pic>
        <p:nvPicPr>
          <p:cNvPr id="8" name="Picture 7" descr="cloud_reg_panel_pul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148" y="3017520"/>
            <a:ext cx="2973943" cy="2103120"/>
          </a:xfrm>
          <a:prstGeom prst="rect">
            <a:avLst/>
          </a:prstGeom>
        </p:spPr>
      </p:pic>
      <p:pic>
        <p:nvPicPr>
          <p:cNvPr id="9" name="Picture 8" descr="cloud_clf_panel_pul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5860" y="3017520"/>
            <a:ext cx="2973943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5230368"/>
            <a:ext cx="5358384" cy="1170432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ESTIMACIÓN DE INGRESO  ·  REGRESIÓN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Estima el ingreso laboral mensual en soles con Gradient Boosting (especificación E9).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5230368"/>
            <a:ext cx="5358384" cy="1170432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EMPLEO INFORMAL  ·  CLASIFICACIÓN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Estima la probabilidad de que el empleo sea informal, con las mismas 11 variables.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INFORME_AUDITORIA.md §4 (embudo) · models/feature_schema.json (variables) · capturas de la app desplegada (enaho-ingresos-informalidad.streamlit.app).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Las 11 variables: cuáles son y cómo quedaron elegidas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Las mismas once entradas alimentan el regresor y el clasificador; un torneo de especificaciones decidió quedarse con ellas.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66543"/>
          <a:ext cx="5358383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7688"/>
                <a:gridCol w="3000695"/>
              </a:tblGrid>
              <a:tr h="2971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Numéricas (5)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Años de educación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 0 a 18 años aprobados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Edad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 14 a 80 años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Experiencia potencial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edad − educación − 6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Experiencia²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su cuadrado: efecto curvo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Horas semanales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 4 a 84 a la semana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63640" y="2066543"/>
          <a:ext cx="5358383" cy="20848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7688"/>
                <a:gridCol w="3000695"/>
              </a:tblGrid>
              <a:tr h="297833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Categóricas (6)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Sexo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Hombre / Mujer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Área de residencia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Rural / Urbana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Dominio geográfico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8 regiones del país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Rama de actividad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13 sectores agrupados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Tamaño de empresa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5 tramos, desde «Hasta 20»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Categoría ocupacional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5 tipos de vínculo laboral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718304"/>
            <a:ext cx="11055096" cy="1426464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CÓMO QUEDARON ELEGIDAS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Un torneo de nueve especificaciones — de la consigna del curso (E1, S/ 900,6 de error al mes) a variantes más ricas — compitió con los mismos datos y pliegues. Ganó E9: Gradient Boosting sobre el logaritmo, con estas once variables y S/ 610,9 en validación cruzada. Nunca se eligió por el test.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models/feature_schema.json (nombre, tipo, rango y niveles de cada variable) · models/ui_artifacts.json (torneo.tabla) · docs/METODOLOGIA_TORNEO.md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Cada push a main redespliega la app en la nube, sin pasos manuales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Del editor al navegador solo hay commits: Streamlit Cloud reconstruye y publica en cada push.</a:t>
            </a:r>
          </a:p>
        </p:txBody>
      </p:sp>
      <p:pic>
        <p:nvPicPr>
          <p:cNvPr id="5" name="Picture 4" descr="fig_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553" y="2066543"/>
            <a:ext cx="8301844" cy="32003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413248"/>
            <a:ext cx="11055096" cy="804672"/>
          </a:xfrm>
          <a:prstGeom prst="roundRect">
            <a:avLst>
              <a:gd name="adj" fmla="val 5000"/>
            </a:avLst>
          </a:prstGeom>
          <a:solidFill>
            <a:srgbClr val="E2F2E9"/>
          </a:solidFill>
          <a:ln w="15875">
            <a:solidFill>
              <a:srgbClr val="177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800" b="1">
                <a:solidFill>
                  <a:srgbClr val="177A4C"/>
                </a:solidFill>
                <a:latin typeface="Calibri"/>
              </a:rPr>
              <a:t>Los microdatos se quedan en la máquina: los 601,3 MB de la ENAHO no viajan al repositorio, que enlaza a la fuente oficial del INEI.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docs/arquitectura.md · .gitignore · git ls-files · tamaños medidos del disco al generar esta lámina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La app no calcula al abrirse: lee resultados ya guardados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Curvas, histogramas y tablas se calcularon una sola vez, al entrenar. La app solo las lee y las dibuja.</a:t>
            </a:r>
          </a:p>
        </p:txBody>
      </p:sp>
      <p:pic>
        <p:nvPicPr>
          <p:cNvPr id="5" name="Picture 4" descr="fig_precompu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572" y="2066543"/>
            <a:ext cx="10483807" cy="28346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020055"/>
            <a:ext cx="11055096" cy="1142999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Abrir la app</a:t>
            </a:r>
            <a:r>
              <a:rPr sz="1800" b="1">
                <a:solidFill>
                  <a:srgbClr val="5F6875"/>
                </a:solidFill>
                <a:latin typeface="Consolas"/>
              </a:rPr>
              <a:t>  →  </a:t>
            </a:r>
            <a:r>
              <a:rPr sz="2600" b="1">
                <a:solidFill>
                  <a:srgbClr val="177A4C"/>
                </a:solidFill>
                <a:latin typeface="Consolas"/>
              </a:rPr>
              <a:t>0</a:t>
            </a:r>
            <a:r>
              <a:rPr sz="1800" b="0">
                <a:solidFill>
                  <a:srgbClr val="49525F"/>
                </a:solidFill>
                <a:latin typeface="Calibri"/>
              </a:rPr>
              <a:t> ejecuciones</a:t>
            </a:r>
            <a:r>
              <a:rPr sz="1800" b="0">
                <a:solidFill>
                  <a:srgbClr val="49525F"/>
                </a:solidFill>
                <a:latin typeface="Calibri"/>
              </a:rPr>
              <a:t>      Pulsar «Estimar»</a:t>
            </a:r>
            <a:r>
              <a:rPr sz="1800" b="1">
                <a:solidFill>
                  <a:srgbClr val="5F6875"/>
                </a:solidFill>
                <a:latin typeface="Consolas"/>
              </a:rPr>
              <a:t>  →  </a:t>
            </a:r>
            <a:r>
              <a:rPr sz="2600" b="1">
                <a:solidFill>
                  <a:srgbClr val="4353CC"/>
                </a:solidFill>
                <a:latin typeface="Consolas"/>
              </a:rPr>
              <a:t>1</a:t>
            </a:r>
            <a:r>
              <a:rPr sz="1800" b="0">
                <a:solidFill>
                  <a:srgbClr val="49525F"/>
                </a:solidFill>
                <a:latin typeface="Calibri"/>
              </a:rPr>
              <a:t> predicción</a:t>
            </a:r>
            <a:r>
              <a:rPr sz="1800" b="1">
                <a:solidFill>
                  <a:srgbClr val="5F6875"/>
                </a:solidFill>
                <a:latin typeface="Consolas"/>
              </a:rPr>
              <a:t>  →  </a:t>
            </a:r>
            <a:r>
              <a:rPr sz="2600" b="1">
                <a:solidFill>
                  <a:srgbClr val="3542B8"/>
                </a:solidFill>
                <a:latin typeface="Consolas"/>
              </a:rPr>
              <a:t>S/ 849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src/09_precomputar_ui.py · models/ui_artifacts.json · models/*.joblib · docs/presentacion/verificacion_local.py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El pickle exige la misma scikit-learn que lo entrenó: cada versión queda fijada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requirements.txt fija las versiones que generaron los artefactos, y Streamlit Cloud reconstruye ese mismo entorno.</a:t>
            </a:r>
          </a:p>
        </p:txBody>
      </p:sp>
      <p:pic>
        <p:nvPicPr>
          <p:cNvPr id="5" name="Picture 4" descr="fig_requisi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24282"/>
            <a:ext cx="7589520" cy="326216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66760" y="2139696"/>
            <a:ext cx="3255264" cy="1901952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SCIKIT-LEARN FIJADO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3400" b="1">
                <a:solidFill>
                  <a:srgbClr val="4353CC"/>
                </a:solidFill>
                <a:latin typeface="Consolas"/>
              </a:rPr>
              <a:t>1.9.0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La misma que entrenó los .joblib. Si dejan de coincidir, este generador aborta.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66760" y="4133087"/>
            <a:ext cx="3255264" cy="1901952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LA NUBE APUNTA A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3000" b="1">
                <a:solidFill>
                  <a:srgbClr val="177A4C"/>
                </a:solidFill>
                <a:latin typeface="Consolas"/>
              </a:rPr>
              <a:t>main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Streamlit Cloud sigue esa rama y reconstruye el entorno en cada push.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requirements.txt · models/ui_artifacts.json (meta) · panel de Streamlit Community Cloud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El formulario no declara ni un campo a mano: se genera desde feature_schema.json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Cada componente de Streamlit resuelve un problema concreto; si el schema cambia, el formulario cambia solo.</a:t>
            </a:r>
          </a:p>
        </p:txBody>
      </p:sp>
      <p:pic>
        <p:nvPicPr>
          <p:cNvPr id="5" name="Picture 4" descr="cloud_form_pul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66543"/>
            <a:ext cx="6309360" cy="4206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197864" y="4169664"/>
            <a:ext cx="144475" cy="274320"/>
          </a:xfrm>
          <a:prstGeom prst="roundRect">
            <a:avLst>
              <a:gd name="adj" fmla="val 35000"/>
            </a:avLst>
          </a:prstGeom>
          <a:solidFill>
            <a:srgbClr val="E6E8FA"/>
          </a:solidFill>
          <a:ln w="12700">
            <a:solidFill>
              <a:srgbClr val="354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542B8"/>
                </a:solidFill>
                <a:latin typeface="Consolas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9736" y="3833164"/>
            <a:ext cx="144475" cy="274320"/>
          </a:xfrm>
          <a:prstGeom prst="roundRect">
            <a:avLst>
              <a:gd name="adj" fmla="val 35000"/>
            </a:avLst>
          </a:prstGeom>
          <a:solidFill>
            <a:srgbClr val="E6E8FA"/>
          </a:solidFill>
          <a:ln w="12700">
            <a:solidFill>
              <a:srgbClr val="354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542B8"/>
                </a:solidFill>
                <a:latin typeface="Consola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59736" y="5095036"/>
            <a:ext cx="144475" cy="274320"/>
          </a:xfrm>
          <a:prstGeom prst="roundRect">
            <a:avLst>
              <a:gd name="adj" fmla="val 35000"/>
            </a:avLst>
          </a:prstGeom>
          <a:solidFill>
            <a:srgbClr val="E6E8FA"/>
          </a:solidFill>
          <a:ln w="12700">
            <a:solidFill>
              <a:srgbClr val="354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542B8"/>
                </a:solidFill>
                <a:latin typeface="Consolas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3548" y="2991916"/>
            <a:ext cx="144475" cy="274320"/>
          </a:xfrm>
          <a:prstGeom prst="roundRect">
            <a:avLst>
              <a:gd name="adj" fmla="val 35000"/>
            </a:avLst>
          </a:prstGeom>
          <a:solidFill>
            <a:srgbClr val="E6E8FA"/>
          </a:solidFill>
          <a:ln w="12700">
            <a:solidFill>
              <a:srgbClr val="354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542B8"/>
                </a:solidFill>
                <a:latin typeface="Consolas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2084831"/>
            <a:ext cx="4535424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1 · st.radio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cambia de tema desde PALETAS</a:t>
            </a:r>
          </a:p>
          <a:p>
            <a:pPr>
              <a:spcAft>
                <a:spcPts val="1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2 · st.number_input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una por variable numérica</a:t>
            </a:r>
          </a:p>
          <a:p>
            <a:pPr>
              <a:spcAft>
                <a:spcPts val="1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3 · st.selectbox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una por variable categórica</a:t>
            </a:r>
          </a:p>
          <a:p>
            <a:pPr>
              <a:spcAft>
                <a:spcPts val="1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4 · st.expander · st.popover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lectura llana y lectura técnica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4626864"/>
            <a:ext cx="4535424" cy="1668948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9480" y="4754879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5 · st.slider + st.fragment</a:t>
            </a:r>
          </a:p>
        </p:txBody>
      </p:sp>
      <p:pic>
        <p:nvPicPr>
          <p:cNvPr id="13" name="Picture 12" descr="cloud_umbral_control_pul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48" y="5102352"/>
            <a:ext cx="4224528" cy="97400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030236" y="5530913"/>
            <a:ext cx="144475" cy="274320"/>
          </a:xfrm>
          <a:prstGeom prst="roundRect">
            <a:avLst>
              <a:gd name="adj" fmla="val 35000"/>
            </a:avLst>
          </a:prstGeom>
          <a:solidFill>
            <a:srgbClr val="E6E8FA"/>
          </a:solidFill>
          <a:ln w="12700">
            <a:solidFill>
              <a:srgbClr val="354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542B8"/>
                </a:solidFill>
                <a:latin typeface="Consola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captura de la app desplegada · app/streamlit_app.py (componentes realmente usados) · models/feature_schema.json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Lo que se publica lleva tests, cifras verificadas y medición sobre la app viva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Tres controles rodean cada entrega: que la app y los archivos del modelo digan lo mismo, que cada cifra salga de su archivo, y qué se ve de verdad en la app.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66543"/>
          <a:ext cx="11055094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2121"/>
                <a:gridCol w="5748649"/>
                <a:gridCol w="2874324"/>
              </a:tblGrid>
              <a:tr h="6172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Qué garantiza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Dónde se comprueba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Tests de contrato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Que la app no pida nada que sus archivos no tengan. Los tres fallos reales están reproducidos sin navegador: si vuelven, saltan en local y no en la nube.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tests/test_contratos.py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Cifras verificadas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Cada número de estas láminas se comprueba contra el archivo que lo genera; si una cifra no tiene fuente, la exposición no se genera.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verificar_ppt.py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QA sobre la app viva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Lo que se afirma de la app desplegada se mide en su DOM con Playwright, no se mira a ojo.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docs/POST_ENTREGA.md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919472"/>
            <a:ext cx="11055096" cy="1389888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LOS TRES FALLOS DEL 20 DE AGOSTO, HOY CADA UNO UN TEST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—  Un tema del selector no estaba en la paleta: elegirlo dejaba la app en blanco, sin vuelta atrás.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—  La app pedía un gráfico que el módulo desplegado no tenía: la página se cortaba a medio dibujo.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—  Se renombró una clave del artefacto y la app siguió sirviendo la vieja desde su caché.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tests/test_contratos.py · docs/presentacion/verificar_ppt.py · docs/POST_ENTREGA.md (estándares de la corrida de entrega)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Elegimos Gradient Boosting: le gana a Random Forest por poco, con las mismas 11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Mismos datos, mismos cinco pliegues, misma semilla; el modelo se eligió por validación cruzada, nunca por el test.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66543"/>
          <a:ext cx="1105509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732"/>
                <a:gridCol w="2321570"/>
                <a:gridCol w="2653223"/>
                <a:gridCol w="232157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Referencia lineal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32B"/>
                          </a:solidFill>
                          <a:latin typeface="Calibri"/>
                        </a:rPr>
                        <a:t>Ingreso mensual — MAE cv, soles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1E232B"/>
                          </a:solidFill>
                          <a:latin typeface="Consolas"/>
                        </a:rPr>
                        <a:t>613,0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1E232B"/>
                          </a:solidFill>
                          <a:latin typeface="Consolas"/>
                        </a:rPr>
                        <a:t>610,9</a:t>
                      </a:r>
                    </a:p>
                  </a:txBody>
                  <a:tcPr marL="91440" marR="91440" marT="45720" marB="45720" anchor="ctr">
                    <a:solidFill>
                      <a:srgbClr val="E6E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1E232B"/>
                          </a:solidFill>
                          <a:latin typeface="Consolas"/>
                        </a:rPr>
                        <a:t>686,9  (E7)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32B"/>
                          </a:solidFill>
                          <a:latin typeface="Calibri"/>
                        </a:rPr>
                        <a:t>Empleo informal — PR-AUC cv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1E232B"/>
                          </a:solidFill>
                          <a:latin typeface="Consolas"/>
                        </a:rPr>
                        <a:t>0,9619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1E232B"/>
                          </a:solidFill>
                          <a:latin typeface="Consolas"/>
                        </a:rPr>
                        <a:t>0,9626</a:t>
                      </a:r>
                    </a:p>
                  </a:txBody>
                  <a:tcPr marL="91440" marR="91440" marT="45720" marB="45720" anchor="ctr">
                    <a:solidFill>
                      <a:srgbClr val="E6E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1E232B"/>
                          </a:solidFill>
                          <a:latin typeface="Consolas"/>
                        </a:rPr>
                        <a:t>0,9553  (logística)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913631"/>
          <a:ext cx="1105509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3223"/>
                <a:gridCol w="840187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Variables de entrada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las mismas 11 variables en los dos modelos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Numéricas (5)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años de educación · edad · experiencia · experiencia² · horas semanales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Categóricas (6)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sexo · área · dominio geográfico · rama de actividad · tamaño de empresa · categoría ocupacional — 35 niveles one-hot dentro del pipeline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413248"/>
            <a:ext cx="11055096" cy="822960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El clasificador no se corta en 0,5: el umbral operativo 0,6054 se fijó para que la precisión llegue a 0,90 — esa es una decisión de costos, no del modelo.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models/ui_artifacts.json (torneo.tabla, clasificador.comparacion) · models/feature_schema.json · src/04, src/06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Las mismas tres variables cargan los dos modelos: categoría, educación y tamaño de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Con cada modelo ya entrenado, desordenamos una columna a la vez y medimos cuánto empeora: soles de error en el regresor, puntos de PR-AUC en el clasificador. Uso, no causa.</a:t>
            </a:r>
          </a:p>
        </p:txBody>
      </p:sp>
      <p:pic>
        <p:nvPicPr>
          <p:cNvPr id="5" name="Picture 4" descr="fig_importa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40966"/>
            <a:ext cx="7315200" cy="38116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01583" y="2084831"/>
            <a:ext cx="3520440" cy="120700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CATEGORÍA OCUPACIONAL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3000" b="1">
                <a:solidFill>
                  <a:srgbClr val="4353CC"/>
                </a:solidFill>
                <a:latin typeface="Consolas"/>
              </a:rPr>
              <a:t>S/ 139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Soles de error si se pierde.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01583" y="3401568"/>
            <a:ext cx="3520440" cy="120700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AÑOS DE EDUCACIÓN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3000" b="1">
                <a:solidFill>
                  <a:srgbClr val="4353CC"/>
                </a:solidFill>
                <a:latin typeface="Consolas"/>
              </a:rPr>
              <a:t>S/ 128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La segunda, mismo cálculo.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3" y="4718304"/>
            <a:ext cx="3520440" cy="1645920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CLASIFICADOR · TOP 3 — CAÍDA DE PR-AUC AL DESORDENAR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−0,046</a:t>
            </a:r>
            <a:r>
              <a:rPr sz="1800" b="0">
                <a:solidFill>
                  <a:srgbClr val="1E232B"/>
                </a:solidFill>
                <a:latin typeface="Calibri"/>
              </a:rPr>
              <a:t>  tamaño de empresa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−0,031</a:t>
            </a:r>
            <a:r>
              <a:rPr sz="1800" b="0">
                <a:solidFill>
                  <a:srgbClr val="1E232B"/>
                </a:solidFill>
                <a:latin typeface="Calibri"/>
              </a:rPr>
              <a:t>  categoría ocupacional</a:t>
            </a:r>
          </a:p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−0,025</a:t>
            </a:r>
            <a:r>
              <a:rPr sz="1800" b="0">
                <a:solidFill>
                  <a:srgbClr val="1E232B"/>
                </a:solidFill>
                <a:latin typeface="Calibri"/>
              </a:rPr>
              <a:t>  años de educación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models/ui_artifacts.json (importancia_permutacion del regresor y del clasificador): 5 repeticiones sobre 9.000 filas de test en ambos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El modelo local y el desplegado dan el mismo número, dígito a dígito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El mismo perfil se corrió en la consola de VS Code y en la app pública: tres números, cero diferencias.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84831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VS CODE · CONSOLA LOCAL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53328" y="2084831"/>
            <a:ext cx="55686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STREAMLIT COMMUNITY CLOUD · APP PÚBLICA</a:t>
            </a:r>
          </a:p>
        </p:txBody>
      </p:sp>
      <p:pic>
        <p:nvPicPr>
          <p:cNvPr id="7" name="Picture 6" descr="fig_consola_regre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07663"/>
            <a:ext cx="4846320" cy="123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68112" y="279806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>
                <a:solidFill>
                  <a:srgbClr val="177A4C"/>
                </a:solidFill>
                <a:latin typeface="Calibri"/>
              </a:rPr>
              <a:t>=</a:t>
            </a:r>
          </a:p>
        </p:txBody>
      </p:sp>
      <p:pic>
        <p:nvPicPr>
          <p:cNvPr id="9" name="Picture 8" descr="cloud_reg_zona_pul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7191" y="2377439"/>
            <a:ext cx="3100968" cy="1298448"/>
          </a:xfrm>
          <a:prstGeom prst="rect">
            <a:avLst/>
          </a:prstGeom>
        </p:spPr>
      </p:pic>
      <p:pic>
        <p:nvPicPr>
          <p:cNvPr id="10" name="Picture 9" descr="fig_consola_clasificad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299" y="3767328"/>
            <a:ext cx="3743577" cy="12984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68112" y="418795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>
                <a:solidFill>
                  <a:srgbClr val="177A4C"/>
                </a:solidFill>
                <a:latin typeface="Calibri"/>
              </a:rPr>
              <a:t>=</a:t>
            </a:r>
          </a:p>
        </p:txBody>
      </p:sp>
      <p:pic>
        <p:nvPicPr>
          <p:cNvPr id="12" name="Picture 11" descr="cloud_clf_zona_pul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9471" y="3767328"/>
            <a:ext cx="5436408" cy="129844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" y="5266944"/>
            <a:ext cx="3471672" cy="111556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INGRESO TÍPICO (MEDIANA)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200" b="1">
                <a:solidFill>
                  <a:srgbClr val="4353CC"/>
                </a:solidFill>
                <a:latin typeface="Consolas"/>
              </a:rPr>
              <a:t>S/ 849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Idéntico en los dos lados.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8640" y="5266944"/>
            <a:ext cx="3471672" cy="111556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INGRESO ESPERADO (MEDIA)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200" b="1">
                <a:solidFill>
                  <a:srgbClr val="4353CC"/>
                </a:solidFill>
                <a:latin typeface="Consolas"/>
              </a:rPr>
              <a:t>S/ 1.189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La mediana × Duan 1,4009.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0351" y="5266944"/>
            <a:ext cx="3471672" cy="111556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PROB. DE INFORMALIDAD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200" b="1">
                <a:solidFill>
                  <a:srgbClr val="8A5D0B"/>
                </a:solidFill>
                <a:latin typeface="Consolas"/>
              </a:rPr>
              <a:t>97,5 %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Umbral 0,6054: señalado.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docs/presentacion/verificacion_local.py · salida_consola_verificacion.txt · capturas de la app desplegada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Revisamos nuestro propio trabajo: cuatro errores encontrados, cuatro publicados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Cada cifra contra el archivo que la genera, cada cita contra su fuente; cada hallazgo, con su origen.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66543"/>
          <a:ext cx="11055095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6528"/>
                <a:gridCol w="2542672"/>
                <a:gridCol w="5195895"/>
              </a:tblGrid>
              <a:tr h="48463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Hallazgo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Dónde nació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Qué pasó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El código de faltante, leído como un sueldo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DATOS DE ORIGEN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999999 es «no sabe», pero entraba como S/ 999.999: tratarlo como faltante subió el R² de 0,023 a 0,248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La rejilla de hiperparámetros estaba acotada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DECISIÓN PROPIA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Los tres quedaron en el borde. Ampliada, el error baja de S/ 610,90 a S/ 607,31 (0,59 %): no se promovió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Una cifra del INEI con la etiqueta equivocada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DECISIÓN PROPIA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El 88,6 % es del tramo 1-10 del INEI; nuestra categoría «Hasta 20» da 81,1 %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Tres afirmaciones distintas sobre el mismo R²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DECISIÓN PROPIA · DOCUMENTACIÓN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Circulaban «0,4–0,5», «rara vez supera 0,4» y «ninguno supera 0,5»: quedó una, sobre Mincer y Card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5212079"/>
            <a:ext cx="11055096" cy="1097280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LA LÍNEA DE MÉTODO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Los de origen se corrigen y se documentan; los propios se corrigen y se aprende de ellos; los de cita se verifican en el texto completo. Ninguno se borra en silencio.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INFORME_AUDITORIA.md · models/ui_artifacts.json (torneo.autopsia) · la sección «Qué encontró la auditoría» de la propia app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El regresor compara perfiles; el clasificador señala empleos, no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Qué se puede afirmar con cada modelo, qué no, y qué dejó el despliegue.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66543"/>
          <a:ext cx="110550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019"/>
                <a:gridCol w="4422038"/>
                <a:gridCol w="4422038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Regresor de ingreso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Clasificador de informalidad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Sí se puede afirmar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Un ingreso típico para un perfil, con un error medio de S/ 611 al mes.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Que una configuración laboral observable se asocia a informalidad (PR-AUC de test 0,9605).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No se puede afirmar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Cuánto va a cobrar una persona concreta. Sirve para comparar perfiles, no para fijar sueldos.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Que alguien vaya a ser informal. No predice el futuro ni juzga a ninguna persona.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352544"/>
            <a:ext cx="11055096" cy="1152144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QUÉ DEJÓ EL DESPLIEGUE</a:t>
            </a:r>
          </a:p>
          <a:p>
            <a:pPr>
              <a:lnSpc>
                <a:spcPct val="106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Fijar las versiones exactas (scikit-learn 1.9.0, pandas 3.0.5) y precomputar todo lo pesado en un JSON de 44,7 KB es lo que hace que la app cargue rápido y no se quede sin memoria.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742431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E232B"/>
                </a:solidFill>
                <a:latin typeface="Calibri"/>
              </a:rPr>
              <a:t>Alan Nestor Cañazaca Mamani · Magdalena Quico de la Cruz · Yoichi Palacios Tanaka · Edgar Delgado Ortega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Docente: Orlando Advíncula Zeballos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models/feature_schema.json (métricas de test) · AUTHORS.md · CITATION.cff · LICENSE (Apache-2.0) y docs/LICENSE-DOCS.md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