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Buenos días. Somos el grupo de Alan, Magdalena, Yoichiro y Edgar. Vamos a presentar dos modelos entrenados sobre los microdatos públicos de la ENAHO 2025 del INEI: uno que estima el ingreso laboral mensual y otro que clasifica el empleo informal. Los dos están desplegados en una app pública de Streamlit que vamos a mostrar en vivo. Todo lo que van a ver sale de artefactos versionados: cada número de esta presentación se puede defender con un archivo del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dos proyectos comparten base de datos, muestra y app. El primero es una regresión: estima el ingreso laboral mensual de un perfil. El segundo es un clasificador: estima la probabilidad de que ese empleo sea informal. Estos son los dos enlaces: la app desplegada en Streamlit Cloud y el repositorio de GitHub con todo el código, los reportes y la auditoría. Pueden abrirlos ahora mismo desde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base son los microdatos públicos de la ENAHO 2025, que cualquiera puede descargar del portal del INEI. Usamos tres módulos: hogar, educación y empleo. Este es el embudo completo: de casi 85 mil filas del módulo de empleo pasamos a 57.716 ocupados, 47.899 con ingreso positivo, y 47.632 casos completos para el torneo. Cada filtro está documentado y el embudo se verificó en la auditoría reejecutando el script de preparación. El split 80/20 se hace una sola vez con semilla fija y el test no se toca hasta el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regresor usa once variables: cinco numéricas, como años de educación, edad y horas trabajadas, y seis categóricas, como la rama de actividad, el tamaño de empresa y la categoría ocupacional. El target es el logaritmo del ingreso mensual monetario. ¿Por qué logaritmo? Porque los sueldos tienen cola larga: pocos sueldos enormes dominarían el error. Y al volver de logaritmo a soles aplicamos la corrección de smearing de Duan, que compensa el sesgo de esa vuelta. El preprocesamiento distingue numéricas y categóricas en un pipeline de scikit-learn con one-hot encoding, tal como pide la guía.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modelar hubo que hacer una autopsia. Una primera regresión del grupo daba coeficientes imposibles: vivir en zona urbana restaba 27 mil soles y tener universidad restaba 10 mil. Ese resultado no era un error de código: el INEI codifica «no sabe, no responde» como 999999, y leído como sueldo real destroza la regresión. Son solo 1.093 filas, el 2,3 por ciento, pero el R² pasa de 0,023 a 0,248 con solo convertirlas en faltantes. La lección: revisar la plausibilidad económica de los coeficientes encuentra errores que ninguna métrica técnica avisa.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vez de entrenar un solo modelo, montamos un torneo de nueve especificaciones: desde la consigna original del curso hasta Gradient Boosting, pasando por la ecuación de Mincer y un post-Lasso. La regla es que todas compiten en el mismo terreno: misma muestra, mismo split, los mismos cinco pliegues de validación cruzada, la misma semilla y la misma métrica. Eso lo verificó después la auditoría. En la tabla se ve la historia completa: cada variable económica que se agrega mejora el error, y los dos modelos de árboles, E8 y E9, ganan por unos 75 soles de error al mejor modelo lineal.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guía pide explicar la selección del modelo con métricas, y aquí está: gana E9, Gradient Boosting, con 611 soles de error medio, sobre E8, Random Forest, con 613. Importante: se selecciona por validación cruzada y no por test, porque el test solo sirve para estimar el error del ganador; si votara, quedaría contaminado. Y un detalle que nos diferencia: auditamos la rejilla de hiperparámetros, encontramos los óptimos en el borde, la ampliamos, y la mejora resultó sistemática pero de solo el 0,6 por ciento — así que decidimos no redesplegar. Esa decisión también está documentada.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¿Por qué el modelo estima lo que estima? Esta es la importancia por permutación medida en soles, que es la forma más honesta de leerla: si barajamos una variable y el error sube 139 soles, esa variable aportaba eso. Las dos que dominan son la categoría ocupacional — ser independiente, obrero, empleador — y los años de educación. Después vienen el tamaño de la empresa, las horas y la edad. Esto coincide con lo que el modelo explicativo lineal encuentra con coeficientes: no es una caja negra que inventa; ordena las mismas palancas que la economía laboral conoce.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Así se ve el regresor desplegado. A la izquierda el formulario, dirigido por el esquema de features: cada control sale del JSON, no está escrito a mano. A la derecha las tres tarjetas: el ingreso típico del perfil, el esperado con la corrección de smearing, y la mediana del país para comparar. La app tiene una capa educativa: el registro de arriba es español llano y el detalle técnico vive en expanders, con tooltips y hasta tres temas de color. Esta captura es de la app real en la nube, no de un mockup.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guía pide comprobar que los resultados desde VS Code coinciden con el modelo desplegado, y aquí está la prueba lado a lado. A la izquierda, la salida real de consola de un script que carga el mismo joblib del repositorio y predice con el perfil por defecto del formulario: 849 soles de ingreso típico, 1.189 de esperado. A la derecha, la app desplegada en Streamlit Cloud con ese mismo perfil: 849 y 1.189. Idénticos dígito a dígito, porque es el mismo artefacto binario corriendo en los dos lados — GitHub garantiza que lo que está en la nube es lo que está en el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clasificador usa exactamente las mismas once variables que el regresor. Lo importante es el target: el empleo informal no viene etiquetado en la encuesta, se deriva con la regla del INEI. Un independiente o empleador sin RUC es informal; un dependiente al que no le aportan a pensión, también. Dos de cada tres empleos de la muestra son informales. Y una decisión declarada: excluimos el tipo de contrato como predictor porque separa casi solo y habría convertido el ejercicio en trivial. La importancia muestra que categoría y tamaño de empresa dominan — enseguida veremos por qué eso exige un examen extra.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Compiten tres algoritmos: Gradient Boosting, Random Forest y una regresión logística como referencia lineal. Gana GB con PR-AUC de 0,9626 en validación cruzada. ¿Por qué PR-AUC y no accuracy? Porque con 68 por ciento de informales, decir «todos informales» ya acierta 68 de cada 100: el accuracy engaña. Después de elegir el modelo, elegimos el punto operativo: exigimos precisión de al menos 0,90, lo que da un umbral de 0,605. En llano: de cada mil trabajadores señalados, 900 son efectivamente informales, frente a 678 si señaláramos al azar. Y el umbral se eligió con probabilidades out-of-fold del train, nunca con el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PR-AUC de 0,96 obliga a sospechar, así que lo sometimos a cuatro exámenes. Uno: el baseline honesto no es 0,5 sino la prevalencia, 0,68. Dos: quitamos las dos variables casi definicionales — tamaño de empresa y categoría — y el PR-AUC solo cae a 0,94: el modelo no vive de un atajo. Tres: la calibración es buena, las probabilidades que da se parecen a las tasas reales. Y cuatro: la regla del target, reconstruida sobre todos los ocupados, da 67,3 por ciento de informalidad contra el 70,2 oficial del INEI — 2,9 puntos explicables por los familiares no remunerados. Además, en la auditoría corregimos una etiqueta: el famoso 88,6 por ciento del INEI es del tramo de 1 a 10 trabajadores, no de nuestra categoría «hasta 20».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Así se ve el clasificador en la app. A la izquierda, la estimación para el perfil por defecto: 97,5 por ciento de probabilidad de informalidad, señalado para focalización, con el umbral vivo que el usuario puede mover. A la derecha, la matriz de confusión traducida a «por cada mil evaluados»: 606 informales bien señalados, 67 falsas alarmas, 72 que se escapan y 255 formales correctos. Y la misma verificación que en el regresor: la consola local con el mismo joblib da exactamente 97,5 por ciento, idéntico a la app desplegada.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 es lo que creemos que diferencia al proyecto: lo auditamos como si fuera de otro, y publicamos lo que salió. Cuatro hallazgos principales. El centinela del INEI leído como ingreso, que ya vieron. Las rejillas de hiperparámetros con óptimos en el borde: se ampliaron y documentamos por qué no redesplegamos. Una cifra oficial mal etiquetada al resumirla — 88,6 es del tramo de 1 a 10 trabajadores. Y las quince referencias bibliográficas verificadas una a una contra el texto original: dos citas que circulaban no decían lo que se les atribuía y se reemplazaron. Todo está en el informe de auditoría del repositorio y en la propia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Cerramos con lo que estos modelos son y no son. Sirven para ordenar perfiles y comparar escenarios, para focalizar esfuerzos de formalización con un lift medido, y para leer brechas que aparecen consistentemente: educación, urbano-rural, segmento del empleo. No sirven para liquidar el sueldo de nadie — el error medio es de unos 611 soles —, no dan veredictos sobre personas y no prueban causalidad. Los límites están declarados en la propia app. Aquí quedan los enlaces y los créditos. Gracias — y las preguntas que quieran, la app está en línea para probarlas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ei_microdatos_cabece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4206240" cy="785451"/>
          </a:xfrm>
          <a:prstGeom prst="rect">
            <a:avLst/>
          </a:prstGeom>
        </p:spPr>
      </p:pic>
      <p:pic>
        <p:nvPicPr>
          <p:cNvPr id="3" name="Picture 2" descr="en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20040"/>
            <a:ext cx="1600200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874519"/>
            <a:ext cx="11155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4000" b="1">
                <a:solidFill>
                  <a:srgbClr val="1E232B"/>
                </a:solidFill>
                <a:latin typeface="Calibri"/>
              </a:rPr>
              <a:t>Ingreso laboral e informalidad en el Perú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49525F"/>
                </a:solidFill>
                <a:latin typeface="Calibri"/>
              </a:rPr>
              <a:t>Dos modelos de machine learning sobre los microdatos de la ENAHO 2025 (INEI), desplegados en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794760"/>
            <a:ext cx="11155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0">
                <a:solidFill>
                  <a:srgbClr val="1E232B"/>
                </a:solidFill>
                <a:latin typeface="Calibri"/>
              </a:rPr>
              <a:t>Curso de Machine Learning · ENEI — Escuela Nacional de Estadística e Informática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9525F"/>
                </a:solidFill>
                <a:latin typeface="Calibri"/>
              </a:rPr>
              <a:t>Docente: Orlando Advíncula Zeballos · Agosto de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892040"/>
            <a:ext cx="11155680" cy="1325880"/>
          </a:xfrm>
          <a:prstGeom prst="roundRect">
            <a:avLst>
              <a:gd name="adj" fmla="val 5500"/>
            </a:avLst>
          </a:prstGeom>
          <a:solidFill>
            <a:srgbClr val="E6E8FA"/>
          </a:solidFill>
          <a:ln w="12700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3542B8"/>
                </a:solidFill>
                <a:latin typeface="Courier New"/>
              </a:rPr>
              <a:t>INTEGRANTES</a:t>
            </a:r>
          </a:p>
          <a:p>
            <a:pPr>
              <a:spcAft>
                <a:spcPts val="0"/>
              </a:spcAft>
            </a:pPr>
            <a:r>
              <a:rPr sz="1600" b="1">
                <a:solidFill>
                  <a:srgbClr val="1E232B"/>
                </a:solidFill>
                <a:latin typeface="Calibri"/>
              </a:rPr>
              <a:t>Alan Nestor Cañazaca Mamani   ·   Magdalena Quico de la Cruz   ·   Yoichiro Palacios Tanaka   ·   Edgar Delgado Ortega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Dos proyectos, una misma base y una misma app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86400" cy="237744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353CC"/>
                </a:solidFill>
                <a:latin typeface="Courier New"/>
              </a:rPr>
              <a:t>PROYECTO 1 · REGRESIÓN</a:t>
            </a:r>
          </a:p>
          <a:p>
            <a:pPr>
              <a:spcAft>
                <a:spcPts val="400"/>
              </a:spcAft>
            </a:pPr>
            <a:r>
              <a:rPr sz="2000" b="1">
                <a:solidFill>
                  <a:srgbClr val="1E232B"/>
                </a:solidFill>
                <a:latin typeface="Calibri"/>
              </a:rPr>
              <a:t>Ingreso laboral mensual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49525F"/>
                </a:solidFill>
                <a:latin typeface="Calibri"/>
              </a:rPr>
              <a:t>¿Cuánto gana al mes una persona con este perfil? Gradient Boosting sobre el logaritmo del ingreso monetario (E9, ganador de un torneo de 9 especificaciones).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17320"/>
            <a:ext cx="5486400" cy="237744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353CC"/>
                </a:solidFill>
                <a:latin typeface="Courier New"/>
              </a:rPr>
              <a:t>PROYECTO 2 · CLASIFICACIÓN</a:t>
            </a:r>
          </a:p>
          <a:p>
            <a:pPr>
              <a:spcAft>
                <a:spcPts val="400"/>
              </a:spcAft>
            </a:pPr>
            <a:r>
              <a:rPr sz="2000" b="1">
                <a:solidFill>
                  <a:srgbClr val="1E232B"/>
                </a:solidFill>
                <a:latin typeface="Calibri"/>
              </a:rPr>
              <a:t>Empleo informal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49525F"/>
                </a:solidFill>
                <a:latin typeface="Calibri"/>
              </a:rPr>
              <a:t>¿Qué probabilidad tiene este perfil de ser un empleo informal? Gradient Boosting con umbral operativo elegido por precisión, según la regla del INEI (RUC / pensión).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069080"/>
            <a:ext cx="11201400" cy="1737360"/>
          </a:xfrm>
          <a:prstGeom prst="roundRect">
            <a:avLst>
              <a:gd name="adj" fmla="val 5500"/>
            </a:avLst>
          </a:prstGeom>
          <a:solidFill>
            <a:srgbClr val="F1EFE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6875"/>
                </a:solidFill>
                <a:latin typeface="Courier New"/>
              </a:rPr>
              <a:t>LOS DOS ENLACES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353CC"/>
                </a:solidFill>
                <a:latin typeface="Courier New"/>
              </a:rPr>
              <a:t>App desplegada:   https://enaho-ingresos-informalidad.streamlit.app</a:t>
            </a: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4353CC"/>
                </a:solidFill>
                <a:latin typeface="Courier New"/>
              </a:rPr>
              <a:t>Código y metodología:   https://github.com/IchiSieben/enaho-ingresos-informalidad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La base: ENAHO 2025 del INEI, microdatos públicos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49525F"/>
                </a:solidFill>
                <a:latin typeface="Calibri"/>
              </a:rPr>
              <a:t>Encuesta Nacional de Hogares (encuesta 1031), módulos 02 (miembros del hogar), 03 (educación) y 05 (empleo e ingresos), unidos por persona.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331720"/>
            <a:ext cx="2514600" cy="160020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4353CC"/>
                </a:solidFill>
                <a:latin typeface="Courier New"/>
              </a:rPr>
              <a:t>84.853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49525F"/>
                </a:solidFill>
                <a:latin typeface="Calibri"/>
              </a:rPr>
              <a:t>filas crudas del módulo 05 (empleo)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4952" y="2880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5F6875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514600" cy="160020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4353CC"/>
                </a:solidFill>
                <a:latin typeface="Courier New"/>
              </a:rPr>
              <a:t>57.716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49525F"/>
                </a:solidFill>
                <a:latin typeface="Calibri"/>
              </a:rPr>
              <a:t>ocupados (OCU500 =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1031" y="2880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5F6875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331720"/>
            <a:ext cx="2514600" cy="160020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4353CC"/>
                </a:solidFill>
                <a:latin typeface="Courier New"/>
              </a:rPr>
              <a:t>47.899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49525F"/>
                </a:solidFill>
                <a:latin typeface="Calibri"/>
              </a:rPr>
              <a:t>de 14+ años con ingreso &gt;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7112" y="2880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5F6875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81160" y="2331720"/>
            <a:ext cx="2514600" cy="1600200"/>
          </a:xfrm>
          <a:prstGeom prst="roundRect">
            <a:avLst>
              <a:gd name="adj" fmla="val 5500"/>
            </a:avLst>
          </a:prstGeom>
          <a:solidFill>
            <a:srgbClr val="E6E8FA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4353CC"/>
                </a:solidFill>
                <a:latin typeface="Courier New"/>
              </a:rPr>
              <a:t>47.632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49525F"/>
                </a:solidFill>
                <a:latin typeface="Calibri"/>
              </a:rPr>
              <a:t>casos completos para el torneo (−267 por faltantes, 0,6 %)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43400"/>
            <a:ext cx="11201400" cy="1508760"/>
          </a:xfrm>
          <a:prstGeom prst="roundRect">
            <a:avLst>
              <a:gd name="adj" fmla="val 5500"/>
            </a:avLst>
          </a:prstGeom>
          <a:solidFill>
            <a:srgbClr val="F1EFE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F6875"/>
                </a:solidFill>
                <a:latin typeface="Courier New"/>
              </a:rPr>
              <a:t>DOS DECISIONES DECLARADAS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E232B"/>
                </a:solidFill>
                <a:latin typeface="Calibri"/>
              </a:rPr>
              <a:t>· Los 6.500 trabajadores familiares no remunerados quedan fuera (ingreso = 0): informales por definición, pero sin target de ingreso.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32B"/>
                </a:solidFill>
                <a:latin typeface="Calibri"/>
              </a:rPr>
              <a:t>· Split 80/20 con semilla fija: train 38.105 · test 9.527. El test no decide nada durante el modelado.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INFORME_AUDITORIA.md §4 (embudo reconstruido reejecutando src/03_fase1_preparacion.py)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El regresor: qué entra y qué se predice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40680" cy="310896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4353CC"/>
                </a:solidFill>
                <a:latin typeface="Courier New"/>
              </a:rPr>
              <a:t>NUMÉRICAS (5)</a:t>
            </a:r>
          </a:p>
          <a:p>
            <a:pPr>
              <a:spcAft>
                <a:spcPts val="30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· Años de educación aprobados</a:t>
            </a:r>
          </a:p>
          <a:p>
            <a:pPr>
              <a:spcAft>
                <a:spcPts val="30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· Edad (años)</a:t>
            </a:r>
          </a:p>
          <a:p>
            <a:pPr>
              <a:spcAft>
                <a:spcPts val="30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· Experiencia potencial (años)</a:t>
            </a:r>
          </a:p>
          <a:p>
            <a:pPr>
              <a:spcAft>
                <a:spcPts val="30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· Experiencia² (cuadrado de la anterior)</a:t>
            </a:r>
          </a:p>
          <a:p>
            <a:pPr>
              <a:spcAft>
                <a:spcPts val="30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· Horas trabajadas por semana (todas las ocupaciones)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371600"/>
            <a:ext cx="5440680" cy="310896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4353CC"/>
                </a:solidFill>
                <a:latin typeface="Courier New"/>
              </a:rPr>
              <a:t>CATEGÓRICAS (6)</a:t>
            </a:r>
          </a:p>
          <a:p>
            <a:pPr>
              <a:spcAft>
                <a:spcPts val="30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· Sexo (2 opciones)</a:t>
            </a:r>
          </a:p>
          <a:p>
            <a:pPr>
              <a:spcAft>
                <a:spcPts val="30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· Área de residencia (2 opciones)</a:t>
            </a:r>
          </a:p>
          <a:p>
            <a:pPr>
              <a:spcAft>
                <a:spcPts val="30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· Dominio geográfico (8 opciones)</a:t>
            </a:r>
          </a:p>
          <a:p>
            <a:pPr>
              <a:spcAft>
                <a:spcPts val="30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· Rama de actividad (agrupada) (13 opciones)</a:t>
            </a:r>
          </a:p>
          <a:p>
            <a:pPr>
              <a:spcAft>
                <a:spcPts val="30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· Tamaño de la empresa (personas) (5 opciones)</a:t>
            </a:r>
          </a:p>
          <a:p>
            <a:pPr>
              <a:spcAft>
                <a:spcPts val="30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· Categoría ocupacional (5 opciones)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709160"/>
            <a:ext cx="11201400" cy="1325880"/>
          </a:xfrm>
          <a:prstGeom prst="roundRect">
            <a:avLst>
              <a:gd name="adj" fmla="val 5500"/>
            </a:avLst>
          </a:prstGeom>
          <a:solidFill>
            <a:srgbClr val="E6E8FA"/>
          </a:solidFill>
          <a:ln w="12700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3542B8"/>
                </a:solidFill>
                <a:latin typeface="Courier New"/>
              </a:rPr>
              <a:t>TARGET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log(ingreso laboral mensual monetario) — el ingreso «suavizado» del INEI: imputado, deflactado y anualizado ÷ 12. Se entrena en logaritmo por la cola larga de los sueldos; al volver a soles se aplica la corrección de smearing de Duan (× 1,401).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models/feature_schema.json (regresor.features, smearing_duan)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Preprocesamiento: el 999999 que valía como sueldo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40680" cy="3383280"/>
          </a:xfrm>
          <a:prstGeom prst="roundRect">
            <a:avLst>
              <a:gd name="adj" fmla="val 5500"/>
            </a:avLst>
          </a:prstGeom>
          <a:solidFill>
            <a:srgbClr val="F9E3E4"/>
          </a:solidFill>
          <a:ln w="12700">
            <a:solidFill>
              <a:srgbClr val="B9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B92F33"/>
                </a:solidFill>
                <a:latin typeface="Courier New"/>
              </a:rPr>
              <a:t>ANTES · CON CENTINELA</a:t>
            </a:r>
          </a:p>
          <a:p>
            <a:pPr>
              <a:spcAft>
                <a:spcPts val="400"/>
              </a:spcAft>
            </a:pPr>
            <a:r>
              <a:rPr sz="2400" b="1">
                <a:solidFill>
                  <a:srgbClr val="B92F33"/>
                </a:solidFill>
                <a:latin typeface="Courier New"/>
              </a:rPr>
              <a:t>R² = 0,023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E232B"/>
                </a:solidFill>
                <a:latin typeface="Courier New"/>
              </a:rPr>
              <a:t>const 64.760 · urbano -27.141 · universitaria -10.296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49525F"/>
                </a:solidFill>
                <a:latin typeface="Calibri"/>
              </a:rPr>
              <a:t>Vivir en zona urbana «resta» S/ 27 mil; la universidad «resta» S/ 10 mil. Económicamente imposible.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371600"/>
            <a:ext cx="5440680" cy="3383280"/>
          </a:xfrm>
          <a:prstGeom prst="roundRect">
            <a:avLst>
              <a:gd name="adj" fmla="val 5500"/>
            </a:avLst>
          </a:prstGeom>
          <a:solidFill>
            <a:srgbClr val="E2F2E9"/>
          </a:solidFill>
          <a:ln w="12700">
            <a:solidFill>
              <a:srgbClr val="177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77A4C"/>
                </a:solidFill>
                <a:latin typeface="Courier New"/>
              </a:rPr>
              <a:t>DESPUÉS · SOLO LIMPIANDO EL CÓDIGO DE FALTANTE</a:t>
            </a:r>
          </a:p>
          <a:p>
            <a:pPr>
              <a:spcAft>
                <a:spcPts val="400"/>
              </a:spcAft>
            </a:pPr>
            <a:r>
              <a:rPr sz="2400" b="1">
                <a:solidFill>
                  <a:srgbClr val="177A4C"/>
                </a:solidFill>
                <a:latin typeface="Courier New"/>
              </a:rPr>
              <a:t>R² = 0,248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E232B"/>
                </a:solidFill>
                <a:latin typeface="Courier New"/>
              </a:rPr>
              <a:t>const -1.076 · urbano +235 · universitaria +2.201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49525F"/>
                </a:solidFill>
                <a:latin typeface="Calibri"/>
              </a:rPr>
              <a:t>Mismos datos, misma ecuación. Solo se convirtió el 999999 (1.093 filas, 2,28 %) en faltante.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983480"/>
            <a:ext cx="11201400" cy="1051560"/>
          </a:xfrm>
          <a:prstGeom prst="roundRect">
            <a:avLst>
              <a:gd name="adj" fmla="val 5500"/>
            </a:avLst>
          </a:prstGeom>
          <a:solidFill>
            <a:srgbClr val="F1EFE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E232B"/>
                </a:solidFill>
                <a:latin typeface="Calibri"/>
              </a:rPr>
              <a:t>El 999999 es el código de «no sabe / no responde» del INEI, leído como un ingreso real. Se encontró revisando plausibilidad económica: el problema estaba en los datos de origen, no en el modelado.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models/ui_artifacts.json (torneo.autopsia: corrida_sucia / corrida_limpia, n_centinelas)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El torneo: nueve especificaciones, mismas reglas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49525F"/>
                </a:solidFill>
                <a:latin typeface="Calibri"/>
              </a:rPr>
              <a:t>Misma muestra, mismo split 80/20, mismos 5 pliegues, misma semilla y misma métrica (MAE de validación cruzada) para las nueve.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920240"/>
          <a:ext cx="61264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648"/>
                <a:gridCol w="4288536"/>
                <a:gridCol w="1225296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F6875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4008" marR="64008" marT="27432" marB="27432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F6875"/>
                          </a:solidFill>
                          <a:latin typeface="Calibri"/>
                        </a:rPr>
                        <a:t>Especificación</a:t>
                      </a:r>
                    </a:p>
                  </a:txBody>
                  <a:tcPr marL="64008" marR="64008" marT="27432" marB="27432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F6875"/>
                          </a:solidFill>
                          <a:latin typeface="Calibri"/>
                        </a:rPr>
                        <a:t>MAE CV (S/)</a:t>
                      </a:r>
                    </a:p>
                  </a:txBody>
                  <a:tcPr marL="64008" marR="64008" marT="27432" marB="27432">
                    <a:solidFill>
                      <a:srgbClr val="F1EFE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alibri"/>
                        </a:rPr>
                        <a:t>E1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Ingreso ~ educación (consigna, niveles)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900,6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alibri"/>
                        </a:rPr>
                        <a:t>E2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log(ingreso) ~ educación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847,3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alibri"/>
                        </a:rPr>
                        <a:t>E3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Mincer clásico: educ + exp + exp²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823,2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alibri"/>
                        </a:rPr>
                        <a:t>E4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Mincer extendido (+sexo, área, horas, rama)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729,3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alibri"/>
                        </a:rPr>
                        <a:t>E5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Réplica del baseline del curso (sin centinela)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830,3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alibri"/>
                        </a:rPr>
                        <a:t>E6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Depurada (+categoría, tamaño, dominio)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690,1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alibri"/>
                        </a:rPr>
                        <a:t>E7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Post-Lasso (OLS sobre lo que Lasso conserva)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686,9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alibri"/>
                        </a:rPr>
                        <a:t>E8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Random Forest (log target)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613,0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alibri"/>
                        </a:rPr>
                        <a:t>E9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Gradient Boosting (log target)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E232B"/>
                          </a:solidFill>
                          <a:latin typeface="Courier New"/>
                        </a:rPr>
                        <a:t>610,9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fig_torneo_m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920240"/>
            <a:ext cx="4846320" cy="35898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models/ui_artifacts.json (torneo.tabla) · figura generada de ese mismo artefacto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Selección: gana E9, y se elige por CV, no por test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3566160" cy="155448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F6875"/>
                </a:solidFill>
                <a:latin typeface="Courier New"/>
              </a:rPr>
              <a:t>E9 · GRADIENT BOOSTING</a:t>
            </a:r>
          </a:p>
          <a:p>
            <a:pPr>
              <a:spcAft>
                <a:spcPts val="200"/>
              </a:spcAft>
            </a:pPr>
            <a:r>
              <a:rPr sz="2500" b="1">
                <a:solidFill>
                  <a:srgbClr val="4353CC"/>
                </a:solidFill>
                <a:latin typeface="Courier New"/>
              </a:rPr>
              <a:t>S/ 610,9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49525F"/>
                </a:solidFill>
                <a:latin typeface="Calibri"/>
              </a:rPr>
              <a:t>MAE CV — el ganador desplegado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400" y="1371600"/>
            <a:ext cx="3566160" cy="155448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F6875"/>
                </a:solidFill>
                <a:latin typeface="Courier New"/>
              </a:rPr>
              <a:t>E8 · RANDOM FOREST</a:t>
            </a:r>
          </a:p>
          <a:p>
            <a:pPr>
              <a:spcAft>
                <a:spcPts val="200"/>
              </a:spcAft>
            </a:pPr>
            <a:r>
              <a:rPr sz="2500" b="1">
                <a:solidFill>
                  <a:srgbClr val="49525F"/>
                </a:solidFill>
                <a:latin typeface="Courier New"/>
              </a:rPr>
              <a:t>S/ 613,0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49525F"/>
                </a:solidFill>
                <a:latin typeface="Calibri"/>
              </a:rPr>
              <a:t>MAE CV — segundo, a 2 soles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83879" y="1371600"/>
            <a:ext cx="3520440" cy="155448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F6875"/>
                </a:solidFill>
                <a:latin typeface="Courier New"/>
              </a:rPr>
              <a:t>R² EN SOLES (TEST)</a:t>
            </a:r>
          </a:p>
          <a:p>
            <a:pPr>
              <a:spcAft>
                <a:spcPts val="200"/>
              </a:spcAft>
            </a:pPr>
            <a:r>
              <a:rPr sz="2500" b="1">
                <a:solidFill>
                  <a:srgbClr val="49525F"/>
                </a:solidFill>
                <a:latin typeface="Courier New"/>
              </a:rPr>
              <a:t>0,42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49525F"/>
                </a:solidFill>
                <a:latin typeface="Calibri"/>
              </a:rPr>
              <a:t>RMSE 1.227 · smearing 1,401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00400"/>
            <a:ext cx="11201400" cy="137160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F6875"/>
                </a:solidFill>
                <a:latin typeface="Courier New"/>
              </a:rPr>
              <a:t>POR QUÉ POR CV Y NO POR TEST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El test se reserva para estimar el error del ganador, no para elegirlo: si el test votara, dejaría de ser una medida honesta del error futuro. La validación cruzada usa solo el train, cinco veces.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00600"/>
            <a:ext cx="11201400" cy="1371600"/>
          </a:xfrm>
          <a:prstGeom prst="roundRect">
            <a:avLst>
              <a:gd name="adj" fmla="val 5500"/>
            </a:avLst>
          </a:prstGeom>
          <a:solidFill>
            <a:srgbClr val="F6ECD6"/>
          </a:solidFill>
          <a:ln w="12700">
            <a:solidFill>
              <a:srgbClr val="8A5D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8A5D0B"/>
                </a:solidFill>
                <a:latin typeface="Courier New"/>
              </a:rPr>
              <a:t>LA REJILLA, AUDITADA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Los 3 hiperparámetros óptimos de E9 estaban en el borde de la rejilla. Se amplió y mejoró: S/ 610,90 → S/ 607,31 (−0,59 %, sistemática: 5/5 pliegues, t = 4,34, p = 0,012). No se redesplegó: la mejora es real pero sustantivamente irrelevante.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models/ui_artifacts.json (torneo.tabla) · INFORME_AUDITORIA.md §6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Qué variables explican el ingreso estimado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070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49525F"/>
                </a:solidFill>
                <a:latin typeface="Calibri"/>
              </a:rPr>
              <a:t>Importancia por permutación, en soles: si barajamos esta variable, ¿cuántos soles más se equivoca el modelo? (9.000 filas, 5 repeticiones).</a:t>
            </a:r>
          </a:p>
        </p:txBody>
      </p:sp>
      <p:pic>
        <p:nvPicPr>
          <p:cNvPr id="4" name="Picture 3" descr="fig_importancia_regre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7589520" cy="430756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732520" y="2103120"/>
            <a:ext cx="2971800" cy="3200400"/>
          </a:xfrm>
          <a:prstGeom prst="roundRect">
            <a:avLst>
              <a:gd name="adj" fmla="val 5500"/>
            </a:avLst>
          </a:prstGeom>
          <a:solidFill>
            <a:srgbClr val="F1EFE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F6875"/>
                </a:solidFill>
                <a:latin typeface="Courier New"/>
              </a:rPr>
              <a:t>LECTURA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E232B"/>
                </a:solidFill>
                <a:latin typeface="Calibri"/>
              </a:rPr>
              <a:t>La categoría ocupacional y la educación dominan: barajarlas cuesta ~S/ 139 y ~S/ 128 de error extra.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49525F"/>
                </a:solidFill>
                <a:latin typeface="Calibri"/>
              </a:rPr>
              <a:t>Coincide con la lectura económica del modelo explicativo E6: educación, horas y segmento del empleo.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models/ui_artifacts.json (regresor.importancia_permutacion)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Streamlit en acción: el regresor</a:t>
            </a:r>
          </a:p>
        </p:txBody>
      </p:sp>
      <p:pic>
        <p:nvPicPr>
          <p:cNvPr id="3" name="Picture 2" descr="cloud_reg_tarje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8412480" cy="472971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144000" y="1463040"/>
            <a:ext cx="2560320" cy="4114800"/>
          </a:xfrm>
          <a:prstGeom prst="roundRect">
            <a:avLst>
              <a:gd name="adj" fmla="val 5500"/>
            </a:avLst>
          </a:prstGeom>
          <a:solidFill>
            <a:srgbClr val="F1EFE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F6875"/>
                </a:solidFill>
                <a:latin typeface="Courier New"/>
              </a:rPr>
              <a:t>LA APP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E232B"/>
                </a:solidFill>
                <a:latin typeface="Calibri"/>
              </a:rPr>
              <a:t>· Formulario en dos columnas dirigido por feature_schema.json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E232B"/>
                </a:solidFill>
                <a:latin typeface="Calibri"/>
              </a:rPr>
              <a:t>· Tarjetas: ingreso típico, esperado (con smearing) y mediana del país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1E232B"/>
                </a:solidFill>
                <a:latin typeface="Calibri"/>
              </a:rPr>
              <a:t>· Dos capas: español llano arriba, detalle técnico en expanders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1E232B"/>
                </a:solidFill>
                <a:latin typeface="Calibri"/>
              </a:rPr>
              <a:t>· Tooltips, situadores de cohorte y 3 temas (claro / oscuro / terminal)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captura Playwright de la app desplegada (perfil por defecto, tema claro)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Verificación: VS Code y Streamlit dicen lo mismo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49525F"/>
                </a:solidFill>
                <a:latin typeface="Calibri"/>
              </a:rPr>
              <a:t>Mismo perfil (los defaults del formulario), mismo artefacto regresor_e9.joblib: consola local a la izquierda, app desplegada a la derecha.</a:t>
            </a:r>
          </a:p>
        </p:txBody>
      </p:sp>
      <p:pic>
        <p:nvPicPr>
          <p:cNvPr id="4" name="Picture 3" descr="fig_consola_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5577840" cy="4144161"/>
          </a:xfrm>
          <a:prstGeom prst="rect">
            <a:avLst/>
          </a:prstGeom>
        </p:spPr>
      </p:pic>
      <p:pic>
        <p:nvPicPr>
          <p:cNvPr id="5" name="Picture 4" descr="cloud_reg_tarjet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74519"/>
            <a:ext cx="5349240" cy="30074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355080" y="5029200"/>
            <a:ext cx="5349240" cy="1005840"/>
          </a:xfrm>
          <a:prstGeom prst="roundRect">
            <a:avLst>
              <a:gd name="adj" fmla="val 5500"/>
            </a:avLst>
          </a:prstGeom>
          <a:solidFill>
            <a:srgbClr val="E2F2E9"/>
          </a:solidFill>
          <a:ln w="12700">
            <a:solidFill>
              <a:srgbClr val="177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100"/>
              </a:spcAft>
            </a:pPr>
            <a:r>
              <a:rPr sz="1350" b="1">
                <a:solidFill>
                  <a:srgbClr val="177A4C"/>
                </a:solidFill>
                <a:latin typeface="Courier New"/>
              </a:rPr>
              <a:t>típico:   S/ 849 = S/ 849</a:t>
            </a:r>
          </a:p>
          <a:p>
            <a:pPr>
              <a:spcAft>
                <a:spcPts val="200"/>
              </a:spcAft>
            </a:pPr>
            <a:r>
              <a:rPr sz="1350" b="1">
                <a:solidFill>
                  <a:srgbClr val="177A4C"/>
                </a:solidFill>
                <a:latin typeface="Courier New"/>
              </a:rPr>
              <a:t>esperado: S/ 1.189 = S/ 1.189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177A4C"/>
                </a:solidFill>
                <a:latin typeface="Calibri"/>
              </a:rPr>
              <a:t>idénticos dígito a dígito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docs/presentacion/verificacion_local.py (salida real de consola) · captura Playwright de la app en la nube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El clasificador: mismas 11 variables, target con regla INEI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40680" cy="228600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353CC"/>
                </a:solidFill>
                <a:latin typeface="Courier New"/>
              </a:rPr>
              <a:t>LAS VARIABLES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32B"/>
                </a:solidFill>
                <a:latin typeface="Calibri"/>
              </a:rPr>
              <a:t>Las mismas 11 del regresor: 5 numéricas + 6 categóricas. Nada del lado del target entra como predictor.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49525F"/>
                </a:solidFill>
                <a:latin typeface="Calibri"/>
              </a:rPr>
              <a:t>P511A (tipo de contrato) se excluyó a propósito: separa casi sola (AUC 0,846) y convierte el problema en trivial.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371600"/>
            <a:ext cx="5440680" cy="2286000"/>
          </a:xfrm>
          <a:prstGeom prst="roundRect">
            <a:avLst>
              <a:gd name="adj" fmla="val 5500"/>
            </a:avLst>
          </a:prstGeom>
          <a:solidFill>
            <a:srgbClr val="E6E8FA"/>
          </a:solidFill>
          <a:ln w="12700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3542B8"/>
                </a:solidFill>
                <a:latin typeface="Courier New"/>
              </a:rPr>
              <a:t>TARGET · REGLA DERIVADA DEL INEI</a:t>
            </a:r>
          </a:p>
          <a:p>
            <a:pPr>
              <a:spcAft>
                <a:spcPts val="30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· Independiente o empleador SIN RUC → informal</a:t>
            </a:r>
          </a:p>
          <a:p>
            <a:pPr>
              <a:spcAft>
                <a:spcPts val="300"/>
              </a:spcAft>
            </a:pPr>
            <a:r>
              <a:rPr sz="1350" b="0">
                <a:solidFill>
                  <a:srgbClr val="1E232B"/>
                </a:solidFill>
                <a:latin typeface="Calibri"/>
              </a:rPr>
              <a:t>· Dependiente SIN afiliación a pensión → informal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49525F"/>
                </a:solidFill>
                <a:latin typeface="Courier New"/>
              </a:rPr>
              <a:t>Prevalencia: 67,8 % muestral · 64,1 % ponderada</a:t>
            </a:r>
          </a:p>
        </p:txBody>
      </p:sp>
      <p:pic>
        <p:nvPicPr>
          <p:cNvPr id="5" name="Picture 4" descr="03_importancia_clasific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86200"/>
            <a:ext cx="3581400" cy="2148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429768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9525F"/>
                </a:solidFill>
                <a:latin typeface="Calibri"/>
              </a:rPr>
              <a:t>La importancia del clasificador repite el patrón: categoría ocupacional y tamaño de empresa dominan — y eso obliga a la pregunta de la lámina 13.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models/feature_schema.json (clasificador) · reports/figuras/03_importancia_clasificador.png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Selección del clasificador: PR-AUC, no accuracy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71600"/>
          <a:ext cx="6400799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5513"/>
                <a:gridCol w="1391478"/>
                <a:gridCol w="1391478"/>
                <a:gridCol w="125233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F6875"/>
                          </a:solidFill>
                          <a:latin typeface="Calibri"/>
                        </a:rPr>
                        <a:t>Algoritmo</a:t>
                      </a:r>
                    </a:p>
                  </a:txBody>
                  <a:tcPr marL="64008" marR="64008" marT="27432" marB="27432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F6875"/>
                          </a:solidFill>
                          <a:latin typeface="Calibri"/>
                        </a:rPr>
                        <a:t>PR-AUC CV</a:t>
                      </a:r>
                    </a:p>
                  </a:txBody>
                  <a:tcPr marL="64008" marR="64008" marT="27432" marB="27432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F6875"/>
                          </a:solidFill>
                          <a:latin typeface="Calibri"/>
                        </a:rPr>
                        <a:t>PR-AUC test</a:t>
                      </a:r>
                    </a:p>
                  </a:txBody>
                  <a:tcPr marL="64008" marR="64008" marT="27432" marB="27432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F6875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64008" marR="64008" marT="27432" marB="27432">
                    <a:solidFill>
                      <a:srgbClr val="F1EFE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232B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232B"/>
                          </a:solidFill>
                          <a:latin typeface="Courier New"/>
                        </a:rPr>
                        <a:t>0,9626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232B"/>
                          </a:solidFill>
                          <a:latin typeface="Courier New"/>
                        </a:rPr>
                        <a:t>0,9605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232B"/>
                          </a:solidFill>
                          <a:latin typeface="Courier New"/>
                        </a:rPr>
                        <a:t>0,0974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232B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232B"/>
                          </a:solidFill>
                          <a:latin typeface="Courier New"/>
                        </a:rPr>
                        <a:t>0,9619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232B"/>
                          </a:solidFill>
                          <a:latin typeface="Courier New"/>
                        </a:rPr>
                        <a:t>0,9589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232B"/>
                          </a:solidFill>
                          <a:latin typeface="Courier New"/>
                        </a:rPr>
                        <a:t>0,0981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232B"/>
                          </a:solidFill>
                          <a:latin typeface="Calibri"/>
                        </a:rPr>
                        <a:t>Regresión logística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232B"/>
                          </a:solidFill>
                          <a:latin typeface="Courier New"/>
                        </a:rPr>
                        <a:t>0,9553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232B"/>
                          </a:solidFill>
                          <a:latin typeface="Courier New"/>
                        </a:rPr>
                        <a:t>0,9526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E232B"/>
                          </a:solidFill>
                          <a:latin typeface="Courier New"/>
                        </a:rPr>
                        <a:t>0,1053</a:t>
                      </a:r>
                    </a:p>
                  </a:txBody>
                  <a:tcPr marL="64008" marR="64008" marT="27432" marB="27432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269480" y="1371600"/>
            <a:ext cx="4434840" cy="1737360"/>
          </a:xfrm>
          <a:prstGeom prst="roundRect">
            <a:avLst>
              <a:gd name="adj" fmla="val 5500"/>
            </a:avLst>
          </a:prstGeom>
          <a:solidFill>
            <a:srgbClr val="F1EFE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F6875"/>
                </a:solidFill>
                <a:latin typeface="Courier New"/>
              </a:rPr>
              <a:t>POR QUÉ PR-AUC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1E232B"/>
                </a:solidFill>
                <a:latin typeface="Calibri"/>
              </a:rPr>
              <a:t>Con prevalencia 0,678, un modelo que dice «todos informales» ya acierta 68 de 100. El PR-AUC mide lo que importa: precisión y cobertura de la clase informal.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29000"/>
            <a:ext cx="11201400" cy="2377440"/>
          </a:xfrm>
          <a:prstGeom prst="roundRect">
            <a:avLst>
              <a:gd name="adj" fmla="val 5500"/>
            </a:avLst>
          </a:prstGeom>
          <a:solidFill>
            <a:srgbClr val="E6E8FA"/>
          </a:solidFill>
          <a:ln w="12700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3542B8"/>
                </a:solidFill>
                <a:latin typeface="Courier New"/>
              </a:rPr>
              <a:t>PUNTO OPERATIVO APROBADO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E232B"/>
                </a:solidFill>
                <a:latin typeface="Calibri"/>
              </a:rPr>
              <a:t>Criterio: precisión ≥ 0,90 para la clase informal → umbral 0,6054</a:t>
            </a:r>
          </a:p>
          <a:p>
            <a:pPr>
              <a:spcAft>
                <a:spcPts val="400"/>
              </a:spcAft>
            </a:pPr>
            <a:r>
              <a:rPr sz="1450" b="0">
                <a:solidFill>
                  <a:srgbClr val="1E232B"/>
                </a:solidFill>
                <a:latin typeface="Calibri"/>
              </a:rPr>
              <a:t>De cada 1.000 trabajadores señalados, 900 son efectivamente informales, frente a 678 si se señalara al azar (lift 1,33x).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49525F"/>
                </a:solidFill>
                <a:latin typeface="Courier New"/>
              </a:rPr>
              <a:t>recall 0,893 · elegido sobre probabilidades out-of-fold del train: el test no decide el umbral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models/ui_artifacts.json (clasificador.comparacion) · models/feature_schema.json (punto_operativo)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¿0,96 es demasiado bueno? Cuatro exámenes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2697480" cy="169164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F6875"/>
                </a:solidFill>
                <a:latin typeface="Courier New"/>
              </a:rPr>
              <a:t>1 · BASELINE HONESTO</a:t>
            </a:r>
          </a:p>
          <a:p>
            <a:pPr>
              <a:spcAft>
                <a:spcPts val="200"/>
              </a:spcAft>
            </a:pPr>
            <a:r>
              <a:rPr sz="2500" b="1">
                <a:solidFill>
                  <a:srgbClr val="49525F"/>
                </a:solidFill>
                <a:latin typeface="Courier New"/>
              </a:rPr>
              <a:t>0,678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49525F"/>
                </a:solidFill>
                <a:latin typeface="Calibri"/>
              </a:rPr>
              <a:t>la prevalencia: el punto de partida real del PR-AUC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7560" y="1325880"/>
            <a:ext cx="2697480" cy="169164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F6875"/>
                </a:solidFill>
                <a:latin typeface="Courier New"/>
              </a:rPr>
              <a:t>2 · ABLACIÓN ESTRUCTURAL</a:t>
            </a:r>
          </a:p>
          <a:p>
            <a:pPr>
              <a:spcAft>
                <a:spcPts val="200"/>
              </a:spcAft>
            </a:pPr>
            <a:r>
              <a:rPr sz="2500" b="1">
                <a:solidFill>
                  <a:srgbClr val="4353CC"/>
                </a:solidFill>
                <a:latin typeface="Courier New"/>
              </a:rPr>
              <a:t>0,9626 → 0,9415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49525F"/>
                </a:solidFill>
                <a:latin typeface="Calibri"/>
              </a:rPr>
              <a:t>sin tamaño ni categoría (cuasi-definicionales) sigue alto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25880"/>
            <a:ext cx="2697480" cy="169164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F6875"/>
                </a:solidFill>
                <a:latin typeface="Courier New"/>
              </a:rPr>
              <a:t>3 · CALIBRACIÓN</a:t>
            </a:r>
          </a:p>
          <a:p>
            <a:pPr>
              <a:spcAft>
                <a:spcPts val="200"/>
              </a:spcAft>
            </a:pPr>
            <a:r>
              <a:rPr sz="2500" b="1">
                <a:solidFill>
                  <a:srgbClr val="49525F"/>
                </a:solidFill>
                <a:latin typeface="Courier New"/>
              </a:rPr>
              <a:t>0,0974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49525F"/>
                </a:solidFill>
                <a:latin typeface="Calibri"/>
              </a:rPr>
              <a:t>Brier en test: las probabilidades se parecen a las tasas reales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06840" y="1325880"/>
            <a:ext cx="2697480" cy="169164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F6875"/>
                </a:solidFill>
                <a:latin typeface="Courier New"/>
              </a:rPr>
              <a:t>4 · CONTRASTE EXTERNO</a:t>
            </a:r>
          </a:p>
          <a:p>
            <a:pPr>
              <a:spcAft>
                <a:spcPts val="200"/>
              </a:spcAft>
            </a:pPr>
            <a:r>
              <a:rPr sz="2500" b="1">
                <a:solidFill>
                  <a:srgbClr val="49525F"/>
                </a:solidFill>
                <a:latin typeface="Courier New"/>
              </a:rPr>
              <a:t>67,3 % vs 70,2 %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49525F"/>
                </a:solidFill>
                <a:latin typeface="Calibri"/>
              </a:rPr>
              <a:t>tasa reconstruida vs oficial INEI 2025</a:t>
            </a:r>
          </a:p>
        </p:txBody>
      </p:sp>
      <p:pic>
        <p:nvPicPr>
          <p:cNvPr id="7" name="Picture 6" descr="03_pr_calib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91840"/>
            <a:ext cx="6798365" cy="26060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3429000"/>
            <a:ext cx="4572000" cy="2331720"/>
          </a:xfrm>
          <a:prstGeom prst="roundRect">
            <a:avLst>
              <a:gd name="adj" fmla="val 5500"/>
            </a:avLst>
          </a:prstGeom>
          <a:solidFill>
            <a:srgbClr val="F6ECD6"/>
          </a:solidFill>
          <a:ln w="12700">
            <a:solidFill>
              <a:srgbClr val="8A5D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8A5D0B"/>
                </a:solidFill>
                <a:latin typeface="Courier New"/>
              </a:rPr>
              <a:t>EL GRADIENTE, BIEN ETIQUETADO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1E232B"/>
                </a:solidFill>
                <a:latin typeface="Calibri"/>
              </a:rPr>
              <a:t>El 88,6 % de informalidad que publica el INEI es del tramo de empresas de 1–10 trabajadores — no de la categoría propia «Hasta 20» (81,1 %). La auditoría corrigió esa etiqueta en todo el repositorio.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49525F"/>
                </a:solidFill>
                <a:latin typeface="Calibri"/>
              </a:rPr>
              <a:t>El patrón por tamaño de empresa del modelo replica el oficial, comparando tramos comparables.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reports/ablacion_clasificador.csv · INFORME_AUDITORIA.md §5 y AC-5 · reports/figuras/03_pr_calibracion.png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El clasificador en la app — y su verificación</a:t>
            </a:r>
          </a:p>
        </p:txBody>
      </p:sp>
      <p:pic>
        <p:nvPicPr>
          <p:cNvPr id="3" name="Picture 2" descr="cloud_clf_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5669280" cy="3187414"/>
          </a:xfrm>
          <a:prstGeom prst="rect">
            <a:avLst/>
          </a:prstGeom>
        </p:spPr>
      </p:pic>
      <p:pic>
        <p:nvPicPr>
          <p:cNvPr id="4" name="Picture 3" descr="cloud_clf_matriz_rec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25880"/>
            <a:ext cx="3415204" cy="319125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09160"/>
            <a:ext cx="5486400" cy="1627632"/>
          </a:xfrm>
          <a:prstGeom prst="roundRect">
            <a:avLst>
              <a:gd name="adj" fmla="val 5500"/>
            </a:avLst>
          </a:prstGeom>
          <a:solidFill>
            <a:srgbClr val="F1EFE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F6875"/>
                </a:solidFill>
                <a:latin typeface="Courier New"/>
              </a:rPr>
              <a:t>EN LA APP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E232B"/>
                </a:solidFill>
                <a:latin typeface="Calibri"/>
              </a:rPr>
              <a:t>· Umbral vivo: señalados, aciertos y escapes al moverlo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E232B"/>
                </a:solidFill>
                <a:latin typeface="Calibri"/>
              </a:rPr>
              <a:t>· Matriz de confusión «por cada 1.000 evaluados»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1E232B"/>
                </a:solidFill>
                <a:latin typeface="Calibri"/>
              </a:rPr>
              <a:t>· Dependencia parcial: qué empuja la probabilidad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4709160"/>
            <a:ext cx="5532120" cy="1627632"/>
          </a:xfrm>
          <a:prstGeom prst="roundRect">
            <a:avLst>
              <a:gd name="adj" fmla="val 5500"/>
            </a:avLst>
          </a:prstGeom>
          <a:solidFill>
            <a:srgbClr val="E2F2E9"/>
          </a:solidFill>
          <a:ln w="12700">
            <a:solidFill>
              <a:srgbClr val="177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177A4C"/>
                </a:solidFill>
                <a:latin typeface="Courier New"/>
              </a:rPr>
              <a:t>VS CODE = STREAMLIT</a:t>
            </a:r>
          </a:p>
          <a:p>
            <a:pPr>
              <a:spcAft>
                <a:spcPts val="200"/>
              </a:spcAft>
            </a:pPr>
            <a:r>
              <a:rPr sz="1350" b="1">
                <a:solidFill>
                  <a:srgbClr val="177A4C"/>
                </a:solidFill>
                <a:latin typeface="Courier New"/>
              </a:rPr>
              <a:t>consola local: 97,5 % · app desplegada: 97,5 %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49525F"/>
                </a:solidFill>
                <a:latin typeface="Calibri"/>
              </a:rPr>
              <a:t>mismo clasificador_gb.joblib y perfil por defecto en los dos lados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capturas Playwright de la app desplegada · docs/presentacion/verificacion_local.py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Qué encontró la auditoría (y está publicado)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078992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E232B"/>
                </a:solidFill>
                <a:latin typeface="Calibri"/>
              </a:rPr>
              <a:t>1 · El centinela leído como ingreso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49525F"/>
                </a:solidFill>
                <a:latin typeface="Calibri"/>
              </a:rPr>
              <a:t>999999 = «no responde» tratado como sueldo real: 1.093 filas que hundían el R² a 0,023.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578608"/>
            <a:ext cx="11201400" cy="1078992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E232B"/>
                </a:solidFill>
                <a:latin typeface="Calibri"/>
              </a:rPr>
              <a:t>2 · Rejillas con óptimos en el borde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49525F"/>
                </a:solidFill>
                <a:latin typeface="Calibri"/>
              </a:rPr>
              <a:t>Los 3 hiperparámetros de E9 al límite de la rejilla; ampliada: −0,59 % de MAE, mejora real pero irrelevante — no se redesplegó.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785616"/>
            <a:ext cx="11201400" cy="1078992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E232B"/>
                </a:solidFill>
                <a:latin typeface="Calibri"/>
              </a:rPr>
              <a:t>3 · La cifra 88,6 % mal etiquetada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49525F"/>
                </a:solidFill>
                <a:latin typeface="Calibri"/>
              </a:rPr>
              <a:t>El 88,6 % del INEI es del tramo 1–10 trabajadores, no de «microempresas» en general: corregida en app, README y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92624"/>
            <a:ext cx="11201400" cy="1078992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E232B"/>
                </a:solidFill>
                <a:latin typeface="Calibri"/>
              </a:rPr>
              <a:t>4 · Las 15 referencias, verificadas una a una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49525F"/>
                </a:solidFill>
                <a:latin typeface="Calibri"/>
              </a:rPr>
              <a:t>Dos citas no decían lo que se les atribuía (ningún R² en Lemieux 2006 ni en Heckman et al. 2006): se reemplazaron por las citables (Mincer 1974, Card 1999).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4535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49525F"/>
                </a:solidFill>
                <a:latin typeface="Calibri"/>
              </a:rPr>
              <a:t>Informe completo en INFORME_AUDITORIA.md (raíz del repo) y en la sección «Qué encontró la auditoría» de la ficha técnica de la app.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INFORME_AUDITORIA.md · app/referencias.py (15 referencias con DOI/URL verificadas)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E232B"/>
                </a:solidFill>
                <a:latin typeface="Calibri"/>
              </a:rPr>
              <a:t>Conclusiones: qué se puede afirmar y qué no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5440680" cy="2834640"/>
          </a:xfrm>
          <a:prstGeom prst="roundRect">
            <a:avLst>
              <a:gd name="adj" fmla="val 5500"/>
            </a:avLst>
          </a:prstGeom>
          <a:solidFill>
            <a:srgbClr val="E2F2E9"/>
          </a:solidFill>
          <a:ln w="12700">
            <a:solidFill>
              <a:srgbClr val="177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177A4C"/>
                </a:solidFill>
                <a:latin typeface="Courier New"/>
              </a:rPr>
              <a:t>SÍ SIRVE PARA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E232B"/>
                </a:solidFill>
                <a:latin typeface="Calibri"/>
              </a:rPr>
              <a:t>· Ordenar y comparar perfiles: E9 recorta el MAE de S/ 901 (consigna) a S/ 611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E232B"/>
                </a:solidFill>
                <a:latin typeface="Calibri"/>
              </a:rPr>
              <a:t>· Focalizar formalización: 900 aciertos por cada 1.000 señalados (lift 1,33×)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32B"/>
                </a:solidFill>
                <a:latin typeface="Calibri"/>
              </a:rPr>
              <a:t>· Leer brechas robustas: educación, urbano/rural, segmento del empleo — consistentes entre modelos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325880"/>
            <a:ext cx="5440680" cy="2834640"/>
          </a:xfrm>
          <a:prstGeom prst="roundRect">
            <a:avLst>
              <a:gd name="adj" fmla="val 5500"/>
            </a:avLst>
          </a:prstGeom>
          <a:solidFill>
            <a:srgbClr val="F9E3E4"/>
          </a:solidFill>
          <a:ln w="12700">
            <a:solidFill>
              <a:srgbClr val="B92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B92F33"/>
                </a:solidFill>
                <a:latin typeface="Courier New"/>
              </a:rPr>
              <a:t>NO SIRVE PARA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E232B"/>
                </a:solidFill>
                <a:latin typeface="Calibri"/>
              </a:rPr>
              <a:t>· Liquidar sueldos: se equivoca ~S/ 611 por persona en promedio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E232B"/>
                </a:solidFill>
                <a:latin typeface="Calibri"/>
              </a:rPr>
              <a:t>· Dar veredictos sobre personas: la señal apunta a una configuración de empleo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32B"/>
                </a:solidFill>
                <a:latin typeface="Calibri"/>
              </a:rPr>
              <a:t>· Afirmar causalidad: es asociación en una encuesta de corte transversal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34840"/>
            <a:ext cx="11201400" cy="1600200"/>
          </a:xfrm>
          <a:prstGeom prst="roundRect">
            <a:avLst>
              <a:gd name="adj" fmla="val 5500"/>
            </a:avLst>
          </a:prstGeom>
          <a:solidFill>
            <a:srgbClr val="F1EFE8"/>
          </a:solidFill>
          <a:ln w="12700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500"/>
              </a:spcAft>
            </a:pPr>
            <a:r>
              <a:rPr sz="1250" b="0">
                <a:solidFill>
                  <a:srgbClr val="4353CC"/>
                </a:solidFill>
                <a:latin typeface="Courier New"/>
              </a:rPr>
              <a:t>app: enaho-ingresos-informalidad.streamlit.app  ·  repo: github.com/IchiSieben/enaho-ingresos-informalidad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49525F"/>
                </a:solidFill>
                <a:latin typeface="Calibri"/>
              </a:rPr>
              <a:t>Créditos (CRediT en AUTHORS.md): grupo — Alan Nestor Cañazaca Mamani, Magdalena Quico de la Cruz, Yoichiro Palacios Tanaka, Edgar Delgado Ortega. Software y análisis: Yoichi Palacios (IchiSieben). Datos: INEI — ENAHO 2025. Docente: Orlando Advíncula Zeballos.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5F6875"/>
                </a:solidFill>
                <a:latin typeface="Calibri"/>
              </a:rPr>
              <a:t>Fuente: generado desde artefactos el 2026-08-20 17:20 UTC (ui_artifacts commit ffaed0b) por docs/presentacion/generar_ppt.py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